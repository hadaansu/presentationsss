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8" r:id="rId2"/>
    <p:sldId id="280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4" r:id="rId11"/>
    <p:sldId id="275" r:id="rId12"/>
    <p:sldId id="271" r:id="rId13"/>
    <p:sldId id="270" r:id="rId14"/>
    <p:sldId id="272" r:id="rId15"/>
    <p:sldId id="273" r:id="rId16"/>
    <p:sldId id="269" r:id="rId17"/>
    <p:sldId id="28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9ECC"/>
    <a:srgbClr val="FF3399"/>
    <a:srgbClr val="FF33CC"/>
    <a:srgbClr val="E79A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Survey</c:v>
                </c:pt>
              </c:strCache>
            </c:strRef>
          </c:tx>
          <c:spPr>
            <a:solidFill>
              <a:srgbClr val="D452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452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92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C69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3333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Monthly</c:v>
                </c:pt>
                <c:pt idx="1">
                  <c:v>Weekly</c:v>
                </c:pt>
                <c:pt idx="2">
                  <c:v>Rarely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472780384"/>
        <c:axId val="-1472768416"/>
      </c:barChart>
      <c:catAx>
        <c:axId val="-14727803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555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-1472768416"/>
        <c:crosses val="autoZero"/>
        <c:auto val="1"/>
        <c:lblAlgn val="ctr"/>
        <c:lblOffset val="100"/>
        <c:noMultiLvlLbl val="1"/>
      </c:catAx>
      <c:valAx>
        <c:axId val="-1472768416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555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-147278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427c40b-fd49-4c1b-bdd1-bcedd4c30eb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Survey</c:v>
                </c:pt>
              </c:strCache>
            </c:strRef>
          </c:tx>
          <c:spPr>
            <a:solidFill>
              <a:srgbClr val="D4527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E92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C69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3333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None/Word of mouth</c:v>
                </c:pt>
                <c:pt idx="1">
                  <c:v>Existing Apps</c:v>
                </c:pt>
                <c:pt idx="2">
                  <c:v>Social Media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472779840"/>
        <c:axId val="-1472779296"/>
      </c:barChart>
      <c:catAx>
        <c:axId val="-14727798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555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-1472779296"/>
        <c:crosses val="autoZero"/>
        <c:auto val="1"/>
        <c:lblAlgn val="ctr"/>
        <c:lblOffset val="100"/>
        <c:noMultiLvlLbl val="1"/>
      </c:catAx>
      <c:valAx>
        <c:axId val="-1472779296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555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-1472779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490c663-4f32-4d42-95a5-c2a1906fe36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Survey</c:v>
                </c:pt>
              </c:strCache>
            </c:strRef>
          </c:tx>
          <c:spPr>
            <a:solidFill>
              <a:srgbClr val="D4527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E92B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3333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472774400"/>
        <c:axId val="-1472777664"/>
      </c:barChart>
      <c:catAx>
        <c:axId val="-14727744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555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-1472777664"/>
        <c:crosses val="autoZero"/>
        <c:auto val="1"/>
        <c:lblAlgn val="ctr"/>
        <c:lblOffset val="100"/>
        <c:noMultiLvlLbl val="1"/>
      </c:catAx>
      <c:valAx>
        <c:axId val="-1472777664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555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-1472774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21f94d3-ad90-4ffa-977a-d8d2a5dd85a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Survey</c:v>
                </c:pt>
              </c:strCache>
            </c:strRef>
          </c:tx>
          <c:spPr>
            <a:solidFill>
              <a:srgbClr val="D4527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452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E92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C69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333333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Safety</c:v>
                </c:pt>
                <c:pt idx="1">
                  <c:v>Price</c:v>
                </c:pt>
                <c:pt idx="2">
                  <c:v>Quality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1472045216"/>
        <c:axId val="-1472041408"/>
      </c:barChart>
      <c:catAx>
        <c:axId val="-14720452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555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-1472041408"/>
        <c:crosses val="autoZero"/>
        <c:auto val="1"/>
        <c:lblAlgn val="ctr"/>
        <c:lblOffset val="100"/>
        <c:noMultiLvlLbl val="1"/>
      </c:catAx>
      <c:valAx>
        <c:axId val="-1472041408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555555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-1472045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178f7fc-e3f6-417d-8fad-05c0d520773a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84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41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11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0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39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67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42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84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67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83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84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65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42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70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07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8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>
            <p:custDataLst>
              <p:tags r:id="rId1"/>
            </p:custDataLst>
          </p:nvPr>
        </p:nvSpPr>
        <p:spPr>
          <a:xfrm>
            <a:off x="7713464" y="0"/>
            <a:ext cx="1430536" cy="1515368"/>
          </a:xfrm>
          <a:custGeom>
            <a:avLst/>
            <a:gdLst>
              <a:gd name="connsiteX0" fmla="*/ 27051 w 1907381"/>
              <a:gd name="connsiteY0" fmla="*/ 0 h 2020491"/>
              <a:gd name="connsiteX1" fmla="*/ 1907381 w 1907381"/>
              <a:gd name="connsiteY1" fmla="*/ 0 h 2020491"/>
              <a:gd name="connsiteX2" fmla="*/ 1907381 w 1907381"/>
              <a:gd name="connsiteY2" fmla="*/ 2010703 h 2020491"/>
              <a:gd name="connsiteX3" fmla="*/ 1901609 w 1907381"/>
              <a:gd name="connsiteY3" fmla="*/ 2011584 h 2020491"/>
              <a:gd name="connsiteX4" fmla="*/ 1725216 w 1907381"/>
              <a:gd name="connsiteY4" fmla="*/ 2020491 h 2020491"/>
              <a:gd name="connsiteX5" fmla="*/ 0 w 1907381"/>
              <a:gd name="connsiteY5" fmla="*/ 295275 h 2020491"/>
              <a:gd name="connsiteX6" fmla="*/ 8907 w 1907381"/>
              <a:gd name="connsiteY6" fmla="*/ 118882 h 202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07381" h="2020491">
                <a:moveTo>
                  <a:pt x="27051" y="0"/>
                </a:moveTo>
                <a:lnTo>
                  <a:pt x="1907381" y="0"/>
                </a:lnTo>
                <a:lnTo>
                  <a:pt x="1907381" y="2010703"/>
                </a:lnTo>
                <a:lnTo>
                  <a:pt x="1901609" y="2011584"/>
                </a:lnTo>
                <a:cubicBezTo>
                  <a:pt x="1843612" y="2017474"/>
                  <a:pt x="1784767" y="2020491"/>
                  <a:pt x="1725216" y="2020491"/>
                </a:cubicBezTo>
                <a:cubicBezTo>
                  <a:pt x="772406" y="2020491"/>
                  <a:pt x="0" y="1248085"/>
                  <a:pt x="0" y="295275"/>
                </a:cubicBezTo>
                <a:cubicBezTo>
                  <a:pt x="0" y="235725"/>
                  <a:pt x="3017" y="176879"/>
                  <a:pt x="8907" y="118882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sym typeface="+mn-lt"/>
            </a:endParaRPr>
          </a:p>
        </p:txBody>
      </p:sp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>
            <a:off x="0" y="4677966"/>
            <a:ext cx="475640" cy="465534"/>
          </a:xfrm>
          <a:custGeom>
            <a:avLst/>
            <a:gdLst>
              <a:gd name="connsiteX0" fmla="*/ 0 w 634186"/>
              <a:gd name="connsiteY0" fmla="*/ 0 h 620712"/>
              <a:gd name="connsiteX1" fmla="*/ 622781 w 634186"/>
              <a:gd name="connsiteY1" fmla="*/ 507581 h 620712"/>
              <a:gd name="connsiteX2" fmla="*/ 634186 w 634186"/>
              <a:gd name="connsiteY2" fmla="*/ 620712 h 620712"/>
              <a:gd name="connsiteX3" fmla="*/ 0 w 634186"/>
              <a:gd name="connsiteY3" fmla="*/ 620712 h 62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4186" h="620712">
                <a:moveTo>
                  <a:pt x="0" y="0"/>
                </a:moveTo>
                <a:cubicBezTo>
                  <a:pt x="307200" y="0"/>
                  <a:pt x="563505" y="217906"/>
                  <a:pt x="622781" y="507581"/>
                </a:cubicBezTo>
                <a:lnTo>
                  <a:pt x="634186" y="620712"/>
                </a:lnTo>
                <a:lnTo>
                  <a:pt x="0" y="620712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lumMod val="85000"/>
                  <a:lumOff val="15000"/>
                </a:schemeClr>
              </a:gs>
            </a:gsLst>
            <a:lin ang="5400000" scaled="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noFill/>
              <a:sym typeface="+mn-lt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456248" y="1117759"/>
            <a:ext cx="8227219" cy="3569494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13" Type="http://schemas.openxmlformats.org/officeDocument/2006/relationships/image" Target="../media/image4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2.png"/><Relationship Id="rId5" Type="http://schemas.openxmlformats.org/officeDocument/2006/relationships/tags" Target="../tags/tag12.xml"/><Relationship Id="rId10" Type="http://schemas.openxmlformats.org/officeDocument/2006/relationships/image" Target="../media/image1.png"/><Relationship Id="rId4" Type="http://schemas.openxmlformats.org/officeDocument/2006/relationships/tags" Target="../tags/tag1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80" y="-15559"/>
            <a:ext cx="9144000" cy="5142865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24" name="Text Box 23"/>
          <p:cNvSpPr txBox="1"/>
          <p:nvPr>
            <p:custDataLst>
              <p:tags r:id="rId1"/>
            </p:custDataLst>
          </p:nvPr>
        </p:nvSpPr>
        <p:spPr>
          <a:xfrm>
            <a:off x="372745" y="1105017"/>
            <a:ext cx="7484745" cy="596265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GB" altLang="en-US" sz="3200" b="1" dirty="0">
                <a:solidFill>
                  <a:schemeClr val="bg1"/>
                </a:solidFill>
                <a:latin typeface="Cooper Black" panose="0208090404030B020404" pitchFamily="18" charset="0"/>
                <a:cs typeface="Times New Roman" panose="02020603050405020304" charset="0"/>
              </a:rPr>
              <a:t>DOOR-STEP BEAUTY </a:t>
            </a:r>
            <a:endParaRPr lang="en-GB" altLang="en-US" sz="3200" b="1" dirty="0" smtClean="0">
              <a:solidFill>
                <a:schemeClr val="bg1"/>
              </a:solidFill>
              <a:latin typeface="Cooper Black" panose="0208090404030B020404" pitchFamily="18" charset="0"/>
              <a:cs typeface="Times New Roman" panose="02020603050405020304" charset="0"/>
            </a:endParaRPr>
          </a:p>
          <a:p>
            <a:r>
              <a:rPr lang="en-GB" altLang="en-US" sz="3200" b="1" dirty="0" smtClean="0">
                <a:solidFill>
                  <a:schemeClr val="bg1"/>
                </a:solidFill>
                <a:latin typeface="Cooper Black" panose="0208090404030B020404" pitchFamily="18" charset="0"/>
                <a:cs typeface="Times New Roman" panose="02020603050405020304" charset="0"/>
              </a:rPr>
              <a:t>SERVICE </a:t>
            </a:r>
            <a:r>
              <a:rPr lang="en-GB" altLang="en-US" sz="3200" b="1" dirty="0">
                <a:solidFill>
                  <a:schemeClr val="bg1"/>
                </a:solidFill>
                <a:latin typeface="Cooper Black" panose="0208090404030B020404" pitchFamily="18" charset="0"/>
                <a:cs typeface="Times New Roman" panose="02020603050405020304" charset="0"/>
              </a:rPr>
              <a:t>APP</a:t>
            </a:r>
          </a:p>
        </p:txBody>
      </p:sp>
      <p:sp>
        <p:nvSpPr>
          <p:cNvPr id="25" name="Text Box 24"/>
          <p:cNvSpPr txBox="1"/>
          <p:nvPr>
            <p:custDataLst>
              <p:tags r:id="rId2"/>
            </p:custDataLst>
          </p:nvPr>
        </p:nvSpPr>
        <p:spPr>
          <a:xfrm>
            <a:off x="553866" y="3272053"/>
            <a:ext cx="3048000" cy="74361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altLang="en-US" sz="135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PROJECT </a:t>
            </a:r>
            <a:r>
              <a:rPr lang="en-GB" altLang="en-US" sz="1350" dirty="0" smtClean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BY:</a:t>
            </a:r>
            <a:endParaRPr lang="en-GB" altLang="en-US" sz="135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2300" b="1" dirty="0" smtClean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ANSHU HADA</a:t>
            </a:r>
          </a:p>
          <a:p>
            <a:endParaRPr lang="en-GB" altLang="en-US" sz="2300" b="1" dirty="0" smtClean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300" b="1" dirty="0" smtClean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itle 18"/>
          <p:cNvSpPr txBox="1">
            <a:spLocks noGrp="1"/>
          </p:cNvSpPr>
          <p:nvPr>
            <p:custDataLst>
              <p:tags r:id="rId3"/>
            </p:custDataLst>
          </p:nvPr>
        </p:nvSpPr>
        <p:spPr>
          <a:xfrm>
            <a:off x="497081" y="2214873"/>
            <a:ext cx="2811826" cy="79961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68580" tIns="34290" rIns="68580" bIns="3429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 algn="l"/>
            <a:r>
              <a:rPr sz="1600" dirty="0">
                <a:solidFill>
                  <a:schemeClr val="bg1"/>
                </a:solidFill>
                <a:latin typeface="Libre Baskerville SemiBold" panose="02000000000000000000" pitchFamily="2" charset="0"/>
                <a:ea typeface="+mj-ea"/>
                <a:cs typeface="Times New Roman" panose="02020603050405020304" charset="0"/>
                <a:sym typeface="+mn-ea"/>
              </a:rPr>
              <a:t>UI UX CASE </a:t>
            </a:r>
            <a:r>
              <a:rPr sz="1600" dirty="0" smtClean="0">
                <a:solidFill>
                  <a:schemeClr val="bg1"/>
                </a:solidFill>
                <a:latin typeface="Libre Baskerville SemiBold" panose="02000000000000000000" pitchFamily="2" charset="0"/>
                <a:ea typeface="+mj-ea"/>
                <a:cs typeface="Times New Roman" panose="02020603050405020304" charset="0"/>
                <a:sym typeface="+mn-ea"/>
              </a:rPr>
              <a:t>STUDY </a:t>
            </a:r>
          </a:p>
          <a:p>
            <a:pPr lvl="0"/>
            <a:r>
              <a:rPr sz="1600" dirty="0" smtClean="0">
                <a:solidFill>
                  <a:schemeClr val="bg1"/>
                </a:solidFill>
                <a:latin typeface="Libre Baskerville SemiBold" panose="02000000000000000000" pitchFamily="2" charset="0"/>
                <a:ea typeface="+mj-ea"/>
                <a:cs typeface="Times New Roman" panose="02020603050405020304" charset="0"/>
                <a:sym typeface="+mn-ea"/>
              </a:rPr>
              <a:t>Using </a:t>
            </a:r>
            <a:r>
              <a:rPr sz="1600" dirty="0" err="1" smtClean="0">
                <a:solidFill>
                  <a:schemeClr val="bg1"/>
                </a:solidFill>
                <a:latin typeface="Libre Baskerville SemiBold" panose="02000000000000000000" pitchFamily="2" charset="0"/>
                <a:ea typeface="+mj-ea"/>
                <a:cs typeface="Times New Roman" panose="02020603050405020304" charset="0"/>
                <a:sym typeface="+mn-ea"/>
              </a:rPr>
              <a:t>Figma</a:t>
            </a:r>
            <a:endParaRPr sz="1600" dirty="0">
              <a:solidFill>
                <a:schemeClr val="bg1"/>
              </a:solidFill>
              <a:latin typeface="Libre Baskerville SemiBold" panose="02000000000000000000" pitchFamily="2" charset="0"/>
              <a:ea typeface="+mj-ea"/>
              <a:cs typeface="Times New Roman" panose="02020603050405020304" charset="0"/>
              <a:sym typeface="+mn-ea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5228535" y="915352"/>
            <a:ext cx="3604260" cy="3312160"/>
            <a:chOff x="7968" y="2169"/>
            <a:chExt cx="5676" cy="5216"/>
          </a:xfrm>
        </p:grpSpPr>
        <p:pic>
          <p:nvPicPr>
            <p:cNvPr id="29" name="Picture 28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7968" y="2348"/>
              <a:ext cx="2279" cy="4809"/>
            </a:xfrm>
            <a:prstGeom prst="roundRect">
              <a:avLst>
                <a:gd name="adj" fmla="val 12500"/>
              </a:avLst>
            </a:prstGeom>
          </p:spPr>
        </p:pic>
        <p:pic>
          <p:nvPicPr>
            <p:cNvPr id="30" name="Picture 29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1314" y="2336"/>
              <a:ext cx="2330" cy="4810"/>
            </a:xfrm>
            <a:prstGeom prst="roundRect">
              <a:avLst>
                <a:gd name="adj" fmla="val 12500"/>
              </a:avLst>
            </a:prstGeom>
          </p:spPr>
        </p:pic>
        <p:pic>
          <p:nvPicPr>
            <p:cNvPr id="31" name="Picture 30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9696" y="2169"/>
              <a:ext cx="2319" cy="5216"/>
            </a:xfrm>
            <a:prstGeom prst="roundRect">
              <a:avLst>
                <a:gd name="adj" fmla="val 12500"/>
              </a:avLst>
            </a:prstGeom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59" y="915352"/>
            <a:ext cx="1531675" cy="3357880"/>
          </a:xfrm>
          <a:prstGeom prst="rect">
            <a:avLst/>
          </a:prstGeom>
        </p:spPr>
      </p:pic>
      <p:sp>
        <p:nvSpPr>
          <p:cNvPr id="13" name="Text Box 24"/>
          <p:cNvSpPr txBox="1"/>
          <p:nvPr>
            <p:custDataLst>
              <p:tags r:id="rId4"/>
            </p:custDataLst>
          </p:nvPr>
        </p:nvSpPr>
        <p:spPr>
          <a:xfrm>
            <a:off x="583422" y="3894840"/>
            <a:ext cx="3048000" cy="36181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GB" altLang="en-US" sz="135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GB" altLang="en-US" sz="1350" dirty="0" smtClean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ection : A</a:t>
            </a:r>
            <a:endParaRPr lang="en-GB" altLang="en-US" sz="2300" b="1" dirty="0" smtClean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300" b="1" dirty="0" smtClean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300" b="1" dirty="0" smtClean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155448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270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9047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Easy Booking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92024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struggle to find and book nearby beauty professionals quickly and reliably.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34440"/>
            <a:ext cx="64008" cy="155448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52704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49047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&amp; Safety Issues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192024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Concerns about letting strangers into homes without verified professional credentials.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0632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063240"/>
            <a:ext cx="64008" cy="155448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5584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31927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Quality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48640" y="374904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quality varies widely; no standardized ratings or review system in place.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063240"/>
            <a:ext cx="64008" cy="155448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35584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3319272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Complexity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374904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Complicated payment flows, no upfront pricing, and lack of secure in-app payment options.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508760"/>
            <a:ext cx="548640" cy="548640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910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90472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Service Discovery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Location-based search to find verified beauty professionals nearby with real-time availability.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508760"/>
            <a:ext cx="548640" cy="548640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9105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490472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Professional Badges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96596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Background-checked pros with ratings, reviews, portfolio photos, and certifications.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0632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352" y="3337560"/>
            <a:ext cx="548640" cy="548640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41985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319272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Slot Booking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379476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One-tap scheduling with live calendar sync, reminders, and easy rescheduling.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337560"/>
            <a:ext cx="548640" cy="548640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41985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319272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In-App Payments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3794760"/>
            <a:ext cx="3794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payment options with transparent pricing, no hidden fees, and digital receipts.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UX DESIGN THINKING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2423160"/>
            <a:ext cx="7040880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60120" y="1371600"/>
            <a:ext cx="822960" cy="822960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377440"/>
            <a:ext cx="1920240" cy="54864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5C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Empathize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17373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users, their needs, and their pain points through interviews and surveys.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1371600"/>
            <a:ext cx="822960" cy="822960"/>
          </a:xfrm>
          <a:prstGeom prst="ellipse">
            <a:avLst/>
          </a:prstGeom>
          <a:solidFill>
            <a:srgbClr val="9B1F5E"/>
          </a:solidFill>
          <a:ln w="12700">
            <a:solidFill>
              <a:srgbClr val="9B1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371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3774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2377440"/>
            <a:ext cx="1920240" cy="54864"/>
          </a:xfrm>
          <a:prstGeom prst="rect">
            <a:avLst/>
          </a:prstGeom>
          <a:solidFill>
            <a:srgbClr val="9B1F5E"/>
          </a:solidFill>
          <a:ln w="12700">
            <a:solidFill>
              <a:srgbClr val="9B1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514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1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2926080"/>
            <a:ext cx="17373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Clearly frame the core problem based on user insights and research findings.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57800" y="1371600"/>
            <a:ext cx="822960" cy="822960"/>
          </a:xfrm>
          <a:prstGeom prst="ellipse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371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77440"/>
            <a:ext cx="1920240" cy="54864"/>
          </a:xfrm>
          <a:prstGeom prst="rect">
            <a:avLst/>
          </a:prstGeom>
          <a:solidFill>
            <a:srgbClr val="FF8C69"/>
          </a:solidFill>
          <a:ln w="12700">
            <a:solidFill>
              <a:srgbClr val="FF8C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14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2926080"/>
            <a:ext cx="17373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as many creative solutions as possible — diverge before converging.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06640" y="1371600"/>
            <a:ext cx="822960" cy="822960"/>
          </a:xfrm>
          <a:prstGeom prst="ellipse">
            <a:avLst/>
          </a:prstGeom>
          <a:solidFill>
            <a:srgbClr val="5FB4B0"/>
          </a:solidFill>
          <a:ln w="12700">
            <a:solidFill>
              <a:srgbClr val="5FB4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371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237744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377440"/>
            <a:ext cx="1920240" cy="54864"/>
          </a:xfrm>
          <a:prstGeom prst="rect">
            <a:avLst/>
          </a:prstGeom>
          <a:solidFill>
            <a:srgbClr val="5FB4B0"/>
          </a:solidFill>
          <a:ln w="12700">
            <a:solidFill>
              <a:srgbClr val="5FB4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2514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B4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2926080"/>
            <a:ext cx="17373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 ideas into structured, user-friendly interfaces and prototypes.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USER PERSONA  (DEFINE)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7373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17117"/>
            <a:ext cx="731520" cy="731520"/>
          </a:xfrm>
          <a:prstGeom prst="ellipse">
            <a:avLst/>
          </a:prstGeom>
          <a:solidFill>
            <a:srgbClr val="EE92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210" y="1317117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5C89"/>
                </a:solidFill>
              </a:rPr>
              <a:t>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Priya Sharma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E92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Age: 29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E92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 Manager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E92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Kathmandu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60020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time to visit salon after long work hours.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98424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1956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 to trust unknown professionals at home.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36829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43200" y="234086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Unclear service pricing causes booking hesitation.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760720" y="12618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Solutions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60020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0" y="1572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booking with verified pro profiles.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984248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35040" y="19568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Ratings, reviews &amp; background checks visible.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36829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035040" y="234086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Upfront pricing with no hidden charges.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274320" y="3200400"/>
            <a:ext cx="2011680" cy="17373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898525" y="3364992"/>
            <a:ext cx="731520" cy="731520"/>
          </a:xfrm>
          <a:prstGeom prst="ellipse">
            <a:avLst/>
          </a:prstGeom>
          <a:solidFill>
            <a:srgbClr val="EE92B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898525" y="336499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altLang="en-US" sz="2200" b="1" dirty="0">
                <a:solidFill>
                  <a:srgbClr val="E25C89"/>
                </a:solidFill>
              </a:rPr>
              <a:t>L</a:t>
            </a:r>
          </a:p>
        </p:txBody>
      </p:sp>
      <p:sp>
        <p:nvSpPr>
          <p:cNvPr id="26" name="Text 18"/>
          <p:cNvSpPr/>
          <p:nvPr/>
        </p:nvSpPr>
        <p:spPr>
          <a:xfrm>
            <a:off x="320040" y="41605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Latika Shrestha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320040" y="440740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E92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Age: 23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E92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College Student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E92B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Lalitpur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2468880" y="327355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</a:t>
            </a:r>
            <a:endParaRPr lang="en-US" sz="13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361188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743200" y="35844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budget; no transparency on salon prices.</a:t>
            </a:r>
            <a:endParaRPr lang="en-US" sz="11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3995928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2743200" y="396849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crashes or glitches during payment flow.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4379976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2743200" y="43525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Difficulty finding specific services near campus.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5760720" y="32735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Solutions</a:t>
            </a:r>
            <a:endParaRPr lang="en-US" sz="13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611880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035040" y="358444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Affordable packages &amp; student discounts.</a:t>
            </a:r>
            <a:endParaRPr lang="en-US" sz="11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3995928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035040" y="39684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Stable, tested payment flow with fallback options.</a:t>
            </a:r>
            <a:endParaRPr lang="en-US" sz="11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4379976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035040" y="435254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Location-based filtering for nearby service providers.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USER INTERVIEW  (QUALITATIVE RESEARCH)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43584"/>
            <a:ext cx="347472" cy="347472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435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often do you visit a salon or use beauty services?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27048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go to the salon every 3-4 weeks, but it takes too much time commuting. I wish someone could come home.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57984"/>
            <a:ext cx="347472" cy="347472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579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difficulties have you faced with beauty service apps?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441448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 I tried crashed during payment. I had to start over and ended up losing my booking.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72384"/>
            <a:ext cx="347472" cy="347472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723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would make a doorstep beauty service more convenient?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355848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booking, knowing who is coming, and clear pricing before I confirm. No surprises.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986784"/>
            <a:ext cx="347472" cy="347472"/>
          </a:xfrm>
          <a:prstGeom prst="ellipse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8678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you prefer basic or feature-rich apps?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70248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balance — easy for regular bookings, but with options if I want to explore or customize services.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SURVEY  (QUANTITATIVE RESEARCH)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often do you use beauty services?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572768"/>
          <a:ext cx="411480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apps do you currently use?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572768"/>
          <a:ext cx="411480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30632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you faced issues with bookings?</a:t>
            </a:r>
            <a:endParaRPr lang="en-US" sz="12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274320" y="3447288"/>
          <a:ext cx="411480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4663440" y="30632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important factor for you?</a:t>
            </a:r>
            <a:endParaRPr lang="en-US" sz="1200" dirty="0"/>
          </a:p>
        </p:txBody>
      </p:sp>
      <p:graphicFrame>
        <p:nvGraphicFramePr>
          <p:cNvPr id="11" name="Chart 3"/>
          <p:cNvGraphicFramePr/>
          <p:nvPr/>
        </p:nvGraphicFramePr>
        <p:xfrm>
          <a:off x="4663440" y="3447288"/>
          <a:ext cx="411480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USER FLOW  (IDEATE)</a:t>
            </a:r>
            <a:endParaRPr lang="en-US" sz="3000" dirty="0"/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3"/>
          <a:srcRect t="4019" b="1940"/>
          <a:stretch>
            <a:fillRect/>
          </a:stretch>
        </p:blipFill>
        <p:spPr>
          <a:xfrm>
            <a:off x="3044190" y="1051560"/>
            <a:ext cx="2896870" cy="4091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LOW FIDELITY  (IDEATE)</a:t>
            </a:r>
            <a:endParaRPr lang="en-US" sz="3000" dirty="0"/>
          </a:p>
        </p:txBody>
      </p:sp>
      <p:pic>
        <p:nvPicPr>
          <p:cNvPr id="60" name="Picture 59" descr="10000408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620" y="1051560"/>
            <a:ext cx="4821555" cy="4104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DESIGN SYSTEM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1560"/>
            <a:ext cx="9144000" cy="4091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DESIGN SYSTEM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975" y="1065530"/>
            <a:ext cx="6306820" cy="407797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0" y="1137285"/>
            <a:ext cx="34582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 sz="24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  <a:sym typeface="+mn-ea"/>
              </a:rPr>
              <a:t>TYPOGRAPHY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157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alt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USER INTERFACE</a:t>
            </a:r>
            <a:endParaRPr lang="en-US" sz="3000" dirty="0"/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470" y="1108761"/>
            <a:ext cx="1989455" cy="39919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50" y="1082447"/>
            <a:ext cx="2000861" cy="40544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9935" y="1108762"/>
            <a:ext cx="2032648" cy="40116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3269" y="1095606"/>
            <a:ext cx="2098515" cy="40092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156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alt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USER INTERFACE</a:t>
            </a:r>
            <a:endParaRPr lang="en-US" sz="3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287" y="1145152"/>
            <a:ext cx="1963019" cy="39063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348" y="1145152"/>
            <a:ext cx="1872504" cy="39135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024" y="1152313"/>
            <a:ext cx="1861692" cy="38800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87" y="1152313"/>
            <a:ext cx="1964343" cy="3920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157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alt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USER INTERFACE</a:t>
            </a:r>
            <a:endParaRPr lang="en-US" sz="3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739" y="1114252"/>
            <a:ext cx="1949450" cy="39642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66" y="1160301"/>
            <a:ext cx="1972141" cy="39182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9745" y="1166880"/>
            <a:ext cx="1966680" cy="39116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958" y="1160300"/>
            <a:ext cx="2075180" cy="39182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156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alt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USER INTERFACE</a:t>
            </a:r>
            <a:endParaRPr lang="en-US" sz="3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582" y="1169149"/>
            <a:ext cx="1813715" cy="38567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156" y="1251456"/>
            <a:ext cx="1824347" cy="37744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623" y="1169149"/>
            <a:ext cx="1856336" cy="38567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3232" y="1169148"/>
            <a:ext cx="2011351" cy="38567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914400"/>
          </a:xfrm>
          <a:prstGeom prst="rect">
            <a:avLst/>
          </a:prstGeom>
          <a:solidFill>
            <a:srgbClr val="3D1A28"/>
          </a:solidFill>
          <a:ln w="19050">
            <a:solidFill>
              <a:srgbClr val="E25C8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91440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727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389888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 a seamless, intuitive user experience with a clean, beauty-forward design language.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4023360" cy="914400"/>
          </a:xfrm>
          <a:prstGeom prst="rect">
            <a:avLst/>
          </a:prstGeom>
          <a:solidFill>
            <a:srgbClr val="3D1A28"/>
          </a:solidFill>
          <a:ln w="19050">
            <a:solidFill>
              <a:srgbClr val="E25C8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280160"/>
            <a:ext cx="54864" cy="91440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5727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389888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trust through verified professional profiles, ratings, reviews, and background checks.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65760" y="2377440"/>
            <a:ext cx="4023360" cy="914400"/>
          </a:xfrm>
          <a:prstGeom prst="rect">
            <a:avLst/>
          </a:prstGeom>
          <a:solidFill>
            <a:srgbClr val="3D1A28"/>
          </a:solidFill>
          <a:ln w="19050">
            <a:solidFill>
              <a:srgbClr val="E25C8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2377440"/>
            <a:ext cx="54864" cy="91440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7004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6112" y="2487168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a unified platform covering booking, payments, offers, and loyalty rewards.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54880" y="2377440"/>
            <a:ext cx="4023360" cy="914400"/>
          </a:xfrm>
          <a:prstGeom prst="rect">
            <a:avLst/>
          </a:prstGeom>
          <a:solidFill>
            <a:srgbClr val="3D1A28"/>
          </a:solidFill>
          <a:ln w="19050">
            <a:solidFill>
              <a:srgbClr val="E25C8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54880" y="2377440"/>
            <a:ext cx="54864" cy="91440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67004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85232" y="2487168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 engagement with personalized recommendations and user-adaptive features.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65760" y="3474720"/>
            <a:ext cx="4023360" cy="914400"/>
          </a:xfrm>
          <a:prstGeom prst="rect">
            <a:avLst/>
          </a:prstGeom>
          <a:solidFill>
            <a:srgbClr val="3D1A28"/>
          </a:solidFill>
          <a:ln w="19050">
            <a:solidFill>
              <a:srgbClr val="E25C8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65760" y="3474720"/>
            <a:ext cx="54864" cy="91440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76732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96112" y="3584448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 iterative, user-driven design — continuously improve based on real feedback.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754880" y="3474720"/>
            <a:ext cx="4023360" cy="914400"/>
          </a:xfrm>
          <a:prstGeom prst="rect">
            <a:avLst/>
          </a:prstGeom>
          <a:solidFill>
            <a:srgbClr val="3D1A28"/>
          </a:solidFill>
          <a:ln w="19050">
            <a:solidFill>
              <a:srgbClr val="E25C89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754880" y="3474720"/>
            <a:ext cx="54864" cy="914400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376732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85232" y="3584448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with scalability in mind: ready for city expansion, new service categories, and B2B growth.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635"/>
            <a:ext cx="9144000" cy="5142865"/>
          </a:xfrm>
          <a:prstGeom prst="rect">
            <a:avLst/>
          </a:prstGeom>
          <a:solidFill>
            <a:srgbClr val="E25C89"/>
          </a:solidFill>
          <a:ln w="12700">
            <a:solidFill>
              <a:srgbClr val="E25C89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2034540" y="2188210"/>
            <a:ext cx="507492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440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THANK YOU 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UNIT_TYPE" val="i"/>
  <p:tag name="KSO_WM_UNIT_INDEX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 第二级 第三级 第四级 第五级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629</Words>
  <Application>Microsoft Office PowerPoint</Application>
  <PresentationFormat>On-screen Show (16:9)</PresentationFormat>
  <Paragraphs>116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Cooper Black</vt:lpstr>
      <vt:lpstr>Libre Baskerville SemiBold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Glam At Your Door – UI/UX Case Study</dc:title>
  <dc:subject>PptxGenJS Presentation</dc:subject>
  <dc:creator>PptxGenJS</dc:creator>
  <cp:lastModifiedBy>Microsoft account</cp:lastModifiedBy>
  <cp:revision>12</cp:revision>
  <dcterms:created xsi:type="dcterms:W3CDTF">2026-04-21T09:11:00Z</dcterms:created>
  <dcterms:modified xsi:type="dcterms:W3CDTF">2026-04-22T06:02:38Z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DE38B51F6C2B4EC9A874DB1326D7D2ED_12</vt:lpwstr>
  </property>
</Properties>
</file>