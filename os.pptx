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Open Sans" panose="020B0604020202020204" charset="0"/>
      <p:bold r:id="rId23"/>
    </p:embeddedFont>
    <p:embeddedFont>
      <p:font typeface="Bitter Medium" panose="020B0604020202020204" charset="0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1536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40"/>
            </a:lvl1pPr>
          </a:lstStyle>
          <a:p>
            <a:fld id="{696C064A-D61B-4B21-B757-51A9B82445B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1536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4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65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2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38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6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93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27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6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30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9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92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26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0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53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64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41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33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9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" y="1702435"/>
            <a:ext cx="6161405" cy="4107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90825"/>
            <a:ext cx="713255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File Systems: FAT and NTFS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3976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Anshu Hada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CSIT 4th SEM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75873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Section- A</a:t>
            </a:r>
            <a:endParaRPr lang="en-US" sz="1750" dirty="0"/>
          </a:p>
        </p:txBody>
      </p:sp>
      <p:sp>
        <p:nvSpPr>
          <p:cNvPr id="8" name="Text Box 7"/>
          <p:cNvSpPr txBox="1"/>
          <p:nvPr/>
        </p:nvSpPr>
        <p:spPr>
          <a:xfrm>
            <a:off x="11330940" y="7971155"/>
            <a:ext cx="4876800" cy="151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580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File Systems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8214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file system is a method employed by operating systems to store, organise, and facilitate access to data on storage devices. It acts as the backbone for how information is managed on your computer.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39170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839170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D2600F"/>
          </a:solidFill>
        </p:spPr>
      </p:sp>
      <p:sp>
        <p:nvSpPr>
          <p:cNvPr id="6" name="Text 4"/>
          <p:cNvSpPr/>
          <p:nvPr/>
        </p:nvSpPr>
        <p:spPr>
          <a:xfrm>
            <a:off x="1142524" y="40964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Functionality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586883"/>
            <a:ext cx="58019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systems assign names to files, store critical metadata (like creation date and size), and efficiently manage available storage space.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839170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839170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D2600F"/>
          </a:solidFill>
        </p:spPr>
      </p:sp>
      <p:sp>
        <p:nvSpPr>
          <p:cNvPr id="10" name="Text 8"/>
          <p:cNvSpPr/>
          <p:nvPr/>
        </p:nvSpPr>
        <p:spPr>
          <a:xfrm>
            <a:off x="7777282" y="40964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Examples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4586883"/>
            <a:ext cx="58020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 (File Allocation Table)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5029081"/>
            <a:ext cx="58020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NTFS (New Technology File System)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7282" y="5471279"/>
            <a:ext cx="58020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exFAT (Extended File Allocation Table)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7282" y="5913477"/>
            <a:ext cx="58020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ext3/ext4 (Third/Fourth Extended File System)</a:t>
            </a:r>
            <a:endParaRPr lang="en-US" sz="1750" dirty="0"/>
          </a:p>
        </p:txBody>
      </p:sp>
      <p:sp>
        <p:nvSpPr>
          <p:cNvPr id="17" name="Text Box 16"/>
          <p:cNvSpPr txBox="1"/>
          <p:nvPr/>
        </p:nvSpPr>
        <p:spPr>
          <a:xfrm>
            <a:off x="13585190" y="7721600"/>
            <a:ext cx="104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88" y="3028474"/>
            <a:ext cx="4919305" cy="21725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889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 to FAT (File Allocation Table)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26613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File Allocation Table (FAT) is one of the earliest file systems, developed by Microsoft in 1977. It's known for its simplicity and widespread compatibility.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9728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Widespread Use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578429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 remains common in: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45405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USB drives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587603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 cards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029801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Older floppy disks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471999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Cross-platform data exchange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399728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Variants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42721" y="4578429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the years, FAT has evolved: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145405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FAT12 (earliest, for small volumes)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5950506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FAT16 (improved, larger volumes)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342721" y="6755606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FAT32 (most common, larger volumes and files)</a:t>
            </a:r>
            <a:endParaRPr lang="en-US" sz="1750" dirty="0"/>
          </a:p>
        </p:txBody>
      </p:sp>
      <p:sp>
        <p:nvSpPr>
          <p:cNvPr id="17" name="Text Box 16"/>
          <p:cNvSpPr txBox="1"/>
          <p:nvPr/>
        </p:nvSpPr>
        <p:spPr>
          <a:xfrm>
            <a:off x="13836015" y="7635240"/>
            <a:ext cx="66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8781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 Architecture: Cluster Chains and Fragmentation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996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6802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421052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42458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Cluster Allocation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736306"/>
            <a:ext cx="3421499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 are stored in one or more clusters. If a file is larger than a single cluster, it's broken into pieces and stored in a chain of clusters.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416802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0963" y="421052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42458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Directory Entries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73008" y="4736306"/>
            <a:ext cx="3421499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directory entry contains crucial file information: filename, timestamps (creation, modification), and the starting cluster of the file.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416802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3065" y="421052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4245888"/>
            <a:ext cx="328600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Non-Contiguous Storage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5111" y="4736306"/>
            <a:ext cx="3421499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key characteristic is that a file's clusters do not need to be contiguous on the disk. This can lead to fragmentation but allows for flexible storage.</a:t>
            </a:r>
            <a:endParaRPr lang="en-US" sz="175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/>
              <a:t>4</a:t>
            </a:r>
          </a:p>
        </p:txBody>
      </p:sp>
      <p:sp>
        <p:nvSpPr>
          <p:cNvPr id="17" name="Text Box 16"/>
          <p:cNvSpPr txBox="1"/>
          <p:nvPr/>
        </p:nvSpPr>
        <p:spPr>
          <a:xfrm flipH="1">
            <a:off x="13417550" y="7647940"/>
            <a:ext cx="1014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5773"/>
            <a:ext cx="899731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 Variants: Capacity Limitations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818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FAT variant has specific limitations regarding the maximum volume size and maximum file size it can handle. Understanding these limits is crucial for choosing the right file system for a given storage device.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9137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57675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028343" y="3720465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8988" y="3720465"/>
            <a:ext cx="409836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Volume Size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606" y="3720465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File Size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22707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28343" y="4370784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FAT12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8988" y="4370784"/>
            <a:ext cx="409836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MB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606" y="4370784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MB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87739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28343" y="5021104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FAT16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288988" y="5021104"/>
            <a:ext cx="409836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GB (DOS)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606" y="5021104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GB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2771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28343" y="5671423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FAT32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88988" y="5671423"/>
            <a:ext cx="409836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TB (Windows)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606" y="5671423"/>
            <a:ext cx="47535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GB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44080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FAT32's 4 GB file size limit is a significant constraint for modern applications dealing with large media files or databases.</a:t>
            </a:r>
            <a:endParaRPr lang="en-US" sz="1750" dirty="0"/>
          </a:p>
        </p:txBody>
      </p:sp>
      <p:sp>
        <p:nvSpPr>
          <p:cNvPr id="23" name="Text Box 22"/>
          <p:cNvSpPr txBox="1"/>
          <p:nvPr/>
        </p:nvSpPr>
        <p:spPr>
          <a:xfrm flipH="1">
            <a:off x="13602335" y="7717155"/>
            <a:ext cx="827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8162"/>
            <a:ext cx="937783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FAT: Advantages and Disadvantages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7103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FAT offers broad compatibility, its simplicity comes with certain trade-offs, particularly in modern computing environments.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4487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2601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and easy to implement, reducing overhead.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68215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Universally supported by nearly all operating systems (Windows, macOS, Linux).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73316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Excellent for removable drives due to its broad compatibility.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74487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Disadvantages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326017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built-in file security or permissions, making it less suitable for shared or sensitive data.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31118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Maximum file size limit (4 GB for FAT32) restricts its use for large files.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936218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journaling feature, increasing the risk of data loss or corruption during system crashes.</a:t>
            </a:r>
            <a:endParaRPr lang="en-US" sz="175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/>
              <a:t>6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3317220" y="7726045"/>
            <a:ext cx="859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027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Numerical Example: FAT32 Internal Fragmentation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674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illustrate how storage is allocated and potential waste (internal fragmentation) occurs within a FAT32 system.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369951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file of 18 KB is to be stored in a FAT32 system. The cluster size is 4 KB.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33951" y="4988004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5606058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 of clusters used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6048256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fragmentation (wasted space)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114800"/>
            <a:ext cx="30480" cy="2375654"/>
          </a:xfrm>
          <a:prstGeom prst="rect">
            <a:avLst/>
          </a:prstGeom>
          <a:solidFill>
            <a:srgbClr val="D2600F"/>
          </a:solidFill>
        </p:spPr>
      </p:sp>
      <p:sp>
        <p:nvSpPr>
          <p:cNvPr id="9" name="TextBox 8"/>
          <p:cNvSpPr txBox="1"/>
          <p:nvPr/>
        </p:nvSpPr>
        <p:spPr>
          <a:xfrm>
            <a:off x="13700125" y="7595870"/>
            <a:ext cx="2603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/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3501"/>
            <a:ext cx="1024925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 Numerical Solution (Step-by-Step)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86351"/>
            <a:ext cx="4234220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04" y="3639979"/>
            <a:ext cx="304573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Step 1: Clusters Needed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81368"/>
            <a:ext cx="3780592" cy="10021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281368"/>
            <a:ext cx="3780592" cy="10021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5570577"/>
            <a:ext cx="3780592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Since clusters are allocated as whole units, 4.5 clusters means 5 clusters are required.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198031" y="2846070"/>
            <a:ext cx="4234220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4845" y="3299698"/>
            <a:ext cx="348436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Step 2: Total Allocated Size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24845" y="3941088"/>
            <a:ext cx="3780592" cy="7408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845" y="3941088"/>
            <a:ext cx="3780592" cy="740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4845" y="4968954"/>
            <a:ext cx="378059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the total disk space reserved for the 18 KB file.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02272" y="2505908"/>
            <a:ext cx="4234220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086" y="2959537"/>
            <a:ext cx="3780592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Step 3: Internal Fragmentation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829086" y="3955256"/>
            <a:ext cx="3780592" cy="7408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086" y="3955256"/>
            <a:ext cx="3780592" cy="7408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9086" y="4983123"/>
            <a:ext cx="3780592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2 KB is wasted space within the last allocated cluster, demonstrating internal fragmentation.</a:t>
            </a:r>
            <a:endParaRPr lang="en-US" sz="1750" dirty="0"/>
          </a:p>
        </p:txBody>
      </p:sp>
      <p:sp>
        <p:nvSpPr>
          <p:cNvPr id="18" name="TextBox 17"/>
          <p:cNvSpPr txBox="1"/>
          <p:nvPr/>
        </p:nvSpPr>
        <p:spPr>
          <a:xfrm>
            <a:off x="13738225" y="7747635"/>
            <a:ext cx="2603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/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4540"/>
            <a:ext cx="972990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Summary of FAT Numerical Example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694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table summarises the calculation, clearly showing how internal fragmentation arises in a FAT32 system when a file does not perfectly fill its allocated clusters.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27903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2355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028224" y="3379232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Parameter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379232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88584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028224" y="4029551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Size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4029551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KB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53616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028224" y="4679871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Size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679871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KB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18648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28224" y="5330190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Clusters Used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330190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83680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28224" y="5980509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Allocated Space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980509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KB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48712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028224" y="6630829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Fragmentation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6630829"/>
            <a:ext cx="60563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KB</a:t>
            </a:r>
            <a:endParaRPr lang="en-US" sz="1750" dirty="0"/>
          </a:p>
        </p:txBody>
      </p:sp>
      <p:sp>
        <p:nvSpPr>
          <p:cNvPr id="23" name="TextBox 22"/>
          <p:cNvSpPr txBox="1"/>
          <p:nvPr/>
        </p:nvSpPr>
        <p:spPr>
          <a:xfrm>
            <a:off x="13829030" y="7654290"/>
            <a:ext cx="2603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/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829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 to NTFS (New Technology File System)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3016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NTFS is Microsoft's advanced file system, designed for robustness, security, and efficiency in modern operating systems, particularly Windows NT and its successors.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53972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388406"/>
            <a:ext cx="294822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Enhanced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78824"/>
            <a:ext cx="372749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NTFS supports significantly larger files and volumes compared to FAT, along with rich metadata capabilities.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153972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3884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Advanced Security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878824"/>
            <a:ext cx="372749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 include Access Control Lists (ACLs), allowing granular permissions for files and folders.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153972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3884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Integrity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878824"/>
            <a:ext cx="3727490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Journaling ensures file system consistency, even after power failures or system crashes, by logging changes before applying them.</a:t>
            </a:r>
            <a:endParaRPr lang="en-US" sz="1750" dirty="0"/>
          </a:p>
        </p:txBody>
      </p:sp>
      <p:sp>
        <p:nvSpPr>
          <p:cNvPr id="13" name="TextBox 12"/>
          <p:cNvSpPr txBox="1"/>
          <p:nvPr/>
        </p:nvSpPr>
        <p:spPr>
          <a:xfrm>
            <a:off x="13576300" y="7595870"/>
            <a:ext cx="2603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/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42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NTFS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436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of NTFS is the Master File Table (MFT), a comprehensive database that stores all metadata for every file and directory on the volume.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9531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629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File Compression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120396"/>
            <a:ext cx="552914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Efficiently reduces file sizes to maximise available disk space.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49531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629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File Encryption (EFS)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4120396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robust, integrated file-level security for sensitive data.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1317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54783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Disk Quotas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6038255"/>
            <a:ext cx="552914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administrators to set limits on disk space usage per user.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413177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54783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Journaling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6038255"/>
            <a:ext cx="55292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Logs all changes to ensure data integrity and prevent corruption.</a:t>
            </a:r>
            <a:endParaRPr lang="en-US" sz="1750" dirty="0"/>
          </a:p>
        </p:txBody>
      </p:sp>
      <p:sp>
        <p:nvSpPr>
          <p:cNvPr id="16" name="TextBox 15"/>
          <p:cNvSpPr txBox="1"/>
          <p:nvPr/>
        </p:nvSpPr>
        <p:spPr>
          <a:xfrm>
            <a:off x="13610590" y="7608570"/>
            <a:ext cx="33782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/>
              <a:t>1</a:t>
            </a:r>
            <a:r>
              <a:rPr lang="en-US" sz="1200"/>
              <a:t>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20316"/>
            <a:ext cx="9237940" cy="7036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 vs NTFS: A Feature Comparison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7956" y="1774269"/>
            <a:ext cx="13054489" cy="72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key differences between FAT32 and NTFS is essential for choosing the appropriate file system for various storage needs and operating environments.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7956" y="2747843"/>
            <a:ext cx="13054489" cy="3887867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76" y="2755463"/>
            <a:ext cx="13039249" cy="64543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020842" y="2898100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2478" y="2898100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FAT32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130" y="2898100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NTFS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5576" y="3400901"/>
            <a:ext cx="13039249" cy="64543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20842" y="3543538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File Size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2478" y="3543538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GB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130" y="3543538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~16 EB (Exabytes)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5576" y="4046339"/>
            <a:ext cx="13039249" cy="64543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20842" y="4188976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2478" y="4188976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130" y="4188976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 (Access Control Lists)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5576" y="4691777"/>
            <a:ext cx="13039249" cy="64543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20842" y="4834414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Journaling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2478" y="4834414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130" y="4834414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5576" y="5337215"/>
            <a:ext cx="13039249" cy="64543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20842" y="5479852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Compatibility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2478" y="5479852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Universal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848130" y="5479852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Mostly Windows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95576" y="5982652"/>
            <a:ext cx="13039249" cy="64543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020842" y="6125289"/>
            <a:ext cx="2153722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Compression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632478" y="6125289"/>
            <a:ext cx="475773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848130" y="6125289"/>
            <a:ext cx="4761548" cy="360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87956" y="6888956"/>
            <a:ext cx="13054489" cy="72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FAT32 offers broader compatibility, NTFS excels in modern environments with its superior capacity, security features, and data integrity.</a:t>
            </a:r>
            <a:endParaRPr lang="en-US" sz="1750" dirty="0"/>
          </a:p>
        </p:txBody>
      </p:sp>
      <p:sp>
        <p:nvSpPr>
          <p:cNvPr id="30" name="TextBox 29"/>
          <p:cNvSpPr txBox="1"/>
          <p:nvPr/>
        </p:nvSpPr>
        <p:spPr>
          <a:xfrm>
            <a:off x="13369925" y="7691755"/>
            <a:ext cx="33782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/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818209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Where are FAT and NTFS Used?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USB drives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 cards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Legacy devices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NTFS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internal storage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enterprise systems</a:t>
            </a:r>
            <a:endParaRPr lang="en-US" sz="1750" dirty="0"/>
          </a:p>
        </p:txBody>
      </p:sp>
      <p:sp>
        <p:nvSpPr>
          <p:cNvPr id="11" name="TextBox 10"/>
          <p:cNvSpPr txBox="1"/>
          <p:nvPr/>
        </p:nvSpPr>
        <p:spPr>
          <a:xfrm>
            <a:off x="13180060" y="7660005"/>
            <a:ext cx="33782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/>
              <a:t>1</a:t>
            </a:r>
            <a:r>
              <a:rPr lang="en-US" sz="1200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402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643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exploration of file systems highlights the distinct characteristics and applications of FAT and NTFS, alongside the practical implications of their designs.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47549"/>
            <a:ext cx="4196358" cy="4217908"/>
          </a:xfrm>
          <a:prstGeom prst="roundRect">
            <a:avLst>
              <a:gd name="adj" fmla="val 3486"/>
            </a:avLst>
          </a:prstGeom>
          <a:solidFill>
            <a:srgbClr val="FFF8F0"/>
          </a:solidFill>
        </p:spPr>
      </p:sp>
      <p:sp>
        <p:nvSpPr>
          <p:cNvPr id="5" name="Shape 3"/>
          <p:cNvSpPr/>
          <p:nvPr/>
        </p:nvSpPr>
        <p:spPr>
          <a:xfrm>
            <a:off x="793790" y="321706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</p:spPr>
      </p:sp>
      <p:sp>
        <p:nvSpPr>
          <p:cNvPr id="6" name="Shape 4"/>
          <p:cNvSpPr/>
          <p:nvPr/>
        </p:nvSpPr>
        <p:spPr>
          <a:xfrm>
            <a:off x="2551688" y="290738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61" y="3077528"/>
            <a:ext cx="272177" cy="34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814524"/>
            <a:ext cx="335518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FAT: Simple, Yet Outdated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304943"/>
            <a:ext cx="3681770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FAT's straightforward design ensures broad compatibility, making it ideal for smaller, removable media. However, its lack of modern features and security limitations render it unsuitable for large, critical systems.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247549"/>
            <a:ext cx="4196358" cy="4217908"/>
          </a:xfrm>
          <a:prstGeom prst="roundRect">
            <a:avLst>
              <a:gd name="adj" fmla="val 3486"/>
            </a:avLst>
          </a:prstGeom>
          <a:solidFill>
            <a:srgbClr val="FFF8F0"/>
          </a:solidFill>
        </p:spPr>
      </p:sp>
      <p:sp>
        <p:nvSpPr>
          <p:cNvPr id="11" name="Shape 8"/>
          <p:cNvSpPr/>
          <p:nvPr/>
        </p:nvSpPr>
        <p:spPr>
          <a:xfrm>
            <a:off x="5216962" y="321706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</p:spPr>
      </p:sp>
      <p:sp>
        <p:nvSpPr>
          <p:cNvPr id="12" name="Shape 9"/>
          <p:cNvSpPr/>
          <p:nvPr/>
        </p:nvSpPr>
        <p:spPr>
          <a:xfrm>
            <a:off x="6974860" y="290738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33" y="3077528"/>
            <a:ext cx="272177" cy="3401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3814524"/>
            <a:ext cx="297037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NTFS: Robust &amp; Secure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74256" y="4304943"/>
            <a:ext cx="3681770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NTFS stands out with its advanced capabilities, including journaling for data integrity, comprehensive security through Access Control Lists (ACLs), and efficient management of metadata for enhanced reliability.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3247549"/>
            <a:ext cx="4196358" cy="4217908"/>
          </a:xfrm>
          <a:prstGeom prst="roundRect">
            <a:avLst>
              <a:gd name="adj" fmla="val 3486"/>
            </a:avLst>
          </a:prstGeom>
          <a:solidFill>
            <a:srgbClr val="FFF8F0"/>
          </a:solidFill>
        </p:spPr>
      </p:sp>
      <p:sp>
        <p:nvSpPr>
          <p:cNvPr id="17" name="Shape 13"/>
          <p:cNvSpPr/>
          <p:nvPr/>
        </p:nvSpPr>
        <p:spPr>
          <a:xfrm>
            <a:off x="9640133" y="321706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</p:spPr>
      </p:sp>
      <p:sp>
        <p:nvSpPr>
          <p:cNvPr id="18" name="Shape 14"/>
          <p:cNvSpPr/>
          <p:nvPr/>
        </p:nvSpPr>
        <p:spPr>
          <a:xfrm>
            <a:off x="11398032" y="290738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105" y="3077528"/>
            <a:ext cx="272177" cy="3401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7427" y="3814524"/>
            <a:ext cx="363140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Fragmentation Inefficiency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897427" y="4304943"/>
            <a:ext cx="368177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illustrations underscore a key drawback of FAT: internal fragmentation. This inherent inefficiency leads to wasted disk space, especially noticeable with smaller files on larger clusters.</a:t>
            </a:r>
            <a:endParaRPr lang="en-US" sz="1750" dirty="0"/>
          </a:p>
        </p:txBody>
      </p:sp>
      <p:sp>
        <p:nvSpPr>
          <p:cNvPr id="22" name="TextBox 21"/>
          <p:cNvSpPr txBox="1"/>
          <p:nvPr/>
        </p:nvSpPr>
        <p:spPr>
          <a:xfrm>
            <a:off x="13241655" y="7646670"/>
            <a:ext cx="33782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/>
              <a:t>1</a:t>
            </a:r>
            <a:r>
              <a:rPr lang="en-US" sz="120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2761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                                              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002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88925" y="3121660"/>
            <a:ext cx="9056370" cy="2280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                                                     Thank You!!</a:t>
            </a:r>
            <a:endParaRPr lang="en-US" sz="4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Microsoft Office PowerPoint</Application>
  <PresentationFormat>Custom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Open Sans</vt:lpstr>
      <vt:lpstr>Arial</vt:lpstr>
      <vt:lpstr>Bitter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account</cp:lastModifiedBy>
  <cp:revision>6</cp:revision>
  <dcterms:created xsi:type="dcterms:W3CDTF">2025-08-03T02:49:00Z</dcterms:created>
  <dcterms:modified xsi:type="dcterms:W3CDTF">2025-08-04T01:32:46Z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BF2E449AA58E4D9599D7A03AA4BF8741_13</vt:lpwstr>
  </property>
  <property fmtid="{D5CDD505-2E9C-101B-9397-08002B2CF9AE}" pid="3" name="KSOProductBuildVer">
    <vt:lpwstr>1033-12.2.0.21931</vt:lpwstr>
  </property>
</Properties>
</file>