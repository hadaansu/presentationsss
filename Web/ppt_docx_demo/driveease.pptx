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0"/>
  </p:notesMasterIdLst>
  <p:sldIdLst>
    <p:sldId id="256" r:id="rId2"/>
    <p:sldId id="261" r:id="rId3"/>
    <p:sldId id="257" r:id="rId4"/>
    <p:sldId id="262" r:id="rId5"/>
    <p:sldId id="258" r:id="rId6"/>
    <p:sldId id="259" r:id="rId7"/>
    <p:sldId id="260" r:id="rId8"/>
    <p:sldId id="263" r:id="rId9"/>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7B1F2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10"/>
  </p:normalViewPr>
  <p:slideViewPr>
    <p:cSldViewPr snapToGrid="0" snapToObjects="1">
      <p:cViewPr>
        <p:scale>
          <a:sx n="100" d="100"/>
          <a:sy n="100" d="100"/>
        </p:scale>
        <p:origin x="394" y="3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presProps" Target="presProps.xml"/><Relationship Id="rId5" Type="http://schemas.openxmlformats.org/officeDocument/2006/relationships/slide" Target="slides/slide4.xml"/><Relationship Id="rId10"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864218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5C1520"/>
        </a:solidFill>
        <a:effectLst/>
      </p:bgPr>
    </p:bg>
    <p:spTree>
      <p:nvGrpSpPr>
        <p:cNvPr id="1" name=""/>
        <p:cNvGrpSpPr/>
        <p:nvPr/>
      </p:nvGrpSpPr>
      <p:grpSpPr>
        <a:xfrm>
          <a:off x="0" y="0"/>
          <a:ext cx="0" cy="0"/>
          <a:chOff x="0" y="0"/>
          <a:chExt cx="0" cy="0"/>
        </a:xfrm>
      </p:grpSpPr>
      <p:sp>
        <p:nvSpPr>
          <p:cNvPr id="2" name="Shape 0"/>
          <p:cNvSpPr/>
          <p:nvPr/>
        </p:nvSpPr>
        <p:spPr>
          <a:xfrm>
            <a:off x="0" y="0"/>
            <a:ext cx="5029200" cy="5143500"/>
          </a:xfrm>
          <a:prstGeom prst="rect">
            <a:avLst/>
          </a:prstGeom>
          <a:solidFill>
            <a:srgbClr val="7B1F2E"/>
          </a:solidFill>
          <a:ln/>
        </p:spPr>
      </p:sp>
      <p:sp>
        <p:nvSpPr>
          <p:cNvPr id="3" name="Shape 1"/>
          <p:cNvSpPr/>
          <p:nvPr/>
        </p:nvSpPr>
        <p:spPr>
          <a:xfrm>
            <a:off x="5029200" y="0"/>
            <a:ext cx="73152" cy="5143500"/>
          </a:xfrm>
          <a:prstGeom prst="rect">
            <a:avLst/>
          </a:prstGeom>
          <a:solidFill>
            <a:srgbClr val="C4933A"/>
          </a:solidFill>
          <a:ln/>
        </p:spPr>
      </p:sp>
      <p:sp>
        <p:nvSpPr>
          <p:cNvPr id="4" name="Text 2"/>
          <p:cNvSpPr/>
          <p:nvPr/>
        </p:nvSpPr>
        <p:spPr>
          <a:xfrm>
            <a:off x="457200" y="1097280"/>
            <a:ext cx="4206240" cy="822960"/>
          </a:xfrm>
          <a:prstGeom prst="rect">
            <a:avLst/>
          </a:prstGeom>
          <a:noFill/>
          <a:ln/>
        </p:spPr>
        <p:txBody>
          <a:bodyPr wrap="square" lIns="0" tIns="0" rIns="0" bIns="0" rtlCol="0" anchor="ctr"/>
          <a:lstStyle/>
          <a:p>
            <a:pPr marL="0" indent="0" algn="l">
              <a:buNone/>
            </a:pPr>
            <a:r>
              <a:rPr lang="en-US" sz="4800" b="1" dirty="0">
                <a:solidFill>
                  <a:srgbClr val="C4933A"/>
                </a:solidFill>
                <a:latin typeface="Georgia" pitchFamily="34" charset="0"/>
                <a:ea typeface="Georgia" pitchFamily="34" charset="-122"/>
                <a:cs typeface="Georgia" pitchFamily="34" charset="-120"/>
              </a:rPr>
              <a:t>DriveEase</a:t>
            </a:r>
            <a:endParaRPr lang="en-US" sz="4800" dirty="0"/>
          </a:p>
        </p:txBody>
      </p:sp>
      <p:sp>
        <p:nvSpPr>
          <p:cNvPr id="5" name="Text 3"/>
          <p:cNvSpPr/>
          <p:nvPr/>
        </p:nvSpPr>
        <p:spPr>
          <a:xfrm>
            <a:off x="457200" y="1920240"/>
            <a:ext cx="4206240" cy="457200"/>
          </a:xfrm>
          <a:prstGeom prst="rect">
            <a:avLst/>
          </a:prstGeom>
          <a:noFill/>
          <a:ln/>
        </p:spPr>
        <p:txBody>
          <a:bodyPr wrap="square" lIns="0" tIns="0" rIns="0" bIns="0" rtlCol="0" anchor="ctr"/>
          <a:lstStyle/>
          <a:p>
            <a:pPr marL="0" indent="0" algn="l">
              <a:buNone/>
            </a:pPr>
            <a:r>
              <a:rPr lang="en-US" sz="1800" dirty="0">
                <a:solidFill>
                  <a:srgbClr val="FFFFFF"/>
                </a:solidFill>
                <a:latin typeface="Calibri" pitchFamily="34" charset="0"/>
                <a:ea typeface="Calibri" pitchFamily="34" charset="-122"/>
                <a:cs typeface="Calibri" pitchFamily="34" charset="-120"/>
              </a:rPr>
              <a:t>Car Rental System</a:t>
            </a:r>
            <a:endParaRPr lang="en-US" sz="1800" dirty="0"/>
          </a:p>
        </p:txBody>
      </p:sp>
      <p:sp>
        <p:nvSpPr>
          <p:cNvPr id="6" name="Text 4"/>
          <p:cNvSpPr/>
          <p:nvPr/>
        </p:nvSpPr>
        <p:spPr>
          <a:xfrm>
            <a:off x="457200" y="2377440"/>
            <a:ext cx="4206240" cy="914400"/>
          </a:xfrm>
          <a:prstGeom prst="rect">
            <a:avLst/>
          </a:prstGeom>
          <a:noFill/>
          <a:ln/>
        </p:spPr>
        <p:txBody>
          <a:bodyPr wrap="square" lIns="0" tIns="0" rIns="0" bIns="0" rtlCol="0" anchor="ctr"/>
          <a:lstStyle/>
          <a:p>
            <a:pPr marL="0" indent="0" algn="l">
              <a:buNone/>
            </a:pPr>
            <a:r>
              <a:rPr lang="en-US" sz="1300" dirty="0" smtClean="0">
                <a:solidFill>
                  <a:srgbClr val="F0C9AD"/>
                </a:solidFill>
                <a:latin typeface="Calibri" pitchFamily="34" charset="0"/>
                <a:ea typeface="Calibri" pitchFamily="34" charset="-122"/>
                <a:cs typeface="Calibri" pitchFamily="34" charset="-120"/>
              </a:rPr>
              <a:t>A complete web-based </a:t>
            </a:r>
            <a:r>
              <a:rPr lang="en-US" sz="1300" dirty="0">
                <a:solidFill>
                  <a:srgbClr val="F0C9AD"/>
                </a:solidFill>
                <a:latin typeface="Calibri" pitchFamily="34" charset="0"/>
                <a:ea typeface="Calibri" pitchFamily="34" charset="-122"/>
                <a:cs typeface="Calibri" pitchFamily="34" charset="-120"/>
              </a:rPr>
              <a:t>platform for managing</a:t>
            </a:r>
            <a:endParaRPr lang="en-US" sz="1300" dirty="0"/>
          </a:p>
          <a:p>
            <a:pPr marL="0" indent="0" algn="l">
              <a:buNone/>
            </a:pPr>
            <a:r>
              <a:rPr lang="en-US" sz="1300" dirty="0">
                <a:solidFill>
                  <a:srgbClr val="F0C9AD"/>
                </a:solidFill>
                <a:latin typeface="Calibri" pitchFamily="34" charset="0"/>
                <a:ea typeface="Calibri" pitchFamily="34" charset="-122"/>
                <a:cs typeface="Calibri" pitchFamily="34" charset="-120"/>
              </a:rPr>
              <a:t>car rentals, bookings, payments, and overdue tracking.</a:t>
            </a:r>
            <a:endParaRPr lang="en-US" sz="1300" dirty="0"/>
          </a:p>
        </p:txBody>
      </p:sp>
      <p:pic>
        <p:nvPicPr>
          <p:cNvPr id="7" name="CarImage"/>
          <p:cNvPicPr>
            <a:picLocks noChangeAspect="1"/>
          </p:cNvPicPr>
          <p:nvPr/>
        </p:nvPicPr>
        <p:blipFill>
          <a:blip r:embed="rId3"/>
          <a:stretch>
            <a:fillRect/>
          </a:stretch>
        </p:blipFill>
        <p:spPr>
          <a:xfrm>
            <a:off x="5120640" y="800000"/>
            <a:ext cx="3840000" cy="2400000"/>
          </a:xfrm>
          <a:prstGeom prst="rect">
            <a:avLst/>
          </a:prstGeom>
        </p:spPr>
      </p:pic>
      <p:sp>
        <p:nvSpPr>
          <p:cNvPr id="9" name="Text 7"/>
          <p:cNvSpPr/>
          <p:nvPr/>
        </p:nvSpPr>
        <p:spPr>
          <a:xfrm>
            <a:off x="-121371" y="3756707"/>
            <a:ext cx="2052624" cy="365760"/>
          </a:xfrm>
          <a:prstGeom prst="rect">
            <a:avLst/>
          </a:prstGeom>
          <a:noFill/>
          <a:ln/>
        </p:spPr>
        <p:txBody>
          <a:bodyPr wrap="square" lIns="0" tIns="0" rIns="0" bIns="0" rtlCol="0" anchor="ctr"/>
          <a:lstStyle/>
          <a:p>
            <a:pPr marL="0" indent="0" algn="ctr">
              <a:buNone/>
            </a:pPr>
            <a:r>
              <a:rPr lang="en-US" sz="1100" dirty="0" smtClean="0">
                <a:solidFill>
                  <a:srgbClr val="F0C9AD"/>
                </a:solidFill>
              </a:rPr>
              <a:t>By : </a:t>
            </a:r>
            <a:r>
              <a:rPr lang="en-US" sz="1100" dirty="0" err="1" smtClean="0">
                <a:solidFill>
                  <a:srgbClr val="F0C9AD"/>
                </a:solidFill>
              </a:rPr>
              <a:t>Anshu</a:t>
            </a:r>
            <a:r>
              <a:rPr lang="en-US" sz="1100" dirty="0" smtClean="0">
                <a:solidFill>
                  <a:srgbClr val="F0C9AD"/>
                </a:solidFill>
              </a:rPr>
              <a:t> </a:t>
            </a:r>
            <a:r>
              <a:rPr lang="en-US" sz="1100" dirty="0" err="1" smtClean="0">
                <a:solidFill>
                  <a:srgbClr val="F0C9AD"/>
                </a:solidFill>
              </a:rPr>
              <a:t>Hada</a:t>
            </a:r>
            <a:endParaRPr lang="en-US" sz="1100" dirty="0" smtClean="0">
              <a:solidFill>
                <a:srgbClr val="F0C9AD"/>
              </a:solidFill>
            </a:endParaRPr>
          </a:p>
          <a:p>
            <a:pPr marL="0" indent="0" algn="ctr">
              <a:buNone/>
            </a:pPr>
            <a:r>
              <a:rPr lang="en-US" sz="1100" dirty="0" smtClean="0">
                <a:solidFill>
                  <a:srgbClr val="F0C9AD"/>
                </a:solidFill>
              </a:rPr>
              <a:t>CSIT 5</a:t>
            </a:r>
            <a:r>
              <a:rPr lang="en-US" sz="1100" baseline="30000" dirty="0" smtClean="0">
                <a:solidFill>
                  <a:srgbClr val="F0C9AD"/>
                </a:solidFill>
              </a:rPr>
              <a:t>th</a:t>
            </a:r>
            <a:r>
              <a:rPr lang="en-US" sz="1100" dirty="0" smtClean="0">
                <a:solidFill>
                  <a:srgbClr val="F0C9AD"/>
                </a:solidFill>
              </a:rPr>
              <a:t> </a:t>
            </a:r>
            <a:r>
              <a:rPr lang="en-US" sz="1100" dirty="0" err="1" smtClean="0">
                <a:solidFill>
                  <a:srgbClr val="F0C9AD"/>
                </a:solidFill>
              </a:rPr>
              <a:t>Sem</a:t>
            </a:r>
            <a:endParaRPr lang="en-US" sz="1100" dirty="0"/>
          </a:p>
        </p:txBody>
      </p:sp>
      <p:sp>
        <p:nvSpPr>
          <p:cNvPr id="10" name="Text 8"/>
          <p:cNvSpPr/>
          <p:nvPr/>
        </p:nvSpPr>
        <p:spPr>
          <a:xfrm>
            <a:off x="-307870" y="3200400"/>
            <a:ext cx="3474720" cy="365760"/>
          </a:xfrm>
          <a:prstGeom prst="rect">
            <a:avLst/>
          </a:prstGeom>
          <a:noFill/>
          <a:ln/>
        </p:spPr>
        <p:txBody>
          <a:bodyPr wrap="square" lIns="0" tIns="0" rIns="0" bIns="0" rtlCol="0" anchor="ctr"/>
          <a:lstStyle/>
          <a:p>
            <a:pPr marL="0" indent="0" algn="ctr">
              <a:buNone/>
            </a:pPr>
            <a:r>
              <a:rPr lang="en-US" sz="1300" b="1" dirty="0">
                <a:solidFill>
                  <a:srgbClr val="FFFFFF"/>
                </a:solidFill>
              </a:rPr>
              <a:t>PHP  •  MySQL  •  HTML/CSS</a:t>
            </a:r>
            <a:endParaRPr lang="en-US" sz="1300" dirty="0"/>
          </a:p>
        </p:txBody>
      </p:sp>
      <p:sp>
        <p:nvSpPr>
          <p:cNvPr id="11" name="Text 9"/>
          <p:cNvSpPr/>
          <p:nvPr/>
        </p:nvSpPr>
        <p:spPr>
          <a:xfrm>
            <a:off x="4505387" y="3756707"/>
            <a:ext cx="2289029" cy="274320"/>
          </a:xfrm>
          <a:prstGeom prst="rect">
            <a:avLst/>
          </a:prstGeom>
          <a:noFill/>
          <a:ln/>
        </p:spPr>
        <p:txBody>
          <a:bodyPr wrap="square" lIns="0" tIns="0" rIns="0" bIns="0" rtlCol="0" anchor="ctr"/>
          <a:lstStyle/>
          <a:p>
            <a:pPr marL="0" indent="0" algn="ctr">
              <a:buNone/>
            </a:pPr>
            <a:endParaRPr lang="en-US" sz="10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name="Project Overview">
    <p:bg>
      <p:bgPr>
        <a:solidFill>
          <a:srgbClr val="FFFFFF"/>
        </a:solidFill>
        <a:effectLst/>
      </p:bgPr>
    </p:bg>
    <p:spTree>
      <p:nvGrpSpPr>
        <p:cNvPr id="1" name=""/>
        <p:cNvGrpSpPr/>
        <p:nvPr/>
      </p:nvGrpSpPr>
      <p:grpSpPr>
        <a:xfrm>
          <a:off x="0" y="0"/>
          <a:ext cx="0" cy="0"/>
          <a:chOff x="0" y="0"/>
          <a:chExt cx="0" cy="0"/>
        </a:xfrm>
      </p:grpSpPr>
      <p:sp>
        <p:nvSpPr>
          <p:cNvPr id="2" name="Sidebar"/>
          <p:cNvSpPr/>
          <p:nvPr/>
        </p:nvSpPr>
        <p:spPr>
          <a:xfrm rot="5400000">
            <a:off x="4135468" y="-4141932"/>
            <a:ext cx="873064" cy="9144000"/>
          </a:xfrm>
          <a:prstGeom prst="rect">
            <a:avLst/>
          </a:prstGeom>
          <a:solidFill>
            <a:srgbClr val="7B1F2E"/>
          </a:solidFill>
          <a:ln/>
        </p:spPr>
      </p:sp>
      <p:sp>
        <p:nvSpPr>
          <p:cNvPr id="4" name="Val1"/>
          <p:cNvSpPr/>
          <p:nvPr/>
        </p:nvSpPr>
        <p:spPr>
          <a:xfrm>
            <a:off x="421573" y="911926"/>
            <a:ext cx="5400000" cy="440000"/>
          </a:xfrm>
          <a:prstGeom prst="rect">
            <a:avLst/>
          </a:prstGeom>
          <a:noFill/>
          <a:ln/>
        </p:spPr>
        <p:txBody>
          <a:bodyPr wrap="square" lIns="0" tIns="0" rIns="0" bIns="0" rtlCol="0" anchor="ctr"/>
          <a:lstStyle/>
          <a:p>
            <a:pPr marL="0" indent="0" algn="l">
              <a:buNone/>
            </a:pPr>
            <a:r>
              <a:rPr lang="en-US" b="1" dirty="0">
                <a:solidFill>
                  <a:srgbClr val="7B1F2E"/>
                </a:solidFill>
                <a:latin typeface="Georgia"/>
              </a:rPr>
              <a:t>DriveEase</a:t>
            </a:r>
          </a:p>
        </p:txBody>
      </p:sp>
      <p:sp>
        <p:nvSpPr>
          <p:cNvPr id="6" name="Val2"/>
          <p:cNvSpPr/>
          <p:nvPr/>
        </p:nvSpPr>
        <p:spPr>
          <a:xfrm>
            <a:off x="1709346" y="978837"/>
            <a:ext cx="4396134" cy="330000"/>
          </a:xfrm>
          <a:prstGeom prst="rect">
            <a:avLst/>
          </a:prstGeom>
          <a:noFill/>
          <a:ln/>
        </p:spPr>
        <p:txBody>
          <a:bodyPr wrap="square" lIns="0" tIns="0" rIns="0" bIns="0" rtlCol="0" anchor="ctr"/>
          <a:lstStyle/>
          <a:p>
            <a:pPr marL="0" indent="0" algn="l">
              <a:buNone/>
            </a:pPr>
            <a:r>
              <a:rPr lang="en-US" b="1" dirty="0" smtClean="0">
                <a:solidFill>
                  <a:srgbClr val="7B1F2E"/>
                </a:solidFill>
                <a:latin typeface="Calibri"/>
              </a:rPr>
              <a:t>- </a:t>
            </a:r>
            <a:r>
              <a:rPr lang="en-US" sz="1800" b="1" dirty="0" smtClean="0">
                <a:solidFill>
                  <a:srgbClr val="7B1F2E"/>
                </a:solidFill>
                <a:latin typeface="Calibri"/>
              </a:rPr>
              <a:t>Car Rental </a:t>
            </a:r>
            <a:r>
              <a:rPr lang="en-US" sz="1800" b="1" dirty="0">
                <a:solidFill>
                  <a:srgbClr val="7B1F2E"/>
                </a:solidFill>
                <a:latin typeface="Calibri"/>
              </a:rPr>
              <a:t>System</a:t>
            </a:r>
          </a:p>
        </p:txBody>
      </p:sp>
      <p:sp>
        <p:nvSpPr>
          <p:cNvPr id="7" name="Divider"/>
          <p:cNvSpPr/>
          <p:nvPr/>
        </p:nvSpPr>
        <p:spPr>
          <a:xfrm>
            <a:off x="421573" y="1399489"/>
            <a:ext cx="8100000" cy="18000"/>
          </a:xfrm>
          <a:prstGeom prst="rect">
            <a:avLst/>
          </a:prstGeom>
          <a:solidFill>
            <a:srgbClr val="E0E0E0"/>
          </a:solidFill>
          <a:ln/>
        </p:spPr>
      </p:sp>
      <p:sp>
        <p:nvSpPr>
          <p:cNvPr id="18" name="TextBox 17"/>
          <p:cNvSpPr txBox="1"/>
          <p:nvPr/>
        </p:nvSpPr>
        <p:spPr>
          <a:xfrm>
            <a:off x="357865" y="330426"/>
            <a:ext cx="1715534" cy="646331"/>
          </a:xfrm>
          <a:prstGeom prst="rect">
            <a:avLst/>
          </a:prstGeom>
          <a:noFill/>
        </p:spPr>
        <p:txBody>
          <a:bodyPr wrap="none" rtlCol="0">
            <a:spAutoFit/>
          </a:bodyPr>
          <a:lstStyle/>
          <a:p>
            <a:r>
              <a:rPr lang="en-US" b="1" dirty="0" smtClean="0">
                <a:solidFill>
                  <a:srgbClr val="FFFFFF"/>
                </a:solidFill>
                <a:latin typeface="Georgia" pitchFamily="34" charset="0"/>
              </a:rPr>
              <a:t>Introduction</a:t>
            </a:r>
            <a:endParaRPr lang="en-US" dirty="0"/>
          </a:p>
          <a:p>
            <a:endParaRPr lang="en-US" dirty="0"/>
          </a:p>
        </p:txBody>
      </p:sp>
      <p:sp>
        <p:nvSpPr>
          <p:cNvPr id="20" name="TextBox 19"/>
          <p:cNvSpPr txBox="1"/>
          <p:nvPr/>
        </p:nvSpPr>
        <p:spPr>
          <a:xfrm rot="10800000" flipV="1">
            <a:off x="421573" y="1587398"/>
            <a:ext cx="7974099" cy="738664"/>
          </a:xfrm>
          <a:prstGeom prst="rect">
            <a:avLst/>
          </a:prstGeom>
          <a:noFill/>
        </p:spPr>
        <p:txBody>
          <a:bodyPr wrap="square" rtlCol="0">
            <a:spAutoFit/>
          </a:bodyPr>
          <a:lstStyle/>
          <a:p>
            <a:r>
              <a:rPr lang="en-US" sz="1400" dirty="0"/>
              <a:t>The Car Rental System is a web-based application designed to simplify the process of renting vehicles. It allows users to browse available cars, book rentals, and manage reservations efficiently. The system enables administrators to manage car listings, bookings, and customer records.</a:t>
            </a:r>
          </a:p>
        </p:txBody>
      </p:sp>
      <p:sp>
        <p:nvSpPr>
          <p:cNvPr id="21" name="TextBox 20"/>
          <p:cNvSpPr txBox="1"/>
          <p:nvPr/>
        </p:nvSpPr>
        <p:spPr>
          <a:xfrm>
            <a:off x="483766" y="2498786"/>
            <a:ext cx="6461424" cy="1384995"/>
          </a:xfrm>
          <a:prstGeom prst="rect">
            <a:avLst/>
          </a:prstGeom>
          <a:noFill/>
        </p:spPr>
        <p:txBody>
          <a:bodyPr wrap="square" rtlCol="0">
            <a:spAutoFit/>
          </a:bodyPr>
          <a:lstStyle/>
          <a:p>
            <a:r>
              <a:rPr lang="en-US" sz="1400" dirty="0"/>
              <a:t>This system provides:</a:t>
            </a:r>
          </a:p>
          <a:p>
            <a:pPr marL="285750" indent="-285750">
              <a:buFont typeface="Arial" panose="020B0604020202020204" pitchFamily="34" charset="0"/>
              <a:buChar char="•"/>
            </a:pPr>
            <a:r>
              <a:rPr lang="en-US" sz="1400" dirty="0"/>
              <a:t>Customer registration &amp; login </a:t>
            </a:r>
          </a:p>
          <a:p>
            <a:pPr marL="285750" indent="-285750">
              <a:buFont typeface="Arial" panose="020B0604020202020204" pitchFamily="34" charset="0"/>
              <a:buChar char="•"/>
            </a:pPr>
            <a:r>
              <a:rPr lang="en-US" sz="1400" dirty="0"/>
              <a:t>Car browsing and booking </a:t>
            </a:r>
          </a:p>
          <a:p>
            <a:pPr marL="285750" indent="-285750">
              <a:buFont typeface="Arial" panose="020B0604020202020204" pitchFamily="34" charset="0"/>
              <a:buChar char="•"/>
            </a:pPr>
            <a:r>
              <a:rPr lang="en-US" sz="1400" dirty="0"/>
              <a:t>Admin dashboard for management </a:t>
            </a:r>
          </a:p>
          <a:p>
            <a:pPr marL="285750" indent="-285750">
              <a:buFont typeface="Arial" panose="020B0604020202020204" pitchFamily="34" charset="0"/>
              <a:buChar char="•"/>
            </a:pPr>
            <a:r>
              <a:rPr lang="en-US" sz="1400" dirty="0"/>
              <a:t>Database storage using MySQL </a:t>
            </a:r>
          </a:p>
          <a:p>
            <a:r>
              <a:rPr lang="en-US" sz="1400" dirty="0"/>
              <a:t>It ensures efficient handling of rental operations and improves service quality.</a:t>
            </a:r>
          </a:p>
        </p:txBody>
      </p:sp>
    </p:spTree>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name="Slide 2">
    <p:bg>
      <p:bgPr>
        <a:solidFill>
          <a:srgbClr val="FDF8F3"/>
        </a:solidFill>
        <a:effectLst/>
      </p:bgPr>
    </p:bg>
    <p:spTree>
      <p:nvGrpSpPr>
        <p:cNvPr id="1" name=""/>
        <p:cNvGrpSpPr/>
        <p:nvPr/>
      </p:nvGrpSpPr>
      <p:grpSpPr>
        <a:xfrm>
          <a:off x="0" y="0"/>
          <a:ext cx="0" cy="0"/>
          <a:chOff x="0" y="0"/>
          <a:chExt cx="0" cy="0"/>
        </a:xfrm>
      </p:grpSpPr>
      <p:sp>
        <p:nvSpPr>
          <p:cNvPr id="2" name="Shape 0"/>
          <p:cNvSpPr/>
          <p:nvPr/>
        </p:nvSpPr>
        <p:spPr>
          <a:xfrm>
            <a:off x="0" y="-13158"/>
            <a:ext cx="9144000" cy="759917"/>
          </a:xfrm>
          <a:prstGeom prst="rect">
            <a:avLst/>
          </a:prstGeom>
          <a:solidFill>
            <a:srgbClr val="7B1F2E"/>
          </a:solidFill>
          <a:ln/>
        </p:spPr>
      </p:sp>
      <p:sp>
        <p:nvSpPr>
          <p:cNvPr id="3" name="Text 1"/>
          <p:cNvSpPr/>
          <p:nvPr/>
        </p:nvSpPr>
        <p:spPr>
          <a:xfrm>
            <a:off x="365760" y="0"/>
            <a:ext cx="8229600" cy="68580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System Architecture</a:t>
            </a:r>
            <a:endParaRPr lang="en-US" sz="2200" dirty="0"/>
          </a:p>
        </p:txBody>
      </p:sp>
      <p:sp>
        <p:nvSpPr>
          <p:cNvPr id="4" name="Shape 2"/>
          <p:cNvSpPr/>
          <p:nvPr/>
        </p:nvSpPr>
        <p:spPr>
          <a:xfrm>
            <a:off x="365760" y="1005840"/>
            <a:ext cx="2606040" cy="1889760"/>
          </a:xfrm>
          <a:prstGeom prst="rect">
            <a:avLst/>
          </a:prstGeom>
          <a:solidFill>
            <a:srgbClr val="C4933A"/>
          </a:solidFill>
          <a:ln/>
          <a:effectLst>
            <a:outerShdw blurRad="101600" dist="38100" dir="8100000" algn="bl" rotWithShape="0">
              <a:srgbClr val="000000">
                <a:alpha val="15000"/>
              </a:srgbClr>
            </a:outerShdw>
          </a:effectLst>
        </p:spPr>
      </p:sp>
      <p:sp>
        <p:nvSpPr>
          <p:cNvPr id="5" name="Text 3"/>
          <p:cNvSpPr/>
          <p:nvPr/>
        </p:nvSpPr>
        <p:spPr>
          <a:xfrm>
            <a:off x="365760" y="1097280"/>
            <a:ext cx="2606040" cy="457200"/>
          </a:xfrm>
          <a:prstGeom prst="rect">
            <a:avLst/>
          </a:prstGeom>
          <a:noFill/>
          <a:ln/>
        </p:spPr>
        <p:txBody>
          <a:bodyPr wrap="square" lIns="0" tIns="0" rIns="0" bIns="0" rtlCol="0" anchor="ctr"/>
          <a:lstStyle/>
          <a:p>
            <a:pPr marL="0" indent="0" algn="ctr">
              <a:buNone/>
            </a:pPr>
            <a:r>
              <a:rPr lang="en-US" sz="1400" b="1" dirty="0">
                <a:solidFill>
                  <a:srgbClr val="FFFFFF"/>
                </a:solidFill>
              </a:rPr>
              <a:t>Frontend Layer</a:t>
            </a:r>
            <a:endParaRPr lang="en-US" sz="1400" dirty="0"/>
          </a:p>
        </p:txBody>
      </p:sp>
      <p:sp>
        <p:nvSpPr>
          <p:cNvPr id="6" name="Text 4"/>
          <p:cNvSpPr/>
          <p:nvPr/>
        </p:nvSpPr>
        <p:spPr>
          <a:xfrm>
            <a:off x="449580" y="1287780"/>
            <a:ext cx="2423160" cy="1463040"/>
          </a:xfrm>
          <a:prstGeom prst="rect">
            <a:avLst/>
          </a:prstGeom>
          <a:noFill/>
          <a:ln/>
        </p:spPr>
        <p:txBody>
          <a:bodyPr wrap="square" lIns="0" tIns="0" rIns="0" bIns="0" rtlCol="0" anchor="ctr"/>
          <a:lstStyle/>
          <a:p>
            <a:pPr marL="0" indent="0" algn="ctr">
              <a:buNone/>
            </a:pPr>
            <a:r>
              <a:rPr lang="en-US" sz="1200" dirty="0">
                <a:solidFill>
                  <a:srgbClr val="F0E6DC"/>
                </a:solidFill>
              </a:rPr>
              <a:t>HTML, CSS, PHP Views</a:t>
            </a:r>
            <a:endParaRPr lang="en-US" sz="1200" dirty="0"/>
          </a:p>
          <a:p>
            <a:pPr marL="0" indent="0" algn="ctr">
              <a:buNone/>
            </a:pPr>
            <a:r>
              <a:rPr lang="en-US" sz="1200" dirty="0">
                <a:solidFill>
                  <a:srgbClr val="F0E6DC"/>
                </a:solidFill>
              </a:rPr>
              <a:t>User Interface &amp; Forms</a:t>
            </a:r>
            <a:endParaRPr lang="en-US" sz="1200" dirty="0"/>
          </a:p>
        </p:txBody>
      </p:sp>
      <p:sp>
        <p:nvSpPr>
          <p:cNvPr id="7" name="Shape 5"/>
          <p:cNvSpPr/>
          <p:nvPr/>
        </p:nvSpPr>
        <p:spPr>
          <a:xfrm>
            <a:off x="2971800" y="2194560"/>
            <a:ext cx="365760" cy="0"/>
          </a:xfrm>
          <a:prstGeom prst="line">
            <a:avLst/>
          </a:prstGeom>
          <a:noFill/>
          <a:ln w="25400">
            <a:solidFill>
              <a:srgbClr val="C4933A"/>
            </a:solidFill>
            <a:prstDash val="solid"/>
          </a:ln>
        </p:spPr>
      </p:sp>
      <p:sp>
        <p:nvSpPr>
          <p:cNvPr id="8" name="Shape 6"/>
          <p:cNvSpPr/>
          <p:nvPr/>
        </p:nvSpPr>
        <p:spPr>
          <a:xfrm>
            <a:off x="3337560" y="1005840"/>
            <a:ext cx="2606040" cy="1889760"/>
          </a:xfrm>
          <a:prstGeom prst="rect">
            <a:avLst/>
          </a:prstGeom>
          <a:solidFill>
            <a:srgbClr val="7B1F2E"/>
          </a:solidFill>
          <a:ln/>
          <a:effectLst>
            <a:outerShdw blurRad="101600" dist="38100" dir="8100000" algn="bl" rotWithShape="0">
              <a:srgbClr val="000000">
                <a:alpha val="15000"/>
              </a:srgbClr>
            </a:outerShdw>
          </a:effectLst>
        </p:spPr>
      </p:sp>
      <p:sp>
        <p:nvSpPr>
          <p:cNvPr id="9" name="Text 7"/>
          <p:cNvSpPr/>
          <p:nvPr/>
        </p:nvSpPr>
        <p:spPr>
          <a:xfrm>
            <a:off x="3337560" y="1097280"/>
            <a:ext cx="2606040" cy="457200"/>
          </a:xfrm>
          <a:prstGeom prst="rect">
            <a:avLst/>
          </a:prstGeom>
          <a:noFill/>
          <a:ln/>
        </p:spPr>
        <p:txBody>
          <a:bodyPr wrap="square" lIns="0" tIns="0" rIns="0" bIns="0" rtlCol="0" anchor="ctr"/>
          <a:lstStyle/>
          <a:p>
            <a:pPr marL="0" indent="0" algn="ctr">
              <a:buNone/>
            </a:pPr>
            <a:r>
              <a:rPr lang="en-US" sz="1400" b="1" dirty="0">
                <a:solidFill>
                  <a:srgbClr val="FFFFFF"/>
                </a:solidFill>
              </a:rPr>
              <a:t>Backend Layer</a:t>
            </a:r>
            <a:endParaRPr lang="en-US" sz="1400" dirty="0"/>
          </a:p>
        </p:txBody>
      </p:sp>
      <p:sp>
        <p:nvSpPr>
          <p:cNvPr id="10" name="Text 8"/>
          <p:cNvSpPr/>
          <p:nvPr/>
        </p:nvSpPr>
        <p:spPr>
          <a:xfrm>
            <a:off x="3383280" y="1280160"/>
            <a:ext cx="2423160" cy="1463040"/>
          </a:xfrm>
          <a:prstGeom prst="rect">
            <a:avLst/>
          </a:prstGeom>
          <a:noFill/>
          <a:ln/>
        </p:spPr>
        <p:txBody>
          <a:bodyPr wrap="square" lIns="0" tIns="0" rIns="0" bIns="0" rtlCol="0" anchor="ctr"/>
          <a:lstStyle/>
          <a:p>
            <a:pPr marL="0" indent="0" algn="ctr">
              <a:buNone/>
            </a:pPr>
            <a:r>
              <a:rPr lang="en-US" sz="1200" dirty="0">
                <a:solidFill>
                  <a:srgbClr val="F0E6DC"/>
                </a:solidFill>
              </a:rPr>
              <a:t>PHP Logic &amp; Controllers</a:t>
            </a:r>
            <a:endParaRPr lang="en-US" sz="1200" dirty="0"/>
          </a:p>
          <a:p>
            <a:pPr marL="0" indent="0" algn="ctr">
              <a:buNone/>
            </a:pPr>
            <a:r>
              <a:rPr lang="en-US" sz="1200" dirty="0">
                <a:solidFill>
                  <a:srgbClr val="F0E6DC"/>
                </a:solidFill>
              </a:rPr>
              <a:t>Session, Auth, Routing</a:t>
            </a:r>
            <a:endParaRPr lang="en-US" sz="1200" dirty="0"/>
          </a:p>
        </p:txBody>
      </p:sp>
      <p:sp>
        <p:nvSpPr>
          <p:cNvPr id="11" name="Shape 9"/>
          <p:cNvSpPr/>
          <p:nvPr/>
        </p:nvSpPr>
        <p:spPr>
          <a:xfrm>
            <a:off x="5943600" y="2194560"/>
            <a:ext cx="365760" cy="0"/>
          </a:xfrm>
          <a:prstGeom prst="line">
            <a:avLst/>
          </a:prstGeom>
          <a:noFill/>
          <a:ln w="25400">
            <a:solidFill>
              <a:srgbClr val="C4933A"/>
            </a:solidFill>
            <a:prstDash val="solid"/>
          </a:ln>
        </p:spPr>
      </p:sp>
      <p:sp>
        <p:nvSpPr>
          <p:cNvPr id="12" name="Shape 10"/>
          <p:cNvSpPr/>
          <p:nvPr/>
        </p:nvSpPr>
        <p:spPr>
          <a:xfrm>
            <a:off x="6309360" y="1005840"/>
            <a:ext cx="2606040" cy="1889760"/>
          </a:xfrm>
          <a:prstGeom prst="rect">
            <a:avLst/>
          </a:prstGeom>
          <a:solidFill>
            <a:srgbClr val="5C1520"/>
          </a:solidFill>
          <a:ln/>
          <a:effectLst>
            <a:outerShdw blurRad="101600" dist="38100" dir="8100000" algn="bl" rotWithShape="0">
              <a:srgbClr val="000000">
                <a:alpha val="15000"/>
              </a:srgbClr>
            </a:outerShdw>
          </a:effectLst>
        </p:spPr>
      </p:sp>
      <p:sp>
        <p:nvSpPr>
          <p:cNvPr id="13" name="Text 11"/>
          <p:cNvSpPr/>
          <p:nvPr/>
        </p:nvSpPr>
        <p:spPr>
          <a:xfrm>
            <a:off x="6309360" y="1097280"/>
            <a:ext cx="2606040" cy="457200"/>
          </a:xfrm>
          <a:prstGeom prst="rect">
            <a:avLst/>
          </a:prstGeom>
          <a:noFill/>
          <a:ln/>
        </p:spPr>
        <p:txBody>
          <a:bodyPr wrap="square" lIns="0" tIns="0" rIns="0" bIns="0" rtlCol="0" anchor="ctr"/>
          <a:lstStyle/>
          <a:p>
            <a:pPr marL="0" indent="0" algn="ctr">
              <a:buNone/>
            </a:pPr>
            <a:r>
              <a:rPr lang="en-US" sz="1400" b="1" dirty="0">
                <a:solidFill>
                  <a:srgbClr val="FFFFFF"/>
                </a:solidFill>
              </a:rPr>
              <a:t>Database Layer</a:t>
            </a:r>
            <a:endParaRPr lang="en-US" sz="1400" dirty="0"/>
          </a:p>
        </p:txBody>
      </p:sp>
      <p:sp>
        <p:nvSpPr>
          <p:cNvPr id="14" name="Text 12"/>
          <p:cNvSpPr/>
          <p:nvPr/>
        </p:nvSpPr>
        <p:spPr>
          <a:xfrm>
            <a:off x="6400800" y="1287780"/>
            <a:ext cx="2423160" cy="1463040"/>
          </a:xfrm>
          <a:prstGeom prst="rect">
            <a:avLst/>
          </a:prstGeom>
          <a:noFill/>
          <a:ln/>
        </p:spPr>
        <p:txBody>
          <a:bodyPr wrap="square" lIns="0" tIns="0" rIns="0" bIns="0" rtlCol="0" anchor="ctr"/>
          <a:lstStyle/>
          <a:p>
            <a:pPr marL="0" indent="0" algn="ctr">
              <a:buNone/>
            </a:pPr>
            <a:r>
              <a:rPr lang="en-US" sz="1200" dirty="0">
                <a:solidFill>
                  <a:srgbClr val="F0E6DC"/>
                </a:solidFill>
              </a:rPr>
              <a:t>MySQL — driveease DB</a:t>
            </a:r>
            <a:endParaRPr lang="en-US" sz="1200" dirty="0"/>
          </a:p>
          <a:p>
            <a:pPr marL="0" indent="0" algn="ctr">
              <a:buNone/>
            </a:pPr>
            <a:r>
              <a:rPr lang="en-US" sz="1200" dirty="0">
                <a:solidFill>
                  <a:srgbClr val="F0E6DC"/>
                </a:solidFill>
              </a:rPr>
              <a:t>users, cars, bookings</a:t>
            </a:r>
            <a:endParaRPr lang="en-US" sz="1200" dirty="0"/>
          </a:p>
        </p:txBody>
      </p:sp>
      <p:sp>
        <p:nvSpPr>
          <p:cNvPr id="15" name="Text 13"/>
          <p:cNvSpPr/>
          <p:nvPr/>
        </p:nvSpPr>
        <p:spPr>
          <a:xfrm>
            <a:off x="365760" y="3208020"/>
            <a:ext cx="8229600" cy="365760"/>
          </a:xfrm>
          <a:prstGeom prst="rect">
            <a:avLst/>
          </a:prstGeom>
          <a:noFill/>
          <a:ln/>
        </p:spPr>
        <p:txBody>
          <a:bodyPr wrap="square" lIns="0" tIns="0" rIns="0" bIns="0" rtlCol="0" anchor="ctr"/>
          <a:lstStyle/>
          <a:p>
            <a:pPr marL="0" indent="0">
              <a:buNone/>
            </a:pPr>
            <a:r>
              <a:rPr lang="en-US" sz="1400" b="1" dirty="0">
                <a:solidFill>
                  <a:srgbClr val="7B1F2E"/>
                </a:solidFill>
              </a:rPr>
              <a:t>System Roles</a:t>
            </a:r>
            <a:endParaRPr lang="en-US" sz="1400" dirty="0"/>
          </a:p>
        </p:txBody>
      </p:sp>
      <p:sp>
        <p:nvSpPr>
          <p:cNvPr id="16" name="Shape 14"/>
          <p:cNvSpPr/>
          <p:nvPr/>
        </p:nvSpPr>
        <p:spPr>
          <a:xfrm>
            <a:off x="358140" y="3688080"/>
            <a:ext cx="91440" cy="320040"/>
          </a:xfrm>
          <a:prstGeom prst="rect">
            <a:avLst/>
          </a:prstGeom>
          <a:solidFill>
            <a:srgbClr val="C4933A"/>
          </a:solidFill>
          <a:ln/>
        </p:spPr>
      </p:sp>
      <p:sp>
        <p:nvSpPr>
          <p:cNvPr id="17" name="Text 15"/>
          <p:cNvSpPr/>
          <p:nvPr/>
        </p:nvSpPr>
        <p:spPr>
          <a:xfrm>
            <a:off x="502920" y="3661410"/>
            <a:ext cx="914400" cy="320040"/>
          </a:xfrm>
          <a:prstGeom prst="rect">
            <a:avLst/>
          </a:prstGeom>
          <a:noFill/>
          <a:ln/>
        </p:spPr>
        <p:txBody>
          <a:bodyPr wrap="square" lIns="0" tIns="0" rIns="0" bIns="0" rtlCol="0" anchor="ctr"/>
          <a:lstStyle/>
          <a:p>
            <a:pPr marL="0" indent="0">
              <a:buNone/>
            </a:pPr>
            <a:r>
              <a:rPr lang="en-US" sz="1200" b="1" dirty="0">
                <a:solidFill>
                  <a:srgbClr val="7B1F2E"/>
                </a:solidFill>
              </a:rPr>
              <a:t>Admin: </a:t>
            </a:r>
            <a:endParaRPr lang="en-US" sz="1200" dirty="0"/>
          </a:p>
        </p:txBody>
      </p:sp>
      <p:sp>
        <p:nvSpPr>
          <p:cNvPr id="18" name="Text 16"/>
          <p:cNvSpPr/>
          <p:nvPr/>
        </p:nvSpPr>
        <p:spPr>
          <a:xfrm>
            <a:off x="1066800" y="3661410"/>
            <a:ext cx="7315200" cy="320040"/>
          </a:xfrm>
          <a:prstGeom prst="rect">
            <a:avLst/>
          </a:prstGeom>
          <a:noFill/>
          <a:ln/>
        </p:spPr>
        <p:txBody>
          <a:bodyPr wrap="square" lIns="0" tIns="0" rIns="0" bIns="0" rtlCol="0" anchor="ctr"/>
          <a:lstStyle/>
          <a:p>
            <a:pPr marL="0" indent="0">
              <a:buNone/>
            </a:pPr>
            <a:r>
              <a:rPr lang="en-US" sz="1200" dirty="0">
                <a:solidFill>
                  <a:srgbClr val="6B3A2A"/>
                </a:solidFill>
              </a:rPr>
              <a:t>Full system control — manage cars, users, bookings, overdue &amp; reports</a:t>
            </a:r>
            <a:endParaRPr lang="en-US" sz="1200" dirty="0"/>
          </a:p>
        </p:txBody>
      </p:sp>
      <p:sp>
        <p:nvSpPr>
          <p:cNvPr id="19" name="Shape 17"/>
          <p:cNvSpPr/>
          <p:nvPr/>
        </p:nvSpPr>
        <p:spPr>
          <a:xfrm>
            <a:off x="358140" y="4168140"/>
            <a:ext cx="91440" cy="320040"/>
          </a:xfrm>
          <a:prstGeom prst="rect">
            <a:avLst/>
          </a:prstGeom>
          <a:solidFill>
            <a:srgbClr val="C4933A"/>
          </a:solidFill>
          <a:ln/>
        </p:spPr>
      </p:sp>
      <p:sp>
        <p:nvSpPr>
          <p:cNvPr id="20" name="Text 18"/>
          <p:cNvSpPr/>
          <p:nvPr/>
        </p:nvSpPr>
        <p:spPr>
          <a:xfrm>
            <a:off x="502920" y="4168140"/>
            <a:ext cx="914400" cy="320040"/>
          </a:xfrm>
          <a:prstGeom prst="rect">
            <a:avLst/>
          </a:prstGeom>
          <a:noFill/>
          <a:ln/>
        </p:spPr>
        <p:txBody>
          <a:bodyPr wrap="square" lIns="0" tIns="0" rIns="0" bIns="0" rtlCol="0" anchor="ctr"/>
          <a:lstStyle/>
          <a:p>
            <a:pPr marL="0" indent="0">
              <a:buNone/>
            </a:pPr>
            <a:r>
              <a:rPr lang="en-US" sz="1200" b="1" dirty="0">
                <a:solidFill>
                  <a:srgbClr val="7B1F2E"/>
                </a:solidFill>
              </a:rPr>
              <a:t>Customer: </a:t>
            </a:r>
            <a:endParaRPr lang="en-US" sz="1200" dirty="0"/>
          </a:p>
        </p:txBody>
      </p:sp>
      <p:sp>
        <p:nvSpPr>
          <p:cNvPr id="21" name="Text 19"/>
          <p:cNvSpPr/>
          <p:nvPr/>
        </p:nvSpPr>
        <p:spPr>
          <a:xfrm>
            <a:off x="1280160" y="4168140"/>
            <a:ext cx="7315200" cy="320040"/>
          </a:xfrm>
          <a:prstGeom prst="rect">
            <a:avLst/>
          </a:prstGeom>
          <a:noFill/>
          <a:ln/>
        </p:spPr>
        <p:txBody>
          <a:bodyPr wrap="square" lIns="0" tIns="0" rIns="0" bIns="0" rtlCol="0" anchor="ctr"/>
          <a:lstStyle/>
          <a:p>
            <a:pPr marL="0" indent="0">
              <a:buNone/>
            </a:pPr>
            <a:r>
              <a:rPr lang="en-US" sz="1200" dirty="0">
                <a:solidFill>
                  <a:srgbClr val="6B3A2A"/>
                </a:solidFill>
              </a:rPr>
              <a:t>Register, search cars, book, pay, view history &amp; cancel bookings</a:t>
            </a:r>
            <a:endParaRPr lang="en-US" sz="1200" dirty="0"/>
          </a:p>
        </p:txBody>
      </p:sp>
    </p:spTree>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677536" y="910536"/>
            <a:ext cx="3282832" cy="3962400"/>
          </a:xfrm>
          <a:prstGeom prst="rect">
            <a:avLst/>
          </a:prstGeom>
        </p:spPr>
      </p:pic>
      <p:sp>
        <p:nvSpPr>
          <p:cNvPr id="3" name="Sidebar"/>
          <p:cNvSpPr/>
          <p:nvPr/>
        </p:nvSpPr>
        <p:spPr>
          <a:xfrm rot="5400000">
            <a:off x="4177846" y="-4204154"/>
            <a:ext cx="788314" cy="9144000"/>
          </a:xfrm>
          <a:prstGeom prst="rect">
            <a:avLst/>
          </a:prstGeom>
          <a:solidFill>
            <a:srgbClr val="7B1F2E"/>
          </a:solidFill>
          <a:ln/>
        </p:spPr>
      </p:sp>
      <p:sp>
        <p:nvSpPr>
          <p:cNvPr id="4" name="TextBox 3"/>
          <p:cNvSpPr txBox="1"/>
          <p:nvPr/>
        </p:nvSpPr>
        <p:spPr>
          <a:xfrm flipH="1">
            <a:off x="388619" y="122220"/>
            <a:ext cx="2926081" cy="369332"/>
          </a:xfrm>
          <a:prstGeom prst="rect">
            <a:avLst/>
          </a:prstGeom>
          <a:noFill/>
        </p:spPr>
        <p:txBody>
          <a:bodyPr wrap="square" rtlCol="0">
            <a:spAutoFit/>
          </a:bodyPr>
          <a:lstStyle/>
          <a:p>
            <a:r>
              <a:rPr lang="en-US" b="1" dirty="0" smtClean="0">
                <a:solidFill>
                  <a:schemeClr val="bg1"/>
                </a:solidFill>
                <a:latin typeface="Georgia" panose="02040502050405020303" pitchFamily="18" charset="0"/>
              </a:rPr>
              <a:t>Use Case Diagram</a:t>
            </a:r>
            <a:endParaRPr lang="en-US" b="1" dirty="0">
              <a:solidFill>
                <a:schemeClr val="bg1"/>
              </a:solidFill>
              <a:latin typeface="Georgia" panose="02040502050405020303" pitchFamily="18" charset="0"/>
            </a:endParaRPr>
          </a:p>
        </p:txBody>
      </p:sp>
    </p:spTree>
    <p:extLst>
      <p:ext uri="{BB962C8B-B14F-4D97-AF65-F5344CB8AC3E}">
        <p14:creationId xmlns:p14="http://schemas.microsoft.com/office/powerpoint/2010/main" val="1516502280"/>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name="Slide 3">
    <p:bg>
      <p:bgPr>
        <a:solidFill>
          <a:srgbClr val="FDF8F3"/>
        </a:solidFill>
        <a:effectLst/>
      </p:bgPr>
    </p:bg>
    <p:spTree>
      <p:nvGrpSpPr>
        <p:cNvPr id="1" name=""/>
        <p:cNvGrpSpPr/>
        <p:nvPr/>
      </p:nvGrpSpPr>
      <p:grpSpPr>
        <a:xfrm>
          <a:off x="0" y="0"/>
          <a:ext cx="0" cy="0"/>
          <a:chOff x="0" y="0"/>
          <a:chExt cx="0" cy="0"/>
        </a:xfrm>
      </p:grpSpPr>
      <p:sp>
        <p:nvSpPr>
          <p:cNvPr id="2" name="Shape 0"/>
          <p:cNvSpPr/>
          <p:nvPr/>
        </p:nvSpPr>
        <p:spPr>
          <a:xfrm>
            <a:off x="0" y="0"/>
            <a:ext cx="9144000" cy="685800"/>
          </a:xfrm>
          <a:prstGeom prst="rect">
            <a:avLst/>
          </a:prstGeom>
          <a:solidFill>
            <a:srgbClr val="7B1F2E"/>
          </a:solidFill>
          <a:ln/>
        </p:spPr>
      </p:sp>
      <p:sp>
        <p:nvSpPr>
          <p:cNvPr id="3" name="Text 1"/>
          <p:cNvSpPr/>
          <p:nvPr/>
        </p:nvSpPr>
        <p:spPr>
          <a:xfrm>
            <a:off x="365760" y="0"/>
            <a:ext cx="8229600" cy="68580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Key Features</a:t>
            </a:r>
            <a:endParaRPr lang="en-US" sz="2200" dirty="0"/>
          </a:p>
        </p:txBody>
      </p:sp>
      <p:sp>
        <p:nvSpPr>
          <p:cNvPr id="4" name="Shape 2"/>
          <p:cNvSpPr/>
          <p:nvPr/>
        </p:nvSpPr>
        <p:spPr>
          <a:xfrm>
            <a:off x="365760" y="914400"/>
            <a:ext cx="4114800" cy="1143000"/>
          </a:xfrm>
          <a:prstGeom prst="rect">
            <a:avLst/>
          </a:prstGeom>
          <a:solidFill>
            <a:srgbClr val="FFFFFF"/>
          </a:solidFill>
          <a:ln w="6350">
            <a:solidFill>
              <a:srgbClr val="E0D4CC"/>
            </a:solidFill>
            <a:prstDash val="solid"/>
          </a:ln>
          <a:effectLst>
            <a:outerShdw blurRad="63500" dist="25400" dir="8100000" algn="bl" rotWithShape="0">
              <a:srgbClr val="000000">
                <a:alpha val="8000"/>
              </a:srgbClr>
            </a:outerShdw>
          </a:effectLst>
        </p:spPr>
      </p:sp>
      <p:sp>
        <p:nvSpPr>
          <p:cNvPr id="5" name="Shape 3"/>
          <p:cNvSpPr/>
          <p:nvPr/>
        </p:nvSpPr>
        <p:spPr>
          <a:xfrm>
            <a:off x="365760" y="914400"/>
            <a:ext cx="73152" cy="1143000"/>
          </a:xfrm>
          <a:prstGeom prst="rect">
            <a:avLst/>
          </a:prstGeom>
          <a:solidFill>
            <a:srgbClr val="7B1F2E"/>
          </a:solidFill>
          <a:ln/>
        </p:spPr>
      </p:sp>
      <p:sp>
        <p:nvSpPr>
          <p:cNvPr id="6" name="Text 4"/>
          <p:cNvSpPr/>
          <p:nvPr/>
        </p:nvSpPr>
        <p:spPr>
          <a:xfrm>
            <a:off x="548640" y="1005840"/>
            <a:ext cx="3749040" cy="320040"/>
          </a:xfrm>
          <a:prstGeom prst="rect">
            <a:avLst/>
          </a:prstGeom>
          <a:noFill/>
          <a:ln/>
        </p:spPr>
        <p:txBody>
          <a:bodyPr wrap="square" lIns="0" tIns="0" rIns="0" bIns="0" rtlCol="0" anchor="ctr"/>
          <a:lstStyle/>
          <a:p>
            <a:pPr marL="0" indent="0">
              <a:buNone/>
            </a:pPr>
            <a:r>
              <a:rPr lang="en-US" sz="1300" b="1" dirty="0">
                <a:solidFill>
                  <a:srgbClr val="7B1F2E"/>
                </a:solidFill>
              </a:rPr>
              <a:t>User Authentication</a:t>
            </a:r>
            <a:endParaRPr lang="en-US" sz="1300" dirty="0"/>
          </a:p>
        </p:txBody>
      </p:sp>
      <p:sp>
        <p:nvSpPr>
          <p:cNvPr id="7" name="Text 5"/>
          <p:cNvSpPr/>
          <p:nvPr/>
        </p:nvSpPr>
        <p:spPr>
          <a:xfrm>
            <a:off x="548640" y="1325880"/>
            <a:ext cx="3749040" cy="640080"/>
          </a:xfrm>
          <a:prstGeom prst="rect">
            <a:avLst/>
          </a:prstGeom>
          <a:noFill/>
          <a:ln/>
        </p:spPr>
        <p:txBody>
          <a:bodyPr wrap="square" lIns="0" tIns="0" rIns="0" bIns="0" rtlCol="0" anchor="ctr"/>
          <a:lstStyle/>
          <a:p>
            <a:pPr marL="0" indent="0">
              <a:buNone/>
            </a:pPr>
            <a:r>
              <a:rPr lang="en-US" sz="1100" dirty="0">
                <a:solidFill>
                  <a:srgbClr val="6B3A2A"/>
                </a:solidFill>
              </a:rPr>
              <a:t>Secure register &amp; login with bcrypt password hashing and role-based access (Admin / Customer)</a:t>
            </a:r>
            <a:endParaRPr lang="en-US" sz="1100" dirty="0"/>
          </a:p>
        </p:txBody>
      </p:sp>
      <p:sp>
        <p:nvSpPr>
          <p:cNvPr id="8" name="Shape 6"/>
          <p:cNvSpPr/>
          <p:nvPr/>
        </p:nvSpPr>
        <p:spPr>
          <a:xfrm>
            <a:off x="4754880" y="914400"/>
            <a:ext cx="4114800" cy="1143000"/>
          </a:xfrm>
          <a:prstGeom prst="rect">
            <a:avLst/>
          </a:prstGeom>
          <a:solidFill>
            <a:srgbClr val="FFFFFF"/>
          </a:solidFill>
          <a:ln w="6350">
            <a:solidFill>
              <a:srgbClr val="E0D4CC"/>
            </a:solidFill>
            <a:prstDash val="solid"/>
          </a:ln>
          <a:effectLst>
            <a:outerShdw blurRad="63500" dist="25400" dir="8100000" algn="bl" rotWithShape="0">
              <a:srgbClr val="000000">
                <a:alpha val="8000"/>
              </a:srgbClr>
            </a:outerShdw>
          </a:effectLst>
        </p:spPr>
      </p:sp>
      <p:sp>
        <p:nvSpPr>
          <p:cNvPr id="9" name="Shape 7"/>
          <p:cNvSpPr/>
          <p:nvPr/>
        </p:nvSpPr>
        <p:spPr>
          <a:xfrm>
            <a:off x="4754880" y="914400"/>
            <a:ext cx="73152" cy="1143000"/>
          </a:xfrm>
          <a:prstGeom prst="rect">
            <a:avLst/>
          </a:prstGeom>
          <a:solidFill>
            <a:srgbClr val="7B1F2E"/>
          </a:solidFill>
          <a:ln/>
        </p:spPr>
      </p:sp>
      <p:sp>
        <p:nvSpPr>
          <p:cNvPr id="10" name="Text 8"/>
          <p:cNvSpPr/>
          <p:nvPr/>
        </p:nvSpPr>
        <p:spPr>
          <a:xfrm>
            <a:off x="4937760" y="1005840"/>
            <a:ext cx="3749040" cy="320040"/>
          </a:xfrm>
          <a:prstGeom prst="rect">
            <a:avLst/>
          </a:prstGeom>
          <a:noFill/>
          <a:ln/>
        </p:spPr>
        <p:txBody>
          <a:bodyPr wrap="square" lIns="0" tIns="0" rIns="0" bIns="0" rtlCol="0" anchor="ctr"/>
          <a:lstStyle/>
          <a:p>
            <a:pPr marL="0" indent="0">
              <a:buNone/>
            </a:pPr>
            <a:r>
              <a:rPr lang="en-US" sz="1300" b="1" dirty="0">
                <a:solidFill>
                  <a:srgbClr val="7B1F2E"/>
                </a:solidFill>
              </a:rPr>
              <a:t>Car Management</a:t>
            </a:r>
            <a:endParaRPr lang="en-US" sz="1300" dirty="0"/>
          </a:p>
        </p:txBody>
      </p:sp>
      <p:sp>
        <p:nvSpPr>
          <p:cNvPr id="11" name="Text 9"/>
          <p:cNvSpPr/>
          <p:nvPr/>
        </p:nvSpPr>
        <p:spPr>
          <a:xfrm>
            <a:off x="4937760" y="1325880"/>
            <a:ext cx="3749040" cy="640080"/>
          </a:xfrm>
          <a:prstGeom prst="rect">
            <a:avLst/>
          </a:prstGeom>
          <a:noFill/>
          <a:ln/>
        </p:spPr>
        <p:txBody>
          <a:bodyPr wrap="square" lIns="0" tIns="0" rIns="0" bIns="0" rtlCol="0" anchor="ctr"/>
          <a:lstStyle/>
          <a:p>
            <a:pPr marL="0" indent="0">
              <a:buNone/>
            </a:pPr>
            <a:r>
              <a:rPr lang="en-US" sz="1100" dirty="0">
                <a:solidFill>
                  <a:srgbClr val="6B3A2A"/>
                </a:solidFill>
              </a:rPr>
              <a:t>Admin can add, edit, delete cars with images, pricing, and availability status</a:t>
            </a:r>
            <a:endParaRPr lang="en-US" sz="1100" dirty="0"/>
          </a:p>
        </p:txBody>
      </p:sp>
      <p:sp>
        <p:nvSpPr>
          <p:cNvPr id="12" name="Shape 10"/>
          <p:cNvSpPr/>
          <p:nvPr/>
        </p:nvSpPr>
        <p:spPr>
          <a:xfrm>
            <a:off x="365760" y="2240280"/>
            <a:ext cx="4114800" cy="1143000"/>
          </a:xfrm>
          <a:prstGeom prst="rect">
            <a:avLst/>
          </a:prstGeom>
          <a:solidFill>
            <a:srgbClr val="FFFFFF"/>
          </a:solidFill>
          <a:ln w="6350">
            <a:solidFill>
              <a:srgbClr val="E0D4CC"/>
            </a:solidFill>
            <a:prstDash val="solid"/>
          </a:ln>
          <a:effectLst>
            <a:outerShdw blurRad="63500" dist="25400" dir="8100000" algn="bl" rotWithShape="0">
              <a:srgbClr val="000000">
                <a:alpha val="8000"/>
              </a:srgbClr>
            </a:outerShdw>
          </a:effectLst>
        </p:spPr>
      </p:sp>
      <p:sp>
        <p:nvSpPr>
          <p:cNvPr id="13" name="Shape 11"/>
          <p:cNvSpPr/>
          <p:nvPr/>
        </p:nvSpPr>
        <p:spPr>
          <a:xfrm>
            <a:off x="365760" y="2240280"/>
            <a:ext cx="73152" cy="1143000"/>
          </a:xfrm>
          <a:prstGeom prst="rect">
            <a:avLst/>
          </a:prstGeom>
          <a:solidFill>
            <a:srgbClr val="C4933A"/>
          </a:solidFill>
          <a:ln/>
        </p:spPr>
      </p:sp>
      <p:sp>
        <p:nvSpPr>
          <p:cNvPr id="14" name="Text 12"/>
          <p:cNvSpPr/>
          <p:nvPr/>
        </p:nvSpPr>
        <p:spPr>
          <a:xfrm>
            <a:off x="548640" y="2331720"/>
            <a:ext cx="3749040" cy="320040"/>
          </a:xfrm>
          <a:prstGeom prst="rect">
            <a:avLst/>
          </a:prstGeom>
          <a:noFill/>
          <a:ln/>
        </p:spPr>
        <p:txBody>
          <a:bodyPr wrap="square" lIns="0" tIns="0" rIns="0" bIns="0" rtlCol="0" anchor="ctr"/>
          <a:lstStyle/>
          <a:p>
            <a:pPr marL="0" indent="0">
              <a:buNone/>
            </a:pPr>
            <a:r>
              <a:rPr lang="en-US" sz="1300" b="1" dirty="0">
                <a:solidFill>
                  <a:srgbClr val="7B1F2E"/>
                </a:solidFill>
              </a:rPr>
              <a:t>Booking System</a:t>
            </a:r>
            <a:endParaRPr lang="en-US" sz="1300" dirty="0"/>
          </a:p>
        </p:txBody>
      </p:sp>
      <p:sp>
        <p:nvSpPr>
          <p:cNvPr id="15" name="Text 13"/>
          <p:cNvSpPr/>
          <p:nvPr/>
        </p:nvSpPr>
        <p:spPr>
          <a:xfrm>
            <a:off x="548640" y="2651760"/>
            <a:ext cx="3749040" cy="640080"/>
          </a:xfrm>
          <a:prstGeom prst="rect">
            <a:avLst/>
          </a:prstGeom>
          <a:noFill/>
          <a:ln/>
        </p:spPr>
        <p:txBody>
          <a:bodyPr wrap="square" lIns="0" tIns="0" rIns="0" bIns="0" rtlCol="0" anchor="ctr"/>
          <a:lstStyle/>
          <a:p>
            <a:pPr marL="0" indent="0">
              <a:buNone/>
            </a:pPr>
            <a:r>
              <a:rPr lang="en-US" sz="1100" dirty="0">
                <a:solidFill>
                  <a:srgbClr val="6B3A2A"/>
                </a:solidFill>
              </a:rPr>
              <a:t>Customers search available cars by date and create bookings with total price calculation</a:t>
            </a:r>
            <a:endParaRPr lang="en-US" sz="1100" dirty="0"/>
          </a:p>
        </p:txBody>
      </p:sp>
      <p:sp>
        <p:nvSpPr>
          <p:cNvPr id="16" name="Shape 14"/>
          <p:cNvSpPr/>
          <p:nvPr/>
        </p:nvSpPr>
        <p:spPr>
          <a:xfrm>
            <a:off x="4754880" y="2240280"/>
            <a:ext cx="4114800" cy="1143000"/>
          </a:xfrm>
          <a:prstGeom prst="rect">
            <a:avLst/>
          </a:prstGeom>
          <a:solidFill>
            <a:srgbClr val="FFFFFF"/>
          </a:solidFill>
          <a:ln w="6350">
            <a:solidFill>
              <a:srgbClr val="E0D4CC"/>
            </a:solidFill>
            <a:prstDash val="solid"/>
          </a:ln>
          <a:effectLst>
            <a:outerShdw blurRad="63500" dist="25400" dir="8100000" algn="bl" rotWithShape="0">
              <a:srgbClr val="000000">
                <a:alpha val="8000"/>
              </a:srgbClr>
            </a:outerShdw>
          </a:effectLst>
        </p:spPr>
      </p:sp>
      <p:sp>
        <p:nvSpPr>
          <p:cNvPr id="17" name="Shape 15"/>
          <p:cNvSpPr/>
          <p:nvPr/>
        </p:nvSpPr>
        <p:spPr>
          <a:xfrm>
            <a:off x="4754880" y="2240280"/>
            <a:ext cx="73152" cy="1143000"/>
          </a:xfrm>
          <a:prstGeom prst="rect">
            <a:avLst/>
          </a:prstGeom>
          <a:solidFill>
            <a:srgbClr val="C4933A"/>
          </a:solidFill>
          <a:ln/>
        </p:spPr>
      </p:sp>
      <p:sp>
        <p:nvSpPr>
          <p:cNvPr id="18" name="Text 16"/>
          <p:cNvSpPr/>
          <p:nvPr/>
        </p:nvSpPr>
        <p:spPr>
          <a:xfrm>
            <a:off x="4937760" y="2331720"/>
            <a:ext cx="3749040" cy="320040"/>
          </a:xfrm>
          <a:prstGeom prst="rect">
            <a:avLst/>
          </a:prstGeom>
          <a:noFill/>
          <a:ln/>
        </p:spPr>
        <p:txBody>
          <a:bodyPr wrap="square" lIns="0" tIns="0" rIns="0" bIns="0" rtlCol="0" anchor="ctr"/>
          <a:lstStyle/>
          <a:p>
            <a:pPr marL="0" indent="0">
              <a:buNone/>
            </a:pPr>
            <a:r>
              <a:rPr lang="en-US" sz="1300" b="1" dirty="0">
                <a:solidFill>
                  <a:srgbClr val="7B1F2E"/>
                </a:solidFill>
              </a:rPr>
              <a:t>Payment Tracking</a:t>
            </a:r>
            <a:endParaRPr lang="en-US" sz="1300" dirty="0"/>
          </a:p>
        </p:txBody>
      </p:sp>
      <p:sp>
        <p:nvSpPr>
          <p:cNvPr id="19" name="Text 17"/>
          <p:cNvSpPr/>
          <p:nvPr/>
        </p:nvSpPr>
        <p:spPr>
          <a:xfrm>
            <a:off x="4937760" y="2651760"/>
            <a:ext cx="3749040" cy="640080"/>
          </a:xfrm>
          <a:prstGeom prst="rect">
            <a:avLst/>
          </a:prstGeom>
          <a:noFill/>
          <a:ln/>
        </p:spPr>
        <p:txBody>
          <a:bodyPr wrap="square" lIns="0" tIns="0" rIns="0" bIns="0" rtlCol="0" anchor="ctr"/>
          <a:lstStyle/>
          <a:p>
            <a:pPr marL="0" indent="0">
              <a:buNone/>
            </a:pPr>
            <a:r>
              <a:rPr lang="en-US" sz="1100" dirty="0">
                <a:solidFill>
                  <a:srgbClr val="6B3A2A"/>
                </a:solidFill>
              </a:rPr>
              <a:t>Admin marks bookings as paid or unpaid. Supports cash and online payment methods</a:t>
            </a:r>
            <a:endParaRPr lang="en-US" sz="1100" dirty="0"/>
          </a:p>
        </p:txBody>
      </p:sp>
      <p:sp>
        <p:nvSpPr>
          <p:cNvPr id="20" name="Shape 18"/>
          <p:cNvSpPr/>
          <p:nvPr/>
        </p:nvSpPr>
        <p:spPr>
          <a:xfrm>
            <a:off x="365760" y="3566160"/>
            <a:ext cx="4114800" cy="1143000"/>
          </a:xfrm>
          <a:prstGeom prst="rect">
            <a:avLst/>
          </a:prstGeom>
          <a:solidFill>
            <a:srgbClr val="FFFFFF"/>
          </a:solidFill>
          <a:ln w="6350">
            <a:solidFill>
              <a:srgbClr val="E0D4CC"/>
            </a:solidFill>
            <a:prstDash val="solid"/>
          </a:ln>
          <a:effectLst>
            <a:outerShdw blurRad="63500" dist="25400" dir="8100000" algn="bl" rotWithShape="0">
              <a:srgbClr val="000000">
                <a:alpha val="8000"/>
              </a:srgbClr>
            </a:outerShdw>
          </a:effectLst>
        </p:spPr>
      </p:sp>
      <p:sp>
        <p:nvSpPr>
          <p:cNvPr id="21" name="Shape 19"/>
          <p:cNvSpPr/>
          <p:nvPr/>
        </p:nvSpPr>
        <p:spPr>
          <a:xfrm>
            <a:off x="365760" y="3566160"/>
            <a:ext cx="73152" cy="1143000"/>
          </a:xfrm>
          <a:prstGeom prst="rect">
            <a:avLst/>
          </a:prstGeom>
          <a:solidFill>
            <a:srgbClr val="5C1520"/>
          </a:solidFill>
          <a:ln/>
        </p:spPr>
      </p:sp>
      <p:sp>
        <p:nvSpPr>
          <p:cNvPr id="22" name="Text 20"/>
          <p:cNvSpPr/>
          <p:nvPr/>
        </p:nvSpPr>
        <p:spPr>
          <a:xfrm>
            <a:off x="548640" y="3657600"/>
            <a:ext cx="3749040" cy="320040"/>
          </a:xfrm>
          <a:prstGeom prst="rect">
            <a:avLst/>
          </a:prstGeom>
          <a:noFill/>
          <a:ln/>
        </p:spPr>
        <p:txBody>
          <a:bodyPr wrap="square" lIns="0" tIns="0" rIns="0" bIns="0" rtlCol="0" anchor="ctr"/>
          <a:lstStyle/>
          <a:p>
            <a:pPr marL="0" indent="0">
              <a:buNone/>
            </a:pPr>
            <a:r>
              <a:rPr lang="en-US" sz="1300" b="1" dirty="0">
                <a:solidFill>
                  <a:srgbClr val="7B1F2E"/>
                </a:solidFill>
              </a:rPr>
              <a:t>Overdue Management</a:t>
            </a:r>
            <a:endParaRPr lang="en-US" sz="1300" dirty="0"/>
          </a:p>
        </p:txBody>
      </p:sp>
      <p:sp>
        <p:nvSpPr>
          <p:cNvPr id="23" name="Text 21"/>
          <p:cNvSpPr/>
          <p:nvPr/>
        </p:nvSpPr>
        <p:spPr>
          <a:xfrm>
            <a:off x="548640" y="3977640"/>
            <a:ext cx="3749040" cy="640080"/>
          </a:xfrm>
          <a:prstGeom prst="rect">
            <a:avLst/>
          </a:prstGeom>
          <a:noFill/>
          <a:ln/>
        </p:spPr>
        <p:txBody>
          <a:bodyPr wrap="square" lIns="0" tIns="0" rIns="0" bIns="0" rtlCol="0" anchor="ctr"/>
          <a:lstStyle/>
          <a:p>
            <a:pPr marL="0" indent="0">
              <a:buNone/>
            </a:pPr>
            <a:r>
              <a:rPr lang="en-US" sz="1100" dirty="0">
                <a:solidFill>
                  <a:srgbClr val="6B3A2A"/>
                </a:solidFill>
              </a:rPr>
              <a:t>Auto-detects overdue rentals past end date, calculates extra charges, and marks car returned</a:t>
            </a:r>
            <a:endParaRPr lang="en-US" sz="1100" dirty="0"/>
          </a:p>
        </p:txBody>
      </p:sp>
      <p:sp>
        <p:nvSpPr>
          <p:cNvPr id="24" name="Shape 22"/>
          <p:cNvSpPr/>
          <p:nvPr/>
        </p:nvSpPr>
        <p:spPr>
          <a:xfrm>
            <a:off x="4754880" y="3566160"/>
            <a:ext cx="4114800" cy="1143000"/>
          </a:xfrm>
          <a:prstGeom prst="rect">
            <a:avLst/>
          </a:prstGeom>
          <a:solidFill>
            <a:srgbClr val="FFFFFF"/>
          </a:solidFill>
          <a:ln w="6350">
            <a:solidFill>
              <a:srgbClr val="E0D4CC"/>
            </a:solidFill>
            <a:prstDash val="solid"/>
          </a:ln>
          <a:effectLst>
            <a:outerShdw blurRad="63500" dist="25400" dir="8100000" algn="bl" rotWithShape="0">
              <a:srgbClr val="000000">
                <a:alpha val="8000"/>
              </a:srgbClr>
            </a:outerShdw>
          </a:effectLst>
        </p:spPr>
      </p:sp>
      <p:sp>
        <p:nvSpPr>
          <p:cNvPr id="25" name="Shape 23"/>
          <p:cNvSpPr/>
          <p:nvPr/>
        </p:nvSpPr>
        <p:spPr>
          <a:xfrm>
            <a:off x="4754880" y="3566160"/>
            <a:ext cx="73152" cy="1143000"/>
          </a:xfrm>
          <a:prstGeom prst="rect">
            <a:avLst/>
          </a:prstGeom>
          <a:solidFill>
            <a:srgbClr val="5C1520"/>
          </a:solidFill>
          <a:ln/>
        </p:spPr>
      </p:sp>
      <p:sp>
        <p:nvSpPr>
          <p:cNvPr id="26" name="Text 24"/>
          <p:cNvSpPr/>
          <p:nvPr/>
        </p:nvSpPr>
        <p:spPr>
          <a:xfrm>
            <a:off x="4937760" y="3657600"/>
            <a:ext cx="3749040" cy="320040"/>
          </a:xfrm>
          <a:prstGeom prst="rect">
            <a:avLst/>
          </a:prstGeom>
          <a:noFill/>
          <a:ln/>
        </p:spPr>
        <p:txBody>
          <a:bodyPr wrap="square" lIns="0" tIns="0" rIns="0" bIns="0" rtlCol="0" anchor="ctr"/>
          <a:lstStyle/>
          <a:p>
            <a:pPr marL="0" indent="0">
              <a:buNone/>
            </a:pPr>
            <a:r>
              <a:rPr lang="en-US" sz="1300" b="1" dirty="0">
                <a:solidFill>
                  <a:srgbClr val="7B1F2E"/>
                </a:solidFill>
              </a:rPr>
              <a:t>Reports &amp; Dashboard</a:t>
            </a:r>
            <a:endParaRPr lang="en-US" sz="1300" dirty="0"/>
          </a:p>
        </p:txBody>
      </p:sp>
      <p:sp>
        <p:nvSpPr>
          <p:cNvPr id="27" name="Text 25"/>
          <p:cNvSpPr/>
          <p:nvPr/>
        </p:nvSpPr>
        <p:spPr>
          <a:xfrm>
            <a:off x="4937760" y="3977640"/>
            <a:ext cx="3749040" cy="640080"/>
          </a:xfrm>
          <a:prstGeom prst="rect">
            <a:avLst/>
          </a:prstGeom>
          <a:noFill/>
          <a:ln/>
        </p:spPr>
        <p:txBody>
          <a:bodyPr wrap="square" lIns="0" tIns="0" rIns="0" bIns="0" rtlCol="0" anchor="ctr"/>
          <a:lstStyle/>
          <a:p>
            <a:pPr marL="0" indent="0">
              <a:buNone/>
            </a:pPr>
            <a:r>
              <a:rPr lang="en-US" sz="1100" dirty="0">
                <a:solidFill>
                  <a:srgbClr val="6B3A2A"/>
                </a:solidFill>
              </a:rPr>
              <a:t>Admin dashboard with stats — total bookings, revenue, active rentals and car status overview</a:t>
            </a:r>
            <a:endParaRPr lang="en-US" sz="1100" dirty="0"/>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name="Slide 4">
    <p:bg>
      <p:bgPr>
        <a:solidFill>
          <a:srgbClr val="FDF8F3"/>
        </a:solidFill>
        <a:effectLst/>
      </p:bgPr>
    </p:bg>
    <p:spTree>
      <p:nvGrpSpPr>
        <p:cNvPr id="1" name=""/>
        <p:cNvGrpSpPr/>
        <p:nvPr/>
      </p:nvGrpSpPr>
      <p:grpSpPr>
        <a:xfrm>
          <a:off x="0" y="0"/>
          <a:ext cx="0" cy="0"/>
          <a:chOff x="0" y="0"/>
          <a:chExt cx="0" cy="0"/>
        </a:xfrm>
      </p:grpSpPr>
      <p:sp>
        <p:nvSpPr>
          <p:cNvPr id="2" name="Shape 0"/>
          <p:cNvSpPr/>
          <p:nvPr/>
        </p:nvSpPr>
        <p:spPr>
          <a:xfrm>
            <a:off x="0" y="-16002"/>
            <a:ext cx="9144000" cy="912876"/>
          </a:xfrm>
          <a:prstGeom prst="rect">
            <a:avLst/>
          </a:prstGeom>
          <a:solidFill>
            <a:srgbClr val="7B1F2E"/>
          </a:solidFill>
          <a:ln/>
        </p:spPr>
      </p:sp>
      <p:sp>
        <p:nvSpPr>
          <p:cNvPr id="3" name="Text 1"/>
          <p:cNvSpPr/>
          <p:nvPr/>
        </p:nvSpPr>
        <p:spPr>
          <a:xfrm>
            <a:off x="365760" y="74676"/>
            <a:ext cx="8229600" cy="685800"/>
          </a:xfrm>
          <a:prstGeom prst="rect">
            <a:avLst/>
          </a:prstGeom>
          <a:noFill/>
          <a:ln/>
        </p:spPr>
        <p:txBody>
          <a:bodyPr wrap="square" lIns="0" tIns="0" rIns="0" bIns="0" rtlCol="0" anchor="ctr"/>
          <a:lstStyle/>
          <a:p>
            <a:pPr marL="0" indent="0">
              <a:buNone/>
            </a:pPr>
            <a:r>
              <a:rPr lang="en-US" sz="2200" b="1" dirty="0">
                <a:solidFill>
                  <a:srgbClr val="FFFFFF"/>
                </a:solidFill>
                <a:latin typeface="Georgia" pitchFamily="34" charset="0"/>
                <a:ea typeface="Georgia" pitchFamily="34" charset="-122"/>
                <a:cs typeface="Georgia" pitchFamily="34" charset="-120"/>
              </a:rPr>
              <a:t>Future Enhancements</a:t>
            </a:r>
            <a:endParaRPr lang="en-US" sz="2200" dirty="0"/>
          </a:p>
        </p:txBody>
      </p:sp>
      <p:sp>
        <p:nvSpPr>
          <p:cNvPr id="4" name="Shape 2"/>
          <p:cNvSpPr/>
          <p:nvPr/>
        </p:nvSpPr>
        <p:spPr>
          <a:xfrm>
            <a:off x="445770" y="1544574"/>
            <a:ext cx="502920" cy="502920"/>
          </a:xfrm>
          <a:prstGeom prst="ellipse">
            <a:avLst/>
          </a:prstGeom>
          <a:solidFill>
            <a:srgbClr val="C4933A"/>
          </a:solidFill>
          <a:ln/>
        </p:spPr>
      </p:sp>
      <p:sp>
        <p:nvSpPr>
          <p:cNvPr id="5" name="Text 3"/>
          <p:cNvSpPr/>
          <p:nvPr/>
        </p:nvSpPr>
        <p:spPr>
          <a:xfrm>
            <a:off x="441960" y="1524000"/>
            <a:ext cx="502920" cy="502920"/>
          </a:xfrm>
          <a:prstGeom prst="rect">
            <a:avLst/>
          </a:prstGeom>
          <a:noFill/>
          <a:ln/>
        </p:spPr>
        <p:txBody>
          <a:bodyPr wrap="square" lIns="0" tIns="0" rIns="0" bIns="0" rtlCol="0" anchor="ctr"/>
          <a:lstStyle/>
          <a:p>
            <a:pPr marL="0" indent="0" algn="ctr">
              <a:buNone/>
            </a:pPr>
            <a:r>
              <a:rPr lang="en-US" sz="1100" b="1" dirty="0" smtClean="0">
                <a:solidFill>
                  <a:srgbClr val="FFFFFF"/>
                </a:solidFill>
              </a:rPr>
              <a:t>1</a:t>
            </a:r>
            <a:endParaRPr lang="en-US" sz="1100" dirty="0"/>
          </a:p>
        </p:txBody>
      </p:sp>
      <p:sp>
        <p:nvSpPr>
          <p:cNvPr id="6" name="Text 4"/>
          <p:cNvSpPr/>
          <p:nvPr/>
        </p:nvSpPr>
        <p:spPr>
          <a:xfrm>
            <a:off x="1005840" y="1668780"/>
            <a:ext cx="3383280" cy="347472"/>
          </a:xfrm>
          <a:prstGeom prst="rect">
            <a:avLst/>
          </a:prstGeom>
          <a:noFill/>
          <a:ln/>
        </p:spPr>
        <p:txBody>
          <a:bodyPr wrap="square" lIns="0" tIns="0" rIns="0" bIns="0" rtlCol="0" anchor="ctr"/>
          <a:lstStyle/>
          <a:p>
            <a:pPr marL="0" indent="0">
              <a:buNone/>
            </a:pPr>
            <a:endParaRPr lang="en-US" sz="1300" dirty="0"/>
          </a:p>
        </p:txBody>
      </p:sp>
      <p:sp>
        <p:nvSpPr>
          <p:cNvPr id="7" name="Text 5"/>
          <p:cNvSpPr/>
          <p:nvPr/>
        </p:nvSpPr>
        <p:spPr>
          <a:xfrm>
            <a:off x="922020" y="1696212"/>
            <a:ext cx="3383280" cy="594360"/>
          </a:xfrm>
          <a:prstGeom prst="rect">
            <a:avLst/>
          </a:prstGeom>
          <a:noFill/>
          <a:ln/>
        </p:spPr>
        <p:txBody>
          <a:bodyPr wrap="square" lIns="0" tIns="0" rIns="0" bIns="0" rtlCol="0" anchor="ctr"/>
          <a:lstStyle/>
          <a:p>
            <a:pPr marL="0" indent="0">
              <a:buNone/>
            </a:pPr>
            <a:endParaRPr lang="en-US" sz="1100" dirty="0"/>
          </a:p>
        </p:txBody>
      </p:sp>
      <p:sp>
        <p:nvSpPr>
          <p:cNvPr id="8" name="Shape 6"/>
          <p:cNvSpPr/>
          <p:nvPr/>
        </p:nvSpPr>
        <p:spPr>
          <a:xfrm>
            <a:off x="4732020" y="1469898"/>
            <a:ext cx="502920" cy="502920"/>
          </a:xfrm>
          <a:prstGeom prst="ellipse">
            <a:avLst/>
          </a:prstGeom>
          <a:solidFill>
            <a:srgbClr val="C4933A"/>
          </a:solidFill>
          <a:ln/>
        </p:spPr>
      </p:sp>
      <p:sp>
        <p:nvSpPr>
          <p:cNvPr id="9" name="Text 7"/>
          <p:cNvSpPr/>
          <p:nvPr/>
        </p:nvSpPr>
        <p:spPr>
          <a:xfrm>
            <a:off x="4732020" y="1463040"/>
            <a:ext cx="502920" cy="502920"/>
          </a:xfrm>
          <a:prstGeom prst="rect">
            <a:avLst/>
          </a:prstGeom>
          <a:noFill/>
          <a:ln/>
        </p:spPr>
        <p:txBody>
          <a:bodyPr wrap="square" lIns="0" tIns="0" rIns="0" bIns="0" rtlCol="0" anchor="ctr"/>
          <a:lstStyle/>
          <a:p>
            <a:pPr marL="0" indent="0" algn="ctr">
              <a:buNone/>
            </a:pPr>
            <a:r>
              <a:rPr lang="en-US" sz="1100" b="1" dirty="0" smtClean="0">
                <a:solidFill>
                  <a:srgbClr val="FFFFFF"/>
                </a:solidFill>
              </a:rPr>
              <a:t>2</a:t>
            </a:r>
            <a:endParaRPr lang="en-US" sz="1100" dirty="0"/>
          </a:p>
        </p:txBody>
      </p:sp>
      <p:sp>
        <p:nvSpPr>
          <p:cNvPr id="10" name="Text 8"/>
          <p:cNvSpPr/>
          <p:nvPr/>
        </p:nvSpPr>
        <p:spPr>
          <a:xfrm>
            <a:off x="5394960" y="1433322"/>
            <a:ext cx="3383280" cy="347472"/>
          </a:xfrm>
          <a:prstGeom prst="rect">
            <a:avLst/>
          </a:prstGeom>
          <a:noFill/>
          <a:ln/>
        </p:spPr>
        <p:txBody>
          <a:bodyPr wrap="square" lIns="0" tIns="0" rIns="0" bIns="0" rtlCol="0" anchor="ctr"/>
          <a:lstStyle/>
          <a:p>
            <a:pPr marL="0" indent="0">
              <a:buNone/>
            </a:pPr>
            <a:r>
              <a:rPr lang="en-US" sz="1300" b="1" dirty="0">
                <a:solidFill>
                  <a:srgbClr val="7B1F2E"/>
                </a:solidFill>
              </a:rPr>
              <a:t>Email &amp; SMS Notifications</a:t>
            </a:r>
            <a:endParaRPr lang="en-US" sz="1300" dirty="0"/>
          </a:p>
        </p:txBody>
      </p:sp>
      <p:sp>
        <p:nvSpPr>
          <p:cNvPr id="11" name="Text 9"/>
          <p:cNvSpPr/>
          <p:nvPr/>
        </p:nvSpPr>
        <p:spPr>
          <a:xfrm>
            <a:off x="5394960" y="1682496"/>
            <a:ext cx="3383280" cy="594360"/>
          </a:xfrm>
          <a:prstGeom prst="rect">
            <a:avLst/>
          </a:prstGeom>
          <a:noFill/>
          <a:ln/>
        </p:spPr>
        <p:txBody>
          <a:bodyPr wrap="square" lIns="0" tIns="0" rIns="0" bIns="0" rtlCol="0" anchor="ctr"/>
          <a:lstStyle/>
          <a:p>
            <a:pPr marL="0" indent="0">
              <a:buNone/>
            </a:pPr>
            <a:r>
              <a:rPr lang="en-US" sz="1100" dirty="0">
                <a:solidFill>
                  <a:srgbClr val="6B3A2A"/>
                </a:solidFill>
              </a:rPr>
              <a:t>Auto-send booking confirmations, reminders, and overdue alerts to customers</a:t>
            </a:r>
            <a:endParaRPr lang="en-US" sz="1100" dirty="0"/>
          </a:p>
        </p:txBody>
      </p:sp>
      <p:sp>
        <p:nvSpPr>
          <p:cNvPr id="12" name="Shape 10"/>
          <p:cNvSpPr/>
          <p:nvPr/>
        </p:nvSpPr>
        <p:spPr>
          <a:xfrm>
            <a:off x="445770" y="2827020"/>
            <a:ext cx="502920" cy="502920"/>
          </a:xfrm>
          <a:prstGeom prst="ellipse">
            <a:avLst/>
          </a:prstGeom>
          <a:solidFill>
            <a:srgbClr val="C4933A"/>
          </a:solidFill>
          <a:ln/>
        </p:spPr>
      </p:sp>
      <p:sp>
        <p:nvSpPr>
          <p:cNvPr id="13" name="Text 11"/>
          <p:cNvSpPr/>
          <p:nvPr/>
        </p:nvSpPr>
        <p:spPr>
          <a:xfrm>
            <a:off x="441960" y="2827020"/>
            <a:ext cx="502920" cy="502920"/>
          </a:xfrm>
          <a:prstGeom prst="rect">
            <a:avLst/>
          </a:prstGeom>
          <a:noFill/>
          <a:ln/>
        </p:spPr>
        <p:txBody>
          <a:bodyPr wrap="square" lIns="0" tIns="0" rIns="0" bIns="0" rtlCol="0" anchor="ctr"/>
          <a:lstStyle/>
          <a:p>
            <a:pPr marL="0" indent="0" algn="ctr">
              <a:buNone/>
            </a:pPr>
            <a:r>
              <a:rPr lang="en-US" sz="1100" b="1" dirty="0" smtClean="0">
                <a:solidFill>
                  <a:srgbClr val="FFFFFF"/>
                </a:solidFill>
              </a:rPr>
              <a:t>3</a:t>
            </a:r>
            <a:endParaRPr lang="en-US" sz="1100" dirty="0"/>
          </a:p>
        </p:txBody>
      </p:sp>
      <p:sp>
        <p:nvSpPr>
          <p:cNvPr id="14" name="Text 12"/>
          <p:cNvSpPr/>
          <p:nvPr/>
        </p:nvSpPr>
        <p:spPr>
          <a:xfrm>
            <a:off x="1078230" y="2731008"/>
            <a:ext cx="3383280" cy="347472"/>
          </a:xfrm>
          <a:prstGeom prst="rect">
            <a:avLst/>
          </a:prstGeom>
          <a:noFill/>
          <a:ln/>
        </p:spPr>
        <p:txBody>
          <a:bodyPr wrap="square" lIns="0" tIns="0" rIns="0" bIns="0" rtlCol="0" anchor="ctr"/>
          <a:lstStyle/>
          <a:p>
            <a:pPr marL="0" indent="0">
              <a:buNone/>
            </a:pPr>
            <a:r>
              <a:rPr lang="en-US" sz="1300" b="1" dirty="0">
                <a:solidFill>
                  <a:srgbClr val="7B1F2E"/>
                </a:solidFill>
              </a:rPr>
              <a:t>Mobile App</a:t>
            </a:r>
            <a:endParaRPr lang="en-US" sz="1300" dirty="0"/>
          </a:p>
        </p:txBody>
      </p:sp>
      <p:sp>
        <p:nvSpPr>
          <p:cNvPr id="15" name="Text 13"/>
          <p:cNvSpPr/>
          <p:nvPr/>
        </p:nvSpPr>
        <p:spPr>
          <a:xfrm>
            <a:off x="1074420" y="3032760"/>
            <a:ext cx="3147060" cy="601980"/>
          </a:xfrm>
          <a:prstGeom prst="rect">
            <a:avLst/>
          </a:prstGeom>
          <a:noFill/>
          <a:ln/>
        </p:spPr>
        <p:txBody>
          <a:bodyPr wrap="square" lIns="0" tIns="0" rIns="0" bIns="0" rtlCol="0" anchor="ctr"/>
          <a:lstStyle/>
          <a:p>
            <a:pPr marL="0" indent="0">
              <a:buNone/>
            </a:pPr>
            <a:r>
              <a:rPr lang="en-US" sz="1100" dirty="0">
                <a:solidFill>
                  <a:srgbClr val="6B3A2A"/>
                </a:solidFill>
              </a:rPr>
              <a:t>Build a React Native or Flutter app for customers to book cars on their phones</a:t>
            </a:r>
            <a:endParaRPr lang="en-US" sz="1100" dirty="0"/>
          </a:p>
        </p:txBody>
      </p:sp>
      <p:sp>
        <p:nvSpPr>
          <p:cNvPr id="16" name="Shape 14"/>
          <p:cNvSpPr/>
          <p:nvPr/>
        </p:nvSpPr>
        <p:spPr>
          <a:xfrm>
            <a:off x="4739640" y="2770632"/>
            <a:ext cx="502920" cy="502920"/>
          </a:xfrm>
          <a:prstGeom prst="ellipse">
            <a:avLst/>
          </a:prstGeom>
          <a:solidFill>
            <a:srgbClr val="C4933A"/>
          </a:solidFill>
          <a:ln/>
        </p:spPr>
      </p:sp>
      <p:sp>
        <p:nvSpPr>
          <p:cNvPr id="17" name="Text 15"/>
          <p:cNvSpPr/>
          <p:nvPr/>
        </p:nvSpPr>
        <p:spPr>
          <a:xfrm>
            <a:off x="4739640" y="2763012"/>
            <a:ext cx="502920" cy="502920"/>
          </a:xfrm>
          <a:prstGeom prst="rect">
            <a:avLst/>
          </a:prstGeom>
          <a:noFill/>
          <a:ln/>
        </p:spPr>
        <p:txBody>
          <a:bodyPr wrap="square" lIns="0" tIns="0" rIns="0" bIns="0" rtlCol="0" anchor="ctr"/>
          <a:lstStyle/>
          <a:p>
            <a:pPr marL="0" indent="0" algn="ctr">
              <a:buNone/>
            </a:pPr>
            <a:r>
              <a:rPr lang="en-US" sz="1100" b="1" dirty="0" smtClean="0">
                <a:solidFill>
                  <a:srgbClr val="FFFFFF"/>
                </a:solidFill>
              </a:rPr>
              <a:t>4</a:t>
            </a:r>
            <a:endParaRPr lang="en-US" sz="1100" dirty="0"/>
          </a:p>
        </p:txBody>
      </p:sp>
      <p:sp>
        <p:nvSpPr>
          <p:cNvPr id="18" name="Text 16"/>
          <p:cNvSpPr/>
          <p:nvPr/>
        </p:nvSpPr>
        <p:spPr>
          <a:xfrm>
            <a:off x="1062990" y="1524000"/>
            <a:ext cx="3383280" cy="347472"/>
          </a:xfrm>
          <a:prstGeom prst="rect">
            <a:avLst/>
          </a:prstGeom>
          <a:noFill/>
          <a:ln/>
        </p:spPr>
        <p:txBody>
          <a:bodyPr wrap="square" lIns="0" tIns="0" rIns="0" bIns="0" rtlCol="0" anchor="ctr"/>
          <a:lstStyle/>
          <a:p>
            <a:pPr marL="0" indent="0">
              <a:buNone/>
            </a:pPr>
            <a:r>
              <a:rPr lang="en-US" sz="1300" b="1" dirty="0">
                <a:solidFill>
                  <a:srgbClr val="7B1F2E"/>
                </a:solidFill>
              </a:rPr>
              <a:t>GPS Car Tracking</a:t>
            </a:r>
            <a:endParaRPr lang="en-US" sz="1300" dirty="0"/>
          </a:p>
        </p:txBody>
      </p:sp>
      <p:sp>
        <p:nvSpPr>
          <p:cNvPr id="19" name="Text 17"/>
          <p:cNvSpPr/>
          <p:nvPr/>
        </p:nvSpPr>
        <p:spPr>
          <a:xfrm>
            <a:off x="1078230" y="1788414"/>
            <a:ext cx="3383280" cy="594360"/>
          </a:xfrm>
          <a:prstGeom prst="rect">
            <a:avLst/>
          </a:prstGeom>
          <a:noFill/>
          <a:ln/>
        </p:spPr>
        <p:txBody>
          <a:bodyPr wrap="square" lIns="0" tIns="0" rIns="0" bIns="0" rtlCol="0" anchor="ctr"/>
          <a:lstStyle/>
          <a:p>
            <a:pPr marL="0" indent="0">
              <a:buNone/>
            </a:pPr>
            <a:r>
              <a:rPr lang="en-US" sz="1100" dirty="0">
                <a:solidFill>
                  <a:srgbClr val="6B3A2A"/>
                </a:solidFill>
              </a:rPr>
              <a:t>Real-time location tracking of rented vehicles via Google Maps API integration</a:t>
            </a:r>
            <a:endParaRPr lang="en-US" sz="1100" dirty="0"/>
          </a:p>
        </p:txBody>
      </p:sp>
      <p:sp>
        <p:nvSpPr>
          <p:cNvPr id="21" name="Text 19"/>
          <p:cNvSpPr/>
          <p:nvPr/>
        </p:nvSpPr>
        <p:spPr>
          <a:xfrm>
            <a:off x="365760" y="3749040"/>
            <a:ext cx="502920" cy="502920"/>
          </a:xfrm>
          <a:prstGeom prst="rect">
            <a:avLst/>
          </a:prstGeom>
          <a:noFill/>
          <a:ln/>
        </p:spPr>
        <p:txBody>
          <a:bodyPr wrap="square" lIns="0" tIns="0" rIns="0" bIns="0" rtlCol="0" anchor="ctr"/>
          <a:lstStyle/>
          <a:p>
            <a:pPr marL="0" indent="0" algn="ctr">
              <a:buNone/>
            </a:pPr>
            <a:r>
              <a:rPr lang="en-US" sz="1100" b="1" dirty="0">
                <a:solidFill>
                  <a:srgbClr val="FFFFFF"/>
                </a:solidFill>
              </a:rPr>
              <a:t>05</a:t>
            </a:r>
            <a:endParaRPr lang="en-US" sz="1100" dirty="0"/>
          </a:p>
        </p:txBody>
      </p:sp>
      <p:sp>
        <p:nvSpPr>
          <p:cNvPr id="22" name="Text 20"/>
          <p:cNvSpPr/>
          <p:nvPr/>
        </p:nvSpPr>
        <p:spPr>
          <a:xfrm>
            <a:off x="5394960" y="2685288"/>
            <a:ext cx="3383280" cy="347472"/>
          </a:xfrm>
          <a:prstGeom prst="rect">
            <a:avLst/>
          </a:prstGeom>
          <a:noFill/>
          <a:ln/>
        </p:spPr>
        <p:txBody>
          <a:bodyPr wrap="square" lIns="0" tIns="0" rIns="0" bIns="0" rtlCol="0" anchor="ctr"/>
          <a:lstStyle/>
          <a:p>
            <a:pPr marL="0" indent="0">
              <a:buNone/>
            </a:pPr>
            <a:r>
              <a:rPr lang="en-US" sz="1300" b="1" dirty="0">
                <a:solidFill>
                  <a:srgbClr val="7B1F2E"/>
                </a:solidFill>
              </a:rPr>
              <a:t>Customer Reviews</a:t>
            </a:r>
            <a:endParaRPr lang="en-US" sz="1300" dirty="0"/>
          </a:p>
        </p:txBody>
      </p:sp>
      <p:sp>
        <p:nvSpPr>
          <p:cNvPr id="23" name="Text 21"/>
          <p:cNvSpPr/>
          <p:nvPr/>
        </p:nvSpPr>
        <p:spPr>
          <a:xfrm>
            <a:off x="5394960" y="2972562"/>
            <a:ext cx="3383280" cy="594360"/>
          </a:xfrm>
          <a:prstGeom prst="rect">
            <a:avLst/>
          </a:prstGeom>
          <a:noFill/>
          <a:ln/>
        </p:spPr>
        <p:txBody>
          <a:bodyPr wrap="square" lIns="0" tIns="0" rIns="0" bIns="0" rtlCol="0" anchor="ctr"/>
          <a:lstStyle/>
          <a:p>
            <a:pPr marL="0" indent="0">
              <a:buNone/>
            </a:pPr>
            <a:r>
              <a:rPr lang="en-US" sz="1100" dirty="0">
                <a:solidFill>
                  <a:srgbClr val="6B3A2A"/>
                </a:solidFill>
              </a:rPr>
              <a:t>Allow customers to rate and review cars after returning them to improve trust</a:t>
            </a:r>
            <a:endParaRPr lang="en-US" sz="1100" dirty="0"/>
          </a:p>
        </p:txBody>
      </p:sp>
      <p:sp>
        <p:nvSpPr>
          <p:cNvPr id="26" name="Text 24"/>
          <p:cNvSpPr/>
          <p:nvPr/>
        </p:nvSpPr>
        <p:spPr>
          <a:xfrm>
            <a:off x="7993380" y="4818888"/>
            <a:ext cx="3383280" cy="347472"/>
          </a:xfrm>
          <a:prstGeom prst="rect">
            <a:avLst/>
          </a:prstGeom>
          <a:noFill/>
          <a:ln/>
        </p:spPr>
        <p:txBody>
          <a:bodyPr wrap="square" lIns="0" tIns="0" rIns="0" bIns="0" rtlCol="0" anchor="ctr"/>
          <a:lstStyle/>
          <a:p>
            <a:pPr marL="0" indent="0">
              <a:buNone/>
            </a:pPr>
            <a:endParaRPr lang="en-US" sz="1300" dirty="0"/>
          </a:p>
        </p:txBody>
      </p:sp>
      <p:sp>
        <p:nvSpPr>
          <p:cNvPr id="27" name="Text 25"/>
          <p:cNvSpPr/>
          <p:nvPr/>
        </p:nvSpPr>
        <p:spPr>
          <a:xfrm>
            <a:off x="5394960" y="4023360"/>
            <a:ext cx="3383280" cy="594360"/>
          </a:xfrm>
          <a:prstGeom prst="rect">
            <a:avLst/>
          </a:prstGeom>
          <a:noFill/>
          <a:ln/>
        </p:spPr>
        <p:txBody>
          <a:bodyPr wrap="square" lIns="0" tIns="0" rIns="0" bIns="0" rtlCol="0" anchor="ctr"/>
          <a:lstStyle/>
          <a:p>
            <a:pPr marL="0" indent="0">
              <a:buNone/>
            </a:pPr>
            <a:endParaRPr lang="en-US" sz="1100" dirty="0"/>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name="Slide 5">
    <p:bg>
      <p:bgPr>
        <a:solidFill>
          <a:srgbClr val="7B1F2E"/>
        </a:solidFill>
        <a:effectLst/>
      </p:bgPr>
    </p:bg>
    <p:spTree>
      <p:nvGrpSpPr>
        <p:cNvPr id="1" name=""/>
        <p:cNvGrpSpPr/>
        <p:nvPr/>
      </p:nvGrpSpPr>
      <p:grpSpPr>
        <a:xfrm>
          <a:off x="0" y="0"/>
          <a:ext cx="0" cy="0"/>
          <a:chOff x="0" y="0"/>
          <a:chExt cx="0" cy="0"/>
        </a:xfrm>
      </p:grpSpPr>
      <p:sp>
        <p:nvSpPr>
          <p:cNvPr id="4" name="Text 2"/>
          <p:cNvSpPr/>
          <p:nvPr/>
        </p:nvSpPr>
        <p:spPr>
          <a:xfrm>
            <a:off x="457200" y="548640"/>
            <a:ext cx="4206240" cy="640080"/>
          </a:xfrm>
          <a:prstGeom prst="rect">
            <a:avLst/>
          </a:prstGeom>
          <a:noFill/>
          <a:ln/>
        </p:spPr>
        <p:txBody>
          <a:bodyPr wrap="square" lIns="0" tIns="0" rIns="0" bIns="0" rtlCol="0" anchor="ctr"/>
          <a:lstStyle/>
          <a:p>
            <a:pPr marL="0" indent="0">
              <a:buNone/>
            </a:pPr>
            <a:r>
              <a:rPr lang="en-US" sz="3600" b="1" dirty="0">
                <a:solidFill>
                  <a:srgbClr val="C4933A"/>
                </a:solidFill>
                <a:latin typeface="Georgia" pitchFamily="34" charset="0"/>
                <a:ea typeface="Georgia" pitchFamily="34" charset="-122"/>
                <a:cs typeface="Georgia" pitchFamily="34" charset="-120"/>
              </a:rPr>
              <a:t>Conclusion</a:t>
            </a:r>
            <a:endParaRPr lang="en-US" sz="3600" dirty="0"/>
          </a:p>
        </p:txBody>
      </p:sp>
      <p:sp>
        <p:nvSpPr>
          <p:cNvPr id="5" name="Shape 3"/>
          <p:cNvSpPr/>
          <p:nvPr/>
        </p:nvSpPr>
        <p:spPr>
          <a:xfrm>
            <a:off x="769620" y="1463040"/>
            <a:ext cx="201168" cy="201168"/>
          </a:xfrm>
          <a:prstGeom prst="ellipse">
            <a:avLst/>
          </a:prstGeom>
          <a:solidFill>
            <a:srgbClr val="C4933A"/>
          </a:solidFill>
          <a:ln/>
        </p:spPr>
      </p:sp>
      <p:sp>
        <p:nvSpPr>
          <p:cNvPr id="6" name="Text 4"/>
          <p:cNvSpPr/>
          <p:nvPr/>
        </p:nvSpPr>
        <p:spPr>
          <a:xfrm>
            <a:off x="1089660" y="1417320"/>
            <a:ext cx="3931920" cy="347472"/>
          </a:xfrm>
          <a:prstGeom prst="rect">
            <a:avLst/>
          </a:prstGeom>
          <a:noFill/>
          <a:ln/>
        </p:spPr>
        <p:txBody>
          <a:bodyPr wrap="square" lIns="0" tIns="0" rIns="0" bIns="0" rtlCol="0" anchor="ctr"/>
          <a:lstStyle/>
          <a:p>
            <a:pPr marL="0" indent="0">
              <a:buNone/>
            </a:pPr>
            <a:r>
              <a:rPr lang="en-US" sz="1200" dirty="0">
                <a:solidFill>
                  <a:srgbClr val="F0C9AD"/>
                </a:solidFill>
              </a:rPr>
              <a:t>DriveEase is a fully functional car rental management system</a:t>
            </a:r>
            <a:endParaRPr lang="en-US" sz="1200" dirty="0"/>
          </a:p>
        </p:txBody>
      </p:sp>
      <p:sp>
        <p:nvSpPr>
          <p:cNvPr id="7" name="Shape 5"/>
          <p:cNvSpPr/>
          <p:nvPr/>
        </p:nvSpPr>
        <p:spPr>
          <a:xfrm>
            <a:off x="769620" y="2029968"/>
            <a:ext cx="201168" cy="201168"/>
          </a:xfrm>
          <a:prstGeom prst="ellipse">
            <a:avLst/>
          </a:prstGeom>
          <a:solidFill>
            <a:srgbClr val="C4933A"/>
          </a:solidFill>
          <a:ln/>
        </p:spPr>
      </p:sp>
      <p:sp>
        <p:nvSpPr>
          <p:cNvPr id="8" name="Text 6"/>
          <p:cNvSpPr/>
          <p:nvPr/>
        </p:nvSpPr>
        <p:spPr>
          <a:xfrm>
            <a:off x="1089660" y="1984248"/>
            <a:ext cx="3931920" cy="347472"/>
          </a:xfrm>
          <a:prstGeom prst="rect">
            <a:avLst/>
          </a:prstGeom>
          <a:noFill/>
          <a:ln/>
        </p:spPr>
        <p:txBody>
          <a:bodyPr wrap="square" lIns="0" tIns="0" rIns="0" bIns="0" rtlCol="0" anchor="ctr"/>
          <a:lstStyle/>
          <a:p>
            <a:pPr marL="0" indent="0">
              <a:buNone/>
            </a:pPr>
            <a:r>
              <a:rPr lang="en-US" sz="1200" dirty="0">
                <a:solidFill>
                  <a:srgbClr val="F0C9AD"/>
                </a:solidFill>
              </a:rPr>
              <a:t>Covers the full rental lifecycle from booking to return</a:t>
            </a:r>
            <a:endParaRPr lang="en-US" sz="1200" dirty="0"/>
          </a:p>
        </p:txBody>
      </p:sp>
      <p:sp>
        <p:nvSpPr>
          <p:cNvPr id="9" name="Shape 7"/>
          <p:cNvSpPr/>
          <p:nvPr/>
        </p:nvSpPr>
        <p:spPr>
          <a:xfrm>
            <a:off x="769620" y="2596896"/>
            <a:ext cx="201168" cy="201168"/>
          </a:xfrm>
          <a:prstGeom prst="ellipse">
            <a:avLst/>
          </a:prstGeom>
          <a:solidFill>
            <a:srgbClr val="C4933A"/>
          </a:solidFill>
          <a:ln/>
        </p:spPr>
      </p:sp>
      <p:sp>
        <p:nvSpPr>
          <p:cNvPr id="10" name="Text 8"/>
          <p:cNvSpPr/>
          <p:nvPr/>
        </p:nvSpPr>
        <p:spPr>
          <a:xfrm>
            <a:off x="1089660" y="2551176"/>
            <a:ext cx="3931920" cy="347472"/>
          </a:xfrm>
          <a:prstGeom prst="rect">
            <a:avLst/>
          </a:prstGeom>
          <a:noFill/>
          <a:ln/>
        </p:spPr>
        <p:txBody>
          <a:bodyPr wrap="square" lIns="0" tIns="0" rIns="0" bIns="0" rtlCol="0" anchor="ctr"/>
          <a:lstStyle/>
          <a:p>
            <a:pPr marL="0" indent="0">
              <a:buNone/>
            </a:pPr>
            <a:r>
              <a:rPr lang="en-US" sz="1200" dirty="0">
                <a:solidFill>
                  <a:srgbClr val="F0C9AD"/>
                </a:solidFill>
              </a:rPr>
              <a:t>Overdue detection and charge calculation built-in</a:t>
            </a:r>
            <a:endParaRPr lang="en-US" sz="1200" dirty="0"/>
          </a:p>
        </p:txBody>
      </p:sp>
      <p:sp>
        <p:nvSpPr>
          <p:cNvPr id="11" name="Shape 9"/>
          <p:cNvSpPr/>
          <p:nvPr/>
        </p:nvSpPr>
        <p:spPr>
          <a:xfrm>
            <a:off x="769620" y="3163824"/>
            <a:ext cx="201168" cy="201168"/>
          </a:xfrm>
          <a:prstGeom prst="ellipse">
            <a:avLst/>
          </a:prstGeom>
          <a:solidFill>
            <a:srgbClr val="C4933A"/>
          </a:solidFill>
          <a:ln/>
        </p:spPr>
      </p:sp>
      <p:sp>
        <p:nvSpPr>
          <p:cNvPr id="12" name="Text 10"/>
          <p:cNvSpPr/>
          <p:nvPr/>
        </p:nvSpPr>
        <p:spPr>
          <a:xfrm>
            <a:off x="1089660" y="3118104"/>
            <a:ext cx="3931920" cy="347472"/>
          </a:xfrm>
          <a:prstGeom prst="rect">
            <a:avLst/>
          </a:prstGeom>
          <a:noFill/>
          <a:ln/>
        </p:spPr>
        <p:txBody>
          <a:bodyPr wrap="square" lIns="0" tIns="0" rIns="0" bIns="0" rtlCol="0" anchor="ctr"/>
          <a:lstStyle/>
          <a:p>
            <a:pPr marL="0" indent="0">
              <a:buNone/>
            </a:pPr>
            <a:r>
              <a:rPr lang="en-US" sz="1200" dirty="0">
                <a:solidFill>
                  <a:srgbClr val="F0C9AD"/>
                </a:solidFill>
              </a:rPr>
              <a:t>Secure role-based access for Admin and Customers</a:t>
            </a:r>
            <a:endParaRPr lang="en-US" sz="1200" dirty="0"/>
          </a:p>
        </p:txBody>
      </p:sp>
      <p:sp>
        <p:nvSpPr>
          <p:cNvPr id="13" name="Shape 11"/>
          <p:cNvSpPr/>
          <p:nvPr/>
        </p:nvSpPr>
        <p:spPr>
          <a:xfrm>
            <a:off x="769620" y="3730752"/>
            <a:ext cx="201168" cy="201168"/>
          </a:xfrm>
          <a:prstGeom prst="ellipse">
            <a:avLst/>
          </a:prstGeom>
          <a:solidFill>
            <a:srgbClr val="C4933A"/>
          </a:solidFill>
          <a:ln/>
        </p:spPr>
      </p:sp>
      <p:sp>
        <p:nvSpPr>
          <p:cNvPr id="14" name="Text 12"/>
          <p:cNvSpPr/>
          <p:nvPr/>
        </p:nvSpPr>
        <p:spPr>
          <a:xfrm>
            <a:off x="1089660" y="3685032"/>
            <a:ext cx="3931920" cy="347472"/>
          </a:xfrm>
          <a:prstGeom prst="rect">
            <a:avLst/>
          </a:prstGeom>
          <a:noFill/>
          <a:ln/>
        </p:spPr>
        <p:txBody>
          <a:bodyPr wrap="square" lIns="0" tIns="0" rIns="0" bIns="0" rtlCol="0" anchor="ctr"/>
          <a:lstStyle/>
          <a:p>
            <a:pPr marL="0" indent="0">
              <a:buNone/>
            </a:pPr>
            <a:r>
              <a:rPr lang="en-US" sz="1200" dirty="0">
                <a:solidFill>
                  <a:srgbClr val="F0C9AD"/>
                </a:solidFill>
              </a:rPr>
              <a:t>Clean, responsive UI built with PHP and MySQL</a:t>
            </a:r>
            <a:endParaRPr lang="en-US" sz="1200" dirty="0"/>
          </a:p>
        </p:txBody>
      </p:sp>
      <p:sp>
        <p:nvSpPr>
          <p:cNvPr id="16" name="Text 14"/>
          <p:cNvSpPr/>
          <p:nvPr/>
        </p:nvSpPr>
        <p:spPr>
          <a:xfrm>
            <a:off x="5349240" y="1097280"/>
            <a:ext cx="1554480" cy="640080"/>
          </a:xfrm>
          <a:prstGeom prst="rect">
            <a:avLst/>
          </a:prstGeom>
          <a:noFill/>
          <a:ln/>
        </p:spPr>
        <p:txBody>
          <a:bodyPr wrap="square" lIns="0" tIns="0" rIns="0" bIns="0" rtlCol="0" anchor="ctr"/>
          <a:lstStyle/>
          <a:p>
            <a:pPr marL="0" indent="0" algn="ctr">
              <a:buNone/>
            </a:pPr>
            <a:endParaRPr lang="en-US" sz="3600" dirty="0"/>
          </a:p>
        </p:txBody>
      </p:sp>
      <p:sp>
        <p:nvSpPr>
          <p:cNvPr id="17" name="Text 15"/>
          <p:cNvSpPr/>
          <p:nvPr/>
        </p:nvSpPr>
        <p:spPr>
          <a:xfrm>
            <a:off x="5349240" y="1737360"/>
            <a:ext cx="1554480" cy="347472"/>
          </a:xfrm>
          <a:prstGeom prst="rect">
            <a:avLst/>
          </a:prstGeom>
          <a:noFill/>
          <a:ln/>
        </p:spPr>
        <p:txBody>
          <a:bodyPr wrap="square" lIns="0" tIns="0" rIns="0" bIns="0" rtlCol="0" anchor="ctr"/>
          <a:lstStyle/>
          <a:p>
            <a:pPr marL="0" indent="0" algn="ctr">
              <a:buNone/>
            </a:pPr>
            <a:endParaRPr lang="en-US" sz="1100" dirty="0"/>
          </a:p>
        </p:txBody>
      </p:sp>
      <p:sp>
        <p:nvSpPr>
          <p:cNvPr id="19" name="Text 17"/>
          <p:cNvSpPr/>
          <p:nvPr/>
        </p:nvSpPr>
        <p:spPr>
          <a:xfrm>
            <a:off x="7132320" y="1097280"/>
            <a:ext cx="1554480" cy="640080"/>
          </a:xfrm>
          <a:prstGeom prst="rect">
            <a:avLst/>
          </a:prstGeom>
          <a:noFill/>
          <a:ln/>
        </p:spPr>
        <p:txBody>
          <a:bodyPr wrap="square" lIns="0" tIns="0" rIns="0" bIns="0" rtlCol="0" anchor="ctr"/>
          <a:lstStyle/>
          <a:p>
            <a:pPr marL="0" indent="0" algn="ctr">
              <a:buNone/>
            </a:pPr>
            <a:endParaRPr lang="en-US" sz="3600" dirty="0"/>
          </a:p>
        </p:txBody>
      </p:sp>
      <p:sp>
        <p:nvSpPr>
          <p:cNvPr id="20" name="Text 18"/>
          <p:cNvSpPr/>
          <p:nvPr/>
        </p:nvSpPr>
        <p:spPr>
          <a:xfrm>
            <a:off x="7132320" y="1737360"/>
            <a:ext cx="1554480" cy="347472"/>
          </a:xfrm>
          <a:prstGeom prst="rect">
            <a:avLst/>
          </a:prstGeom>
          <a:noFill/>
          <a:ln/>
        </p:spPr>
        <p:txBody>
          <a:bodyPr wrap="square" lIns="0" tIns="0" rIns="0" bIns="0" rtlCol="0" anchor="ctr"/>
          <a:lstStyle/>
          <a:p>
            <a:pPr marL="0" indent="0" algn="ctr">
              <a:buNone/>
            </a:pPr>
            <a:endParaRPr lang="en-US" sz="1100" dirty="0"/>
          </a:p>
        </p:txBody>
      </p:sp>
      <p:sp>
        <p:nvSpPr>
          <p:cNvPr id="22" name="Text 20"/>
          <p:cNvSpPr/>
          <p:nvPr/>
        </p:nvSpPr>
        <p:spPr>
          <a:xfrm>
            <a:off x="5349240" y="2560320"/>
            <a:ext cx="1554480" cy="640080"/>
          </a:xfrm>
          <a:prstGeom prst="rect">
            <a:avLst/>
          </a:prstGeom>
          <a:noFill/>
          <a:ln/>
        </p:spPr>
        <p:txBody>
          <a:bodyPr wrap="square" lIns="0" tIns="0" rIns="0" bIns="0" rtlCol="0" anchor="ctr"/>
          <a:lstStyle/>
          <a:p>
            <a:pPr marL="0" indent="0" algn="ctr">
              <a:buNone/>
            </a:pPr>
            <a:endParaRPr lang="en-US" sz="3600" dirty="0"/>
          </a:p>
        </p:txBody>
      </p:sp>
      <p:sp>
        <p:nvSpPr>
          <p:cNvPr id="23" name="Text 21"/>
          <p:cNvSpPr/>
          <p:nvPr/>
        </p:nvSpPr>
        <p:spPr>
          <a:xfrm>
            <a:off x="5349240" y="3200400"/>
            <a:ext cx="1554480" cy="347472"/>
          </a:xfrm>
          <a:prstGeom prst="rect">
            <a:avLst/>
          </a:prstGeom>
          <a:noFill/>
          <a:ln/>
        </p:spPr>
        <p:txBody>
          <a:bodyPr wrap="square" lIns="0" tIns="0" rIns="0" bIns="0" rtlCol="0" anchor="ctr"/>
          <a:lstStyle/>
          <a:p>
            <a:pPr marL="0" indent="0" algn="ctr">
              <a:buNone/>
            </a:pPr>
            <a:endParaRPr lang="en-US" sz="1100" dirty="0"/>
          </a:p>
        </p:txBody>
      </p:sp>
      <p:sp>
        <p:nvSpPr>
          <p:cNvPr id="25" name="Text 23"/>
          <p:cNvSpPr/>
          <p:nvPr/>
        </p:nvSpPr>
        <p:spPr>
          <a:xfrm>
            <a:off x="7132320" y="2560320"/>
            <a:ext cx="1554480" cy="640080"/>
          </a:xfrm>
          <a:prstGeom prst="rect">
            <a:avLst/>
          </a:prstGeom>
          <a:noFill/>
          <a:ln/>
        </p:spPr>
        <p:txBody>
          <a:bodyPr wrap="square" lIns="0" tIns="0" rIns="0" bIns="0" rtlCol="0" anchor="ctr"/>
          <a:lstStyle/>
          <a:p>
            <a:pPr marL="0" indent="0" algn="ctr">
              <a:buNone/>
            </a:pPr>
            <a:endParaRPr lang="en-US" sz="3600" dirty="0"/>
          </a:p>
        </p:txBody>
      </p:sp>
      <p:sp>
        <p:nvSpPr>
          <p:cNvPr id="26" name="Text 24"/>
          <p:cNvSpPr/>
          <p:nvPr/>
        </p:nvSpPr>
        <p:spPr>
          <a:xfrm>
            <a:off x="7132320" y="3200400"/>
            <a:ext cx="1554480" cy="347472"/>
          </a:xfrm>
          <a:prstGeom prst="rect">
            <a:avLst/>
          </a:prstGeom>
          <a:noFill/>
          <a:ln/>
        </p:spPr>
        <p:txBody>
          <a:bodyPr wrap="square" lIns="0" tIns="0" rIns="0" bIns="0" rtlCol="0" anchor="ctr"/>
          <a:lstStyle/>
          <a:p>
            <a:pPr marL="0" indent="0" algn="ctr">
              <a:buNone/>
            </a:pPr>
            <a:endParaRPr lang="en-US" sz="1100" dirty="0"/>
          </a:p>
        </p:txBody>
      </p:sp>
      <p:sp>
        <p:nvSpPr>
          <p:cNvPr id="27" name="Text 25"/>
          <p:cNvSpPr/>
          <p:nvPr/>
        </p:nvSpPr>
        <p:spPr>
          <a:xfrm>
            <a:off x="5120640" y="4114800"/>
            <a:ext cx="3840480" cy="548640"/>
          </a:xfrm>
          <a:prstGeom prst="rect">
            <a:avLst/>
          </a:prstGeom>
          <a:noFill/>
          <a:ln/>
        </p:spPr>
        <p:txBody>
          <a:bodyPr wrap="square" lIns="0" tIns="0" rIns="0" bIns="0" rtlCol="0" anchor="ctr"/>
          <a:lstStyle/>
          <a:p>
            <a:pPr marL="0" indent="0" algn="ctr">
              <a:buNone/>
            </a:pPr>
            <a:endParaRPr lang="en-US" sz="2000" dirty="0"/>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7B1F2E"/>
        </a:solidFill>
        <a:effectLst/>
      </p:bgPr>
    </p:bg>
    <p:spTree>
      <p:nvGrpSpPr>
        <p:cNvPr id="1" name=""/>
        <p:cNvGrpSpPr/>
        <p:nvPr/>
      </p:nvGrpSpPr>
      <p:grpSpPr>
        <a:xfrm>
          <a:off x="0" y="0"/>
          <a:ext cx="0" cy="0"/>
          <a:chOff x="0" y="0"/>
          <a:chExt cx="0" cy="0"/>
        </a:xfrm>
      </p:grpSpPr>
      <p:sp>
        <p:nvSpPr>
          <p:cNvPr id="2" name="TextBox 1"/>
          <p:cNvSpPr txBox="1"/>
          <p:nvPr/>
        </p:nvSpPr>
        <p:spPr>
          <a:xfrm>
            <a:off x="2575560" y="1981200"/>
            <a:ext cx="5791200" cy="769441"/>
          </a:xfrm>
          <a:prstGeom prst="rect">
            <a:avLst/>
          </a:prstGeom>
          <a:noFill/>
        </p:spPr>
        <p:txBody>
          <a:bodyPr wrap="square" rtlCol="0">
            <a:spAutoFit/>
          </a:bodyPr>
          <a:lstStyle/>
          <a:p>
            <a:r>
              <a:rPr lang="en-US" sz="4400" b="1" u="sng" dirty="0" smtClean="0">
                <a:solidFill>
                  <a:schemeClr val="bg1"/>
                </a:solidFill>
                <a:latin typeface="Georgia" panose="02040502050405020303" pitchFamily="18" charset="0"/>
              </a:rPr>
              <a:t>Thank You!!!</a:t>
            </a:r>
            <a:endParaRPr lang="en-US" sz="4400" b="1" u="sng" dirty="0">
              <a:solidFill>
                <a:schemeClr val="bg1"/>
              </a:solidFill>
              <a:latin typeface="Georgia" panose="02040502050405020303" pitchFamily="18" charset="0"/>
            </a:endParaRPr>
          </a:p>
        </p:txBody>
      </p:sp>
    </p:spTree>
    <p:extLst>
      <p:ext uri="{BB962C8B-B14F-4D97-AF65-F5344CB8AC3E}">
        <p14:creationId xmlns:p14="http://schemas.microsoft.com/office/powerpoint/2010/main" val="3466978130"/>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39</TotalTime>
  <Words>414</Words>
  <Application>Microsoft Office PowerPoint</Application>
  <PresentationFormat>On-screen Show (16:9)</PresentationFormat>
  <Paragraphs>72</Paragraphs>
  <Slides>8</Slides>
  <Notes>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8</vt:i4>
      </vt:variant>
    </vt:vector>
  </HeadingPairs>
  <TitlesOfParts>
    <vt:vector size="12"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DriveEase - Car Rental System</dc:title>
  <dc:subject>PptxGenJS Presentation</dc:subject>
  <dc:creator>PptxGenJS</dc:creator>
  <cp:lastModifiedBy>Microsoft account</cp:lastModifiedBy>
  <cp:revision>6</cp:revision>
  <dcterms:created xsi:type="dcterms:W3CDTF">2026-04-29T08:25:21Z</dcterms:created>
  <dcterms:modified xsi:type="dcterms:W3CDTF">2026-04-29T09:31:06Z</dcterms:modified>
</cp:coreProperties>
</file>