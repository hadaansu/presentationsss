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Expenses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7264D"/>
              </a:solidFill>
              <a:effectLst/>
            </c:spPr>
          </c:dPt>
          <c:dPt>
            <c:idx val="1"/>
            <c:bubble3D val="0"/>
            <c:spPr>
              <a:solidFill>
                <a:srgbClr val="1FAB89"/>
              </a:solidFill>
              <a:effectLst/>
            </c:spPr>
          </c:dPt>
          <c:dPt>
            <c:idx val="2"/>
            <c:bubble3D val="0"/>
            <c:spPr>
              <a:solidFill>
                <a:srgbClr val="E8B84B"/>
              </a:solidFill>
              <a:effectLst/>
            </c:spPr>
          </c:dPt>
          <c:dPt>
            <c:idx val="3"/>
            <c:bubble3D val="0"/>
            <c:spPr>
              <a:solidFill>
                <a:srgbClr val="E8604C"/>
              </a:solidFill>
              <a:effectLst/>
            </c:spPr>
          </c:dPt>
          <c:dPt>
            <c:idx val="4"/>
            <c:bubble3D val="0"/>
            <c:spPr>
              <a:solidFill>
                <a:srgbClr val="DCE7F8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Food</c:v>
                </c:pt>
                <c:pt idx="1">
                  <c:v>Bills</c:v>
                </c:pt>
                <c:pt idx="2">
                  <c:v>Shopping</c:v>
                </c:pt>
                <c:pt idx="3">
                  <c:v>Transport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22</c:v>
                </c:pt>
                <c:pt idx="2">
                  <c:v>20</c:v>
                </c:pt>
                <c:pt idx="3">
                  <c:v>15</c:v>
                </c:pt>
                <c:pt idx="4">
                  <c:v>13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layout/>
      <c:overlay val="0"/>
      <c:txPr>
        <a:bodyPr/>
        <a:lstStyle/>
        <a:p>
          <a:pPr>
            <a:defRPr sz="900">
              <a:solidFill>
                <a:srgbClr val="6B7A99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Income</c:v>
                </c:pt>
              </c:strCache>
            </c:strRef>
          </c:tx>
          <c:spPr>
            <a:solidFill>
              <a:srgbClr val="1FAB89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Mar</c:v>
                </c:pt>
                <c:pt idx="1">
                  <c:v>Apr</c:v>
                </c:pt>
                <c:pt idx="2">
                  <c:v>May</c:v>
                </c:pt>
                <c:pt idx="3">
                  <c:v>Jun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2800</c:v>
                </c:pt>
                <c:pt idx="1">
                  <c:v>3000</c:v>
                </c:pt>
                <c:pt idx="2">
                  <c:v>2950</c:v>
                </c:pt>
                <c:pt idx="3">
                  <c:v>3200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Expense</c:v>
                </c:pt>
              </c:strCache>
            </c:strRef>
          </c:tx>
          <c:spPr>
            <a:solidFill>
              <a:srgbClr val="E8604C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Mar</c:v>
                </c:pt>
                <c:pt idx="1">
                  <c:v>Apr</c:v>
                </c:pt>
                <c:pt idx="2">
                  <c:v>May</c:v>
                </c:pt>
                <c:pt idx="3">
                  <c:v>Jun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2100</c:v>
                </c:pt>
                <c:pt idx="1">
                  <c:v>2400</c:v>
                </c:pt>
                <c:pt idx="2">
                  <c:v>2000</c:v>
                </c:pt>
                <c:pt idx="3">
                  <c:v>2150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-1093672224"/>
        <c:axId val="-1093671680"/>
      </c:barChart>
      <c:catAx>
        <c:axId val="-10936722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99"/>
                </a:solidFill>
                <a:latin typeface="Arial"/>
              </a:defRPr>
            </a:pPr>
            <a:endParaRPr lang="en-US"/>
          </a:p>
        </c:txPr>
        <c:crossAx val="-1093671680"/>
        <c:crosses val="autoZero"/>
        <c:auto val="1"/>
        <c:lblAlgn val="ctr"/>
        <c:lblOffset val="100"/>
        <c:noMultiLvlLbl val="1"/>
      </c:catAx>
      <c:valAx>
        <c:axId val="-1093671680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CE7F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99"/>
                </a:solidFill>
                <a:latin typeface="Arial"/>
              </a:defRPr>
            </a:pPr>
            <a:endParaRPr lang="en-US"/>
          </a:p>
        </c:txPr>
        <c:crossAx val="-10936722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6B7A99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4157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1.png"/><Relationship Id="rId5" Type="http://schemas.openxmlformats.org/officeDocument/2006/relationships/image" Target="../media/image1.png"/><Relationship Id="rId10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.xml"/><Relationship Id="rId3" Type="http://schemas.openxmlformats.org/officeDocument/2006/relationships/image" Target="../media/image1.png"/><Relationship Id="rId7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6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463040"/>
            <a:ext cx="4754880" cy="4754880"/>
          </a:xfrm>
          <a:prstGeom prst="ellipse">
            <a:avLst/>
          </a:prstGeom>
          <a:solidFill>
            <a:srgbClr val="1E3260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E3260"/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5029200"/>
            <a:ext cx="2743200" cy="2743200"/>
          </a:xfrm>
          <a:prstGeom prst="ellipse">
            <a:avLst/>
          </a:prstGeom>
          <a:solidFill>
            <a:srgbClr val="1E3260"/>
          </a:solidFill>
          <a:ln/>
        </p:spPr>
      </p:sp>
      <p:sp>
        <p:nvSpPr>
          <p:cNvPr id="5" name="Shape 3"/>
          <p:cNvSpPr/>
          <p:nvPr/>
        </p:nvSpPr>
        <p:spPr>
          <a:xfrm>
            <a:off x="8366760" y="1417320"/>
            <a:ext cx="3063240" cy="3566160"/>
          </a:xfrm>
          <a:prstGeom prst="roundRect">
            <a:avLst>
              <a:gd name="adj" fmla="val 4179"/>
            </a:avLst>
          </a:prstGeom>
          <a:solidFill>
            <a:srgbClr val="FFFFFF"/>
          </a:solidFill>
          <a:ln/>
          <a:effectLst>
            <a:outerShdw blurRad="228600" dist="76200" dir="5400000" algn="bl" rotWithShape="0">
              <a:srgbClr val="0B1533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95360" y="160020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OVERVIEW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95360" y="18745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6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$1,050.00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595360" y="235000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A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Balance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41080" y="4206240"/>
            <a:ext cx="256032" cy="457200"/>
          </a:xfrm>
          <a:prstGeom prst="roundRect">
            <a:avLst>
              <a:gd name="adj" fmla="val 14286"/>
            </a:avLst>
          </a:prstGeom>
          <a:solidFill>
            <a:srgbClr val="DCE7F8"/>
          </a:solidFill>
          <a:ln/>
        </p:spPr>
      </p:sp>
      <p:sp>
        <p:nvSpPr>
          <p:cNvPr id="10" name="Shape 8"/>
          <p:cNvSpPr/>
          <p:nvPr/>
        </p:nvSpPr>
        <p:spPr>
          <a:xfrm>
            <a:off x="9015984" y="3840480"/>
            <a:ext cx="256032" cy="822960"/>
          </a:xfrm>
          <a:prstGeom prst="roundRect">
            <a:avLst>
              <a:gd name="adj" fmla="val 14286"/>
            </a:avLst>
          </a:prstGeom>
          <a:solidFill>
            <a:srgbClr val="DCE7F8"/>
          </a:solidFill>
          <a:ln/>
        </p:spPr>
      </p:sp>
      <p:sp>
        <p:nvSpPr>
          <p:cNvPr id="11" name="Shape 9"/>
          <p:cNvSpPr/>
          <p:nvPr/>
        </p:nvSpPr>
        <p:spPr>
          <a:xfrm>
            <a:off x="9390888" y="4069080"/>
            <a:ext cx="256032" cy="594360"/>
          </a:xfrm>
          <a:prstGeom prst="roundRect">
            <a:avLst>
              <a:gd name="adj" fmla="val 14286"/>
            </a:avLst>
          </a:prstGeom>
          <a:solidFill>
            <a:srgbClr val="DCE7F8"/>
          </a:solidFill>
          <a:ln/>
        </p:spPr>
      </p:sp>
      <p:sp>
        <p:nvSpPr>
          <p:cNvPr id="12" name="Shape 10"/>
          <p:cNvSpPr/>
          <p:nvPr/>
        </p:nvSpPr>
        <p:spPr>
          <a:xfrm>
            <a:off x="9765792" y="3611880"/>
            <a:ext cx="256032" cy="1051560"/>
          </a:xfrm>
          <a:prstGeom prst="roundRect">
            <a:avLst>
              <a:gd name="adj" fmla="val 14286"/>
            </a:avLst>
          </a:prstGeom>
          <a:solidFill>
            <a:srgbClr val="1FAB89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40696" y="3931920"/>
            <a:ext cx="256032" cy="731520"/>
          </a:xfrm>
          <a:prstGeom prst="roundRect">
            <a:avLst>
              <a:gd name="adj" fmla="val 14286"/>
            </a:avLst>
          </a:prstGeom>
          <a:solidFill>
            <a:srgbClr val="DCE7F8"/>
          </a:solidFill>
          <a:ln/>
        </p:spPr>
      </p:sp>
      <p:sp>
        <p:nvSpPr>
          <p:cNvPr id="14" name="Shape 12"/>
          <p:cNvSpPr/>
          <p:nvPr/>
        </p:nvSpPr>
        <p:spPr>
          <a:xfrm>
            <a:off x="10515600" y="3429000"/>
            <a:ext cx="256032" cy="1234440"/>
          </a:xfrm>
          <a:prstGeom prst="roundRect">
            <a:avLst>
              <a:gd name="adj" fmla="val 14286"/>
            </a:avLst>
          </a:prstGeom>
          <a:solidFill>
            <a:srgbClr val="1FAB89"/>
          </a:solidFill>
          <a:ln/>
        </p:spPr>
      </p:sp>
      <p:sp>
        <p:nvSpPr>
          <p:cNvPr id="15" name="Shape 13"/>
          <p:cNvSpPr/>
          <p:nvPr/>
        </p:nvSpPr>
        <p:spPr>
          <a:xfrm>
            <a:off x="8595360" y="2834640"/>
            <a:ext cx="2606040" cy="0"/>
          </a:xfrm>
          <a:prstGeom prst="line">
            <a:avLst/>
          </a:prstGeom>
          <a:noFill/>
          <a:ln w="12700">
            <a:solidFill>
              <a:srgbClr val="DCE7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0" y="29260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vs Expense · Last 6 months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0927080" y="1161288"/>
            <a:ext cx="603504" cy="603504"/>
          </a:xfrm>
          <a:prstGeom prst="ellipse">
            <a:avLst/>
          </a:prstGeom>
          <a:solidFill>
            <a:srgbClr val="1FAB89"/>
          </a:solidFill>
          <a:ln/>
        </p:spPr>
      </p:sp>
      <p:pic>
        <p:nvPicPr>
          <p:cNvPr id="18" name="Image 0" descr="/home/claude/pptx_proj/icons/inc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1571" y="1245779"/>
            <a:ext cx="434523" cy="434523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4008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94360" y="1600200"/>
            <a:ext cx="7315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Budget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Tracker</a:t>
            </a:r>
            <a:endParaRPr lang="en-US" sz="44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" y="32461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</a:t>
            </a:r>
            <a:r>
              <a:rPr lang="en-US" sz="1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,WPF AND </a:t>
            </a:r>
            <a:r>
              <a:rPr lang="en-US" sz="1800" b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Sever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40080" y="379476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CE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desktop application for tracking income, expenses, budgets and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CE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goals — with clear dashboards and financial insights.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40080" y="4892040"/>
            <a:ext cx="6766560" cy="0"/>
          </a:xfrm>
          <a:prstGeom prst="line">
            <a:avLst/>
          </a:prstGeom>
          <a:noFill/>
          <a:ln w="19050">
            <a:solidFill>
              <a:srgbClr val="1E326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218715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kern="0" spc="100" dirty="0" smtClean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2189988" y="5162328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Anshu</a:t>
            </a:r>
            <a:r>
              <a:rPr lang="en-US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Hada</a:t>
            </a: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3911660" y="5216563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 smtClean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SECTION: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4776261" y="5184111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</a:rPr>
              <a:t>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8" name="Text 25"/>
          <p:cNvSpPr/>
          <p:nvPr/>
        </p:nvSpPr>
        <p:spPr>
          <a:xfrm>
            <a:off x="640080" y="5742432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40080" y="5943600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FA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6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Personal Budget Tracker?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12080" cy="4709160"/>
          </a:xfrm>
          <a:prstGeom prst="roundRect">
            <a:avLst>
              <a:gd name="adj" fmla="val 2330"/>
            </a:avLst>
          </a:prstGeom>
          <a:solidFill>
            <a:srgbClr val="17264D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883664"/>
            <a:ext cx="585216" cy="585216"/>
          </a:xfrm>
          <a:prstGeom prst="ellipse">
            <a:avLst/>
          </a:prstGeom>
          <a:solidFill>
            <a:srgbClr val="E8B84B"/>
          </a:solidFill>
          <a:ln/>
        </p:spPr>
      </p:sp>
      <p:pic>
        <p:nvPicPr>
          <p:cNvPr id="6" name="Image 0" descr="/home/claude/pptx_proj/icons/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330" y="1965594"/>
            <a:ext cx="421356" cy="4213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60604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2871216"/>
            <a:ext cx="4480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CE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people struggle to keep track of daily income and expenses, often relying on memory or scattered notes — making it hard to stick to a budget or save consistently.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914400" y="4160520"/>
            <a:ext cx="4480560" cy="0"/>
          </a:xfrm>
          <a:prstGeom prst="line">
            <a:avLst/>
          </a:prstGeom>
          <a:noFill/>
          <a:ln w="15875">
            <a:solidFill>
              <a:srgbClr val="1E326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431596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FA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14400" y="4590288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CE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system gives users a single desktop application to record every income and expense, set budgets, track savings goals, and instantly view charts that summarize their financial activity.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080760" y="15727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80760" y="1920240"/>
            <a:ext cx="2724912" cy="2084832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DCE7F8"/>
            </a:solidFill>
            <a:prstDash val="solid"/>
          </a:ln>
          <a:effectLst>
            <a:outerShdw blurRad="127000" dist="38100" dir="5400000" algn="bl" rotWithShape="0">
              <a:srgbClr val="17264D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300216" y="2139696"/>
            <a:ext cx="512064" cy="512064"/>
          </a:xfrm>
          <a:prstGeom prst="ellipse">
            <a:avLst/>
          </a:prstGeom>
          <a:solidFill>
            <a:srgbClr val="1FAB89"/>
          </a:solidFill>
          <a:ln/>
        </p:spPr>
      </p:sp>
      <p:pic>
        <p:nvPicPr>
          <p:cNvPr id="15" name="Image 1" descr="/home/claude/pptx_proj/icons/inc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905" y="2211385"/>
            <a:ext cx="368686" cy="36868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300216" y="2816352"/>
            <a:ext cx="22677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26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Income &amp; Expenses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6300216" y="3364992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every transaction in one place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9006840" y="1920240"/>
            <a:ext cx="2724912" cy="2084832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DCE7F8"/>
            </a:solidFill>
            <a:prstDash val="solid"/>
          </a:ln>
          <a:effectLst>
            <a:outerShdw blurRad="127000" dist="38100" dir="5400000" algn="bl" rotWithShape="0">
              <a:srgbClr val="17264D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226296" y="2139696"/>
            <a:ext cx="512064" cy="512064"/>
          </a:xfrm>
          <a:prstGeom prst="ellipse">
            <a:avLst/>
          </a:prstGeom>
          <a:solidFill>
            <a:srgbClr val="17264D"/>
          </a:solidFill>
          <a:ln/>
        </p:spPr>
      </p:sp>
      <p:pic>
        <p:nvPicPr>
          <p:cNvPr id="20" name="Image 2" descr="/home/claude/pptx_proj/icons/budg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7985" y="2211385"/>
            <a:ext cx="368686" cy="36868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226296" y="2816352"/>
            <a:ext cx="22677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26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 Monthly Budgets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9226296" y="3364992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limits per category and overall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080760" y="4206240"/>
            <a:ext cx="2724912" cy="2084832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DCE7F8"/>
            </a:solidFill>
            <a:prstDash val="solid"/>
          </a:ln>
          <a:effectLst>
            <a:outerShdw blurRad="127000" dist="38100" dir="5400000" algn="bl" rotWithShape="0">
              <a:srgbClr val="17264D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300216" y="4425696"/>
            <a:ext cx="512064" cy="512064"/>
          </a:xfrm>
          <a:prstGeom prst="ellipse">
            <a:avLst/>
          </a:prstGeom>
          <a:solidFill>
            <a:srgbClr val="E8B84B"/>
          </a:solidFill>
          <a:ln/>
        </p:spPr>
      </p:sp>
      <p:pic>
        <p:nvPicPr>
          <p:cNvPr id="25" name="Image 3" descr="/home/claude/pptx_proj/icons/pigg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1905" y="4497385"/>
            <a:ext cx="368686" cy="36868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300216" y="5102352"/>
            <a:ext cx="22677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26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 Savings Goals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6300216" y="5650992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and follow progress toward targets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9006840" y="4206240"/>
            <a:ext cx="2724912" cy="2084832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DCE7F8"/>
            </a:solidFill>
            <a:prstDash val="solid"/>
          </a:ln>
          <a:effectLst>
            <a:outerShdw blurRad="127000" dist="38100" dir="5400000" algn="bl" rotWithShape="0">
              <a:srgbClr val="17264D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9226296" y="4425696"/>
            <a:ext cx="512064" cy="512064"/>
          </a:xfrm>
          <a:prstGeom prst="ellipse">
            <a:avLst/>
          </a:prstGeom>
          <a:solidFill>
            <a:srgbClr val="E8604C"/>
          </a:solidFill>
          <a:ln/>
        </p:spPr>
      </p:sp>
      <p:pic>
        <p:nvPicPr>
          <p:cNvPr id="30" name="Image 4" descr="/home/claude/pptx_proj/icons/bra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97985" y="4497385"/>
            <a:ext cx="368686" cy="36868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226296" y="5102352"/>
            <a:ext cx="22677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26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 Financial Activity</a:t>
            </a:r>
            <a:endParaRPr lang="en-US" sz="1350" dirty="0"/>
          </a:p>
        </p:txBody>
      </p:sp>
      <p:sp>
        <p:nvSpPr>
          <p:cNvPr id="32" name="Text 25"/>
          <p:cNvSpPr/>
          <p:nvPr/>
        </p:nvSpPr>
        <p:spPr>
          <a:xfrm>
            <a:off x="9226296" y="5650992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data into clear visual insights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Budget Tracker  |  C# · WPF · SQL Server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FA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6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Application Offers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36118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CE7F8"/>
            </a:solidFill>
            <a:prstDash val="solid"/>
          </a:ln>
          <a:effectLst>
            <a:outerShdw blurRad="101600" dist="38100" dir="5400000" algn="bl" rotWithShape="0">
              <a:srgbClr val="17264D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55648"/>
            <a:ext cx="530352" cy="530352"/>
          </a:xfrm>
          <a:prstGeom prst="ellipse">
            <a:avLst/>
          </a:prstGeom>
          <a:solidFill>
            <a:srgbClr val="17264D"/>
          </a:solidFill>
          <a:ln/>
        </p:spPr>
      </p:sp>
      <p:pic>
        <p:nvPicPr>
          <p:cNvPr id="6" name="Image 0" descr="/home/claude/pptx_proj/icons/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57" y="1829897"/>
            <a:ext cx="381853" cy="38185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19072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6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&amp; Registration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463040" y="210312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per-user accounts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25112" y="1536192"/>
            <a:ext cx="36118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CE7F8"/>
            </a:solidFill>
            <a:prstDash val="solid"/>
          </a:ln>
          <a:effectLst>
            <a:outerShdw blurRad="101600" dist="38100" dir="5400000" algn="bl" rotWithShape="0">
              <a:srgbClr val="17264D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1755648"/>
            <a:ext cx="530352" cy="530352"/>
          </a:xfrm>
          <a:prstGeom prst="ellipse">
            <a:avLst/>
          </a:prstGeom>
          <a:solidFill>
            <a:srgbClr val="1FAB89"/>
          </a:solidFill>
          <a:ln/>
        </p:spPr>
      </p:sp>
      <p:pic>
        <p:nvPicPr>
          <p:cNvPr id="11" name="Image 1" descr="/home/claude/pptx_proj/icons/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0529" y="1829897"/>
            <a:ext cx="381853" cy="38185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39512" y="1719072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6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239512" y="210312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of your finances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01584" y="1536192"/>
            <a:ext cx="36118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CE7F8"/>
            </a:solidFill>
            <a:prstDash val="solid"/>
          </a:ln>
          <a:effectLst>
            <a:outerShdw blurRad="101600" dist="38100" dir="5400000" algn="bl" rotWithShape="0">
              <a:srgbClr val="17264D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02752" y="1755648"/>
            <a:ext cx="530352" cy="530352"/>
          </a:xfrm>
          <a:prstGeom prst="ellipse">
            <a:avLst/>
          </a:prstGeom>
          <a:solidFill>
            <a:srgbClr val="E8B84B"/>
          </a:solidFill>
          <a:ln/>
        </p:spPr>
      </p:sp>
      <p:pic>
        <p:nvPicPr>
          <p:cNvPr id="16" name="Image 2" descr="/home/claude/pptx_proj/icons/inco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7001" y="1829897"/>
            <a:ext cx="381853" cy="38185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15984" y="1719072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6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Income Management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9015984" y="210312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&amp; track income sources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182112"/>
            <a:ext cx="36118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CE7F8"/>
            </a:solidFill>
            <a:prstDash val="solid"/>
          </a:ln>
          <a:effectLst>
            <a:outerShdw blurRad="101600" dist="38100" dir="5400000" algn="bl" rotWithShape="0">
              <a:srgbClr val="17264D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" y="3401568"/>
            <a:ext cx="530352" cy="530352"/>
          </a:xfrm>
          <a:prstGeom prst="ellipse">
            <a:avLst/>
          </a:prstGeom>
          <a:solidFill>
            <a:srgbClr val="E8604C"/>
          </a:solidFill>
          <a:ln/>
        </p:spPr>
      </p:sp>
      <p:pic>
        <p:nvPicPr>
          <p:cNvPr id="21" name="Image 3" descr="/home/claude/pptx_proj/icons/expen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057" y="3475817"/>
            <a:ext cx="381853" cy="38185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3364992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6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Expense Management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463040" y="37490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spending by category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25112" y="3182112"/>
            <a:ext cx="36118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CE7F8"/>
            </a:solidFill>
            <a:prstDash val="solid"/>
          </a:ln>
          <a:effectLst>
            <a:outerShdw blurRad="101600" dist="38100" dir="5400000" algn="bl" rotWithShape="0">
              <a:srgbClr val="17264D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26280" y="3401568"/>
            <a:ext cx="530352" cy="530352"/>
          </a:xfrm>
          <a:prstGeom prst="ellipse">
            <a:avLst/>
          </a:prstGeom>
          <a:solidFill>
            <a:srgbClr val="17264D"/>
          </a:solidFill>
          <a:ln/>
        </p:spPr>
      </p:sp>
      <p:pic>
        <p:nvPicPr>
          <p:cNvPr id="26" name="Image 4" descr="/home/claude/pptx_proj/icons/budg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0529" y="3475817"/>
            <a:ext cx="381853" cy="38185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39512" y="3364992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6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Management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5239512" y="37490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limits, get alerts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01584" y="3182112"/>
            <a:ext cx="36118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CE7F8"/>
            </a:solidFill>
            <a:prstDash val="solid"/>
          </a:ln>
          <a:effectLst>
            <a:outerShdw blurRad="101600" dist="38100" dir="5400000" algn="bl" rotWithShape="0">
              <a:srgbClr val="17264D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02752" y="3401568"/>
            <a:ext cx="530352" cy="530352"/>
          </a:xfrm>
          <a:prstGeom prst="ellipse">
            <a:avLst/>
          </a:prstGeom>
          <a:solidFill>
            <a:srgbClr val="1FAB89"/>
          </a:solidFill>
          <a:ln/>
        </p:spPr>
      </p:sp>
      <p:pic>
        <p:nvPicPr>
          <p:cNvPr id="31" name="Image 5" descr="/home/claude/pptx_proj/icons/pigg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7001" y="3475817"/>
            <a:ext cx="381853" cy="38185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15984" y="3364992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6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Savings Goals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9015984" y="37490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toward targets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548640" y="4828032"/>
            <a:ext cx="36118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CE7F8"/>
            </a:solidFill>
            <a:prstDash val="solid"/>
          </a:ln>
          <a:effectLst>
            <a:outerShdw blurRad="101600" dist="38100" dir="5400000" algn="bl" rotWithShape="0">
              <a:srgbClr val="17264D">
                <a:alpha val="1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749808" y="5047488"/>
            <a:ext cx="530352" cy="530352"/>
          </a:xfrm>
          <a:prstGeom prst="ellipse">
            <a:avLst/>
          </a:prstGeom>
          <a:solidFill>
            <a:srgbClr val="E8B84B"/>
          </a:solidFill>
          <a:ln/>
        </p:spPr>
      </p:sp>
      <p:pic>
        <p:nvPicPr>
          <p:cNvPr id="36" name="Image 6" descr="/home/claude/pptx_proj/icons/histor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4057" y="5121737"/>
            <a:ext cx="381853" cy="381853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463040" y="5010912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6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History</a:t>
            </a:r>
            <a:endParaRPr lang="en-US" sz="1350" dirty="0"/>
          </a:p>
        </p:txBody>
      </p:sp>
      <p:sp>
        <p:nvSpPr>
          <p:cNvPr id="38" name="Text 29"/>
          <p:cNvSpPr/>
          <p:nvPr/>
        </p:nvSpPr>
        <p:spPr>
          <a:xfrm>
            <a:off x="1463040" y="53949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 records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4325112" y="4828032"/>
            <a:ext cx="36118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CE7F8"/>
            </a:solidFill>
            <a:prstDash val="solid"/>
          </a:ln>
          <a:effectLst>
            <a:outerShdw blurRad="101600" dist="38100" dir="5400000" algn="bl" rotWithShape="0">
              <a:srgbClr val="17264D">
                <a:alpha val="10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4526280" y="5047488"/>
            <a:ext cx="530352" cy="530352"/>
          </a:xfrm>
          <a:prstGeom prst="ellipse">
            <a:avLst/>
          </a:prstGeom>
          <a:solidFill>
            <a:srgbClr val="E8604C"/>
          </a:solidFill>
          <a:ln/>
        </p:spPr>
      </p:sp>
      <p:pic>
        <p:nvPicPr>
          <p:cNvPr id="41" name="Image 7" descr="/home/claude/pptx_proj/icons/report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00529" y="5121737"/>
            <a:ext cx="381853" cy="381853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239512" y="5010912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6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&amp; Analytics</a:t>
            </a:r>
            <a:endParaRPr lang="en-US" sz="1350" dirty="0"/>
          </a:p>
        </p:txBody>
      </p:sp>
      <p:sp>
        <p:nvSpPr>
          <p:cNvPr id="43" name="Text 33"/>
          <p:cNvSpPr/>
          <p:nvPr/>
        </p:nvSpPr>
        <p:spPr>
          <a:xfrm>
            <a:off x="5239512" y="53949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&amp; monthly trends</a:t>
            </a:r>
            <a:endParaRPr lang="en-US" sz="1050" dirty="0"/>
          </a:p>
        </p:txBody>
      </p:sp>
      <p:sp>
        <p:nvSpPr>
          <p:cNvPr id="44" name="Shape 34"/>
          <p:cNvSpPr/>
          <p:nvPr/>
        </p:nvSpPr>
        <p:spPr>
          <a:xfrm>
            <a:off x="8101584" y="4828032"/>
            <a:ext cx="36118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CE7F8"/>
            </a:solidFill>
            <a:prstDash val="solid"/>
          </a:ln>
          <a:effectLst>
            <a:outerShdw blurRad="101600" dist="38100" dir="5400000" algn="bl" rotWithShape="0">
              <a:srgbClr val="17264D">
                <a:alpha val="10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8302752" y="5047488"/>
            <a:ext cx="530352" cy="530352"/>
          </a:xfrm>
          <a:prstGeom prst="ellipse">
            <a:avLst/>
          </a:prstGeom>
          <a:solidFill>
            <a:srgbClr val="17264D"/>
          </a:solidFill>
          <a:ln/>
        </p:spPr>
      </p:sp>
      <p:pic>
        <p:nvPicPr>
          <p:cNvPr id="46" name="Image 8" descr="/home/claude/pptx_proj/icons/setting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77001" y="5121737"/>
            <a:ext cx="381853" cy="381853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9015984" y="5010912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6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 &amp; Settings</a:t>
            </a:r>
            <a:endParaRPr lang="en-US" sz="1350" dirty="0"/>
          </a:p>
        </p:txBody>
      </p:sp>
      <p:sp>
        <p:nvSpPr>
          <p:cNvPr id="48" name="Text 37"/>
          <p:cNvSpPr/>
          <p:nvPr/>
        </p:nvSpPr>
        <p:spPr>
          <a:xfrm>
            <a:off x="9015984" y="53949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Theme, password, logout</a:t>
            </a:r>
            <a:endParaRPr lang="en-US" sz="1050" dirty="0"/>
          </a:p>
        </p:txBody>
      </p:sp>
      <p:sp>
        <p:nvSpPr>
          <p:cNvPr id="49" name="Text 3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Budget Tracker  |  C# · WPF · SQL Server</a:t>
            </a:r>
            <a:endParaRPr lang="en-US" sz="900" dirty="0"/>
          </a:p>
        </p:txBody>
      </p:sp>
      <p:sp>
        <p:nvSpPr>
          <p:cNvPr id="50" name="Text 39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FA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FINANCIAL MANAGEMENT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6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Clear View of Your Money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7F8"/>
            </a:solidFill>
            <a:prstDash val="solid"/>
          </a:ln>
          <a:effectLst>
            <a:outerShdw blurRad="101600" dist="38100" dir="5400000" algn="bl" rotWithShape="0">
              <a:srgbClr val="17264D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472184"/>
            <a:ext cx="502920" cy="502920"/>
          </a:xfrm>
          <a:prstGeom prst="ellipse">
            <a:avLst/>
          </a:prstGeom>
          <a:solidFill>
            <a:srgbClr val="1FAB89"/>
          </a:solidFill>
          <a:ln/>
        </p:spPr>
      </p:sp>
      <p:pic>
        <p:nvPicPr>
          <p:cNvPr id="6" name="Image 0" descr="/home/claude/pptx_proj/icons/inc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641" y="1542593"/>
            <a:ext cx="362102" cy="3621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362456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INCOME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325880" y="160020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26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$3,200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3319272" y="123444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7F8"/>
            </a:solidFill>
            <a:prstDash val="solid"/>
          </a:ln>
          <a:effectLst>
            <a:outerShdw blurRad="101600" dist="38100" dir="5400000" algn="bl" rotWithShape="0">
              <a:srgbClr val="17264D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83864" y="1472184"/>
            <a:ext cx="502920" cy="502920"/>
          </a:xfrm>
          <a:prstGeom prst="ellipse">
            <a:avLst/>
          </a:prstGeom>
          <a:solidFill>
            <a:srgbClr val="E8604C"/>
          </a:solidFill>
          <a:ln/>
        </p:spPr>
      </p:sp>
      <p:pic>
        <p:nvPicPr>
          <p:cNvPr id="11" name="Image 1" descr="/home/claude/pptx_proj/icons/expen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4273" y="1542593"/>
            <a:ext cx="362102" cy="3621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96512" y="1362456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EXPENSES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4096512" y="160020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26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$2,150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6089904" y="123444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7F8"/>
            </a:solidFill>
            <a:prstDash val="solid"/>
          </a:ln>
          <a:effectLst>
            <a:outerShdw blurRad="101600" dist="38100" dir="5400000" algn="bl" rotWithShape="0">
              <a:srgbClr val="17264D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54496" y="1472184"/>
            <a:ext cx="502920" cy="502920"/>
          </a:xfrm>
          <a:prstGeom prst="ellipse">
            <a:avLst/>
          </a:prstGeom>
          <a:solidFill>
            <a:srgbClr val="17264D"/>
          </a:solidFill>
          <a:ln/>
        </p:spPr>
      </p:sp>
      <p:pic>
        <p:nvPicPr>
          <p:cNvPr id="16" name="Image 2" descr="/home/claude/pptx_proj/icons/budg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905" y="1542593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67144" y="1362456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BALANCE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6867144" y="160020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26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$1,050</a:t>
            </a:r>
            <a:endParaRPr lang="en-US" sz="2000" dirty="0"/>
          </a:p>
        </p:txBody>
      </p:sp>
      <p:sp>
        <p:nvSpPr>
          <p:cNvPr id="19" name="Shape 14"/>
          <p:cNvSpPr/>
          <p:nvPr/>
        </p:nvSpPr>
        <p:spPr>
          <a:xfrm>
            <a:off x="8860536" y="123444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7F8"/>
            </a:solidFill>
            <a:prstDash val="solid"/>
          </a:ln>
          <a:effectLst>
            <a:outerShdw blurRad="101600" dist="38100" dir="5400000" algn="bl" rotWithShape="0">
              <a:srgbClr val="17264D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025128" y="1472184"/>
            <a:ext cx="502920" cy="502920"/>
          </a:xfrm>
          <a:prstGeom prst="ellipse">
            <a:avLst/>
          </a:prstGeom>
          <a:solidFill>
            <a:srgbClr val="E8B84B"/>
          </a:solidFill>
          <a:ln/>
        </p:spPr>
      </p:sp>
      <p:pic>
        <p:nvPicPr>
          <p:cNvPr id="21" name="Image 3" descr="/home/claude/pptx_proj/icons/pigg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5537" y="1542593"/>
            <a:ext cx="362102" cy="3621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637776" y="1362456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9637776" y="160020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26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$650</a:t>
            </a:r>
            <a:endParaRPr lang="en-US" sz="2000" dirty="0"/>
          </a:p>
        </p:txBody>
      </p:sp>
      <p:sp>
        <p:nvSpPr>
          <p:cNvPr id="24" name="Shape 18"/>
          <p:cNvSpPr/>
          <p:nvPr/>
        </p:nvSpPr>
        <p:spPr>
          <a:xfrm>
            <a:off x="548640" y="2514600"/>
            <a:ext cx="416052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CE7F8"/>
            </a:solidFill>
            <a:prstDash val="solid"/>
          </a:ln>
          <a:effectLst>
            <a:outerShdw blurRad="101600" dist="38100" dir="5400000" algn="bl" rotWithShape="0">
              <a:srgbClr val="17264D">
                <a:alpha val="10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777240" y="26243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6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Expense by Category</a:t>
            </a:r>
            <a:endParaRPr lang="en-US" sz="1250" dirty="0"/>
          </a:p>
        </p:txBody>
      </p:sp>
      <p:graphicFrame>
        <p:nvGraphicFramePr>
          <p:cNvPr id="26" name="Chart 0"/>
          <p:cNvGraphicFramePr/>
          <p:nvPr/>
        </p:nvGraphicFramePr>
        <p:xfrm>
          <a:off x="658368" y="2898648"/>
          <a:ext cx="393192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7" name="Shape 20"/>
          <p:cNvSpPr/>
          <p:nvPr/>
        </p:nvSpPr>
        <p:spPr>
          <a:xfrm>
            <a:off x="4892040" y="2514600"/>
            <a:ext cx="411480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CE7F8"/>
            </a:solidFill>
            <a:prstDash val="solid"/>
          </a:ln>
          <a:effectLst>
            <a:outerShdw blurRad="101600" dist="38100" dir="5400000" algn="bl" rotWithShape="0">
              <a:srgbClr val="17264D">
                <a:alpha val="10000"/>
              </a:srgbClr>
            </a:outerShdw>
          </a:effectLst>
        </p:spPr>
      </p:sp>
      <p:sp>
        <p:nvSpPr>
          <p:cNvPr id="28" name="Text 21"/>
          <p:cNvSpPr/>
          <p:nvPr/>
        </p:nvSpPr>
        <p:spPr>
          <a:xfrm>
            <a:off x="5120640" y="26243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6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Income vs Expense</a:t>
            </a:r>
            <a:endParaRPr lang="en-US" sz="1250" dirty="0"/>
          </a:p>
        </p:txBody>
      </p:sp>
      <p:graphicFrame>
        <p:nvGraphicFramePr>
          <p:cNvPr id="29" name="Chart 1"/>
          <p:cNvGraphicFramePr/>
          <p:nvPr/>
        </p:nvGraphicFramePr>
        <p:xfrm>
          <a:off x="5029200" y="2898648"/>
          <a:ext cx="384048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30" name="Shape 22"/>
          <p:cNvSpPr/>
          <p:nvPr/>
        </p:nvSpPr>
        <p:spPr>
          <a:xfrm>
            <a:off x="9281160" y="2514600"/>
            <a:ext cx="2359152" cy="3520440"/>
          </a:xfrm>
          <a:prstGeom prst="roundRect">
            <a:avLst>
              <a:gd name="adj" fmla="val 3876"/>
            </a:avLst>
          </a:prstGeom>
          <a:solidFill>
            <a:srgbClr val="17264D"/>
          </a:solidFill>
          <a:ln/>
        </p:spPr>
      </p:sp>
      <p:sp>
        <p:nvSpPr>
          <p:cNvPr id="31" name="Text 23"/>
          <p:cNvSpPr/>
          <p:nvPr/>
        </p:nvSpPr>
        <p:spPr>
          <a:xfrm>
            <a:off x="9482328" y="2752344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STATUS</a:t>
            </a:r>
            <a:endParaRPr lang="en-US" sz="1000" dirty="0"/>
          </a:p>
        </p:txBody>
      </p:sp>
      <p:sp>
        <p:nvSpPr>
          <p:cNvPr id="32" name="Text 24"/>
          <p:cNvSpPr/>
          <p:nvPr/>
        </p:nvSpPr>
        <p:spPr>
          <a:xfrm>
            <a:off x="9482328" y="3044952"/>
            <a:ext cx="19568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— 88% used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9482328" y="3355848"/>
            <a:ext cx="1956816" cy="182880"/>
          </a:xfrm>
          <a:prstGeom prst="roundRect">
            <a:avLst>
              <a:gd name="adj" fmla="val 50000"/>
            </a:avLst>
          </a:prstGeom>
          <a:solidFill>
            <a:srgbClr val="1E3260"/>
          </a:solidFill>
          <a:ln/>
        </p:spPr>
      </p:sp>
      <p:sp>
        <p:nvSpPr>
          <p:cNvPr id="34" name="Shape 26"/>
          <p:cNvSpPr/>
          <p:nvPr/>
        </p:nvSpPr>
        <p:spPr>
          <a:xfrm>
            <a:off x="9482328" y="3355848"/>
            <a:ext cx="1721998" cy="182880"/>
          </a:xfrm>
          <a:prstGeom prst="roundRect">
            <a:avLst>
              <a:gd name="adj" fmla="val 50000"/>
            </a:avLst>
          </a:prstGeom>
          <a:solidFill>
            <a:srgbClr val="E8B84B"/>
          </a:solidFill>
          <a:ln/>
        </p:spPr>
      </p:sp>
      <p:sp>
        <p:nvSpPr>
          <p:cNvPr id="35" name="Shape 27"/>
          <p:cNvSpPr/>
          <p:nvPr/>
        </p:nvSpPr>
        <p:spPr>
          <a:xfrm>
            <a:off x="11146536" y="2971800"/>
            <a:ext cx="310896" cy="310896"/>
          </a:xfrm>
          <a:prstGeom prst="ellipse">
            <a:avLst/>
          </a:prstGeom>
          <a:solidFill>
            <a:srgbClr val="E8B84B"/>
          </a:solidFill>
          <a:ln/>
        </p:spPr>
      </p:sp>
      <p:pic>
        <p:nvPicPr>
          <p:cNvPr id="36" name="Image 4" descr="/home/claude/pptx_proj/icons/warnin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77626" y="3002890"/>
            <a:ext cx="248717" cy="248717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9482328" y="3813048"/>
            <a:ext cx="1956816" cy="0"/>
          </a:xfrm>
          <a:prstGeom prst="line">
            <a:avLst/>
          </a:prstGeom>
          <a:noFill/>
          <a:ln w="12700">
            <a:solidFill>
              <a:srgbClr val="1E3260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9482328" y="3977640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GOAL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9482328" y="4270248"/>
            <a:ext cx="19568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Laptop — 65%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9482328" y="4581144"/>
            <a:ext cx="1956816" cy="182880"/>
          </a:xfrm>
          <a:prstGeom prst="roundRect">
            <a:avLst>
              <a:gd name="adj" fmla="val 50000"/>
            </a:avLst>
          </a:prstGeom>
          <a:solidFill>
            <a:srgbClr val="1E3260"/>
          </a:solidFill>
          <a:ln/>
        </p:spPr>
      </p:sp>
      <p:sp>
        <p:nvSpPr>
          <p:cNvPr id="41" name="Shape 32"/>
          <p:cNvSpPr/>
          <p:nvPr/>
        </p:nvSpPr>
        <p:spPr>
          <a:xfrm>
            <a:off x="9482328" y="4581144"/>
            <a:ext cx="1271930" cy="182880"/>
          </a:xfrm>
          <a:prstGeom prst="roundRect">
            <a:avLst>
              <a:gd name="adj" fmla="val 50000"/>
            </a:avLst>
          </a:prstGeom>
          <a:solidFill>
            <a:srgbClr val="1FAB89"/>
          </a:solidFill>
          <a:ln/>
        </p:spPr>
      </p:sp>
      <p:sp>
        <p:nvSpPr>
          <p:cNvPr id="42" name="Shape 33"/>
          <p:cNvSpPr/>
          <p:nvPr/>
        </p:nvSpPr>
        <p:spPr>
          <a:xfrm>
            <a:off x="9482328" y="5038344"/>
            <a:ext cx="1956816" cy="0"/>
          </a:xfrm>
          <a:prstGeom prst="line">
            <a:avLst/>
          </a:prstGeom>
          <a:noFill/>
          <a:ln w="12700">
            <a:solidFill>
              <a:srgbClr val="1E3260"/>
            </a:solidFill>
            <a:prstDash val="solid"/>
          </a:ln>
        </p:spPr>
      </p:sp>
      <p:sp>
        <p:nvSpPr>
          <p:cNvPr id="43" name="Text 34"/>
          <p:cNvSpPr/>
          <p:nvPr/>
        </p:nvSpPr>
        <p:spPr>
          <a:xfrm>
            <a:off x="9482328" y="5202936"/>
            <a:ext cx="19568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CE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transactions, category &amp; overall budgets, and goal tracking are all available live from the dashboard.</a:t>
            </a:r>
            <a:endParaRPr lang="en-US" sz="950" dirty="0"/>
          </a:p>
        </p:txBody>
      </p:sp>
      <p:sp>
        <p:nvSpPr>
          <p:cNvPr id="44" name="Text 3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Budget Tracker  |  C# · WPF · SQL Server</a:t>
            </a:r>
            <a:endParaRPr lang="en-US" sz="900" dirty="0"/>
          </a:p>
        </p:txBody>
      </p:sp>
      <p:sp>
        <p:nvSpPr>
          <p:cNvPr id="45" name="Text 36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FA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DATABASE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6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r>
              <a:rPr lang="en-US" sz="2700" b="1" dirty="0" smtClean="0">
                <a:solidFill>
                  <a:srgbClr val="1726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echnology and Database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42900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DCE7F8"/>
            </a:solidFill>
            <a:prstDash val="solid"/>
          </a:ln>
          <a:effectLst>
            <a:outerShdw blurRad="101600" dist="38100" dir="5400000" algn="bl" rotWithShape="0">
              <a:srgbClr val="17264D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82496"/>
            <a:ext cx="548640" cy="548640"/>
          </a:xfrm>
          <a:prstGeom prst="ellipse">
            <a:avLst/>
          </a:prstGeom>
          <a:solidFill>
            <a:srgbClr val="17264D"/>
          </a:solidFill>
          <a:ln/>
        </p:spPr>
      </p:sp>
      <p:pic>
        <p:nvPicPr>
          <p:cNvPr id="6" name="Image 0" descr="/home/claude/pptx_proj/icons/cshar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330" y="1759306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08176" y="1627632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6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C#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08176" y="196596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logic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160520" y="1508760"/>
            <a:ext cx="342900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DCE7F8"/>
            </a:solidFill>
            <a:prstDash val="solid"/>
          </a:ln>
          <a:effectLst>
            <a:outerShdw blurRad="101600" dist="38100" dir="5400000" algn="bl" rotWithShape="0">
              <a:srgbClr val="17264D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43400" y="1682496"/>
            <a:ext cx="548640" cy="548640"/>
          </a:xfrm>
          <a:prstGeom prst="ellipse">
            <a:avLst/>
          </a:prstGeom>
          <a:solidFill>
            <a:srgbClr val="17264D"/>
          </a:solidFill>
          <a:ln/>
        </p:spPr>
      </p:sp>
      <p:pic>
        <p:nvPicPr>
          <p:cNvPr id="11" name="Image 1" descr="/home/claude/pptx_proj/icons/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0210" y="1759306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0056" y="1627632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6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WPF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020056" y="196596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user interface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772400" y="1508760"/>
            <a:ext cx="342900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DCE7F8"/>
            </a:solidFill>
            <a:prstDash val="solid"/>
          </a:ln>
          <a:effectLst>
            <a:outerShdw blurRad="101600" dist="38100" dir="5400000" algn="bl" rotWithShape="0">
              <a:srgbClr val="17264D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955280" y="1682496"/>
            <a:ext cx="548640" cy="548640"/>
          </a:xfrm>
          <a:prstGeom prst="ellipse">
            <a:avLst/>
          </a:prstGeom>
          <a:solidFill>
            <a:srgbClr val="17264D"/>
          </a:solidFill>
          <a:ln/>
        </p:spPr>
      </p:sp>
      <p:pic>
        <p:nvPicPr>
          <p:cNvPr id="16" name="Image 2" descr="/home/claude/pptx_proj/icons/ser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2090" y="1759306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31936" y="1627632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6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Server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631936" y="196596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548640" y="26060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ARCHITECTURE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2971800"/>
            <a:ext cx="23317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7F8"/>
            </a:solidFill>
            <a:prstDash val="solid"/>
          </a:ln>
          <a:effectLst>
            <a:outerShdw blurRad="101600" dist="38100" dir="5400000" algn="bl" rotWithShape="0">
              <a:srgbClr val="17264D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449324" y="3099816"/>
            <a:ext cx="530352" cy="530352"/>
          </a:xfrm>
          <a:prstGeom prst="ellipse">
            <a:avLst/>
          </a:prstGeom>
          <a:solidFill>
            <a:srgbClr val="17264D"/>
          </a:solidFill>
          <a:ln/>
        </p:spPr>
      </p:sp>
      <p:pic>
        <p:nvPicPr>
          <p:cNvPr id="22" name="Image 3" descr="/home/claude/pptx_proj/icons/us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3573" y="3174065"/>
            <a:ext cx="381853" cy="38185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" y="3666744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2985516" y="3351276"/>
            <a:ext cx="292608" cy="292608"/>
          </a:xfrm>
          <a:prstGeom prst="ellipse">
            <a:avLst/>
          </a:prstGeom>
          <a:solidFill>
            <a:srgbClr val="1FAB89"/>
          </a:solidFill>
          <a:ln/>
        </p:spPr>
      </p:sp>
      <p:pic>
        <p:nvPicPr>
          <p:cNvPr id="25" name="Image 4" descr="/home/claude/pptx_proj/icons/arrowrigh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20629" y="3386389"/>
            <a:ext cx="222382" cy="222382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3383280" y="2971800"/>
            <a:ext cx="23317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7F8"/>
            </a:solidFill>
            <a:prstDash val="solid"/>
          </a:ln>
          <a:effectLst>
            <a:outerShdw blurRad="101600" dist="38100" dir="5400000" algn="bl" rotWithShape="0">
              <a:srgbClr val="17264D">
                <a:alpha val="10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283964" y="3099816"/>
            <a:ext cx="530352" cy="530352"/>
          </a:xfrm>
          <a:prstGeom prst="ellipse">
            <a:avLst/>
          </a:prstGeom>
          <a:solidFill>
            <a:srgbClr val="17264D"/>
          </a:solidFill>
          <a:ln/>
        </p:spPr>
      </p:sp>
      <p:pic>
        <p:nvPicPr>
          <p:cNvPr id="28" name="Image 5" descr="/home/claude/pptx_proj/icons/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8213" y="3174065"/>
            <a:ext cx="381853" cy="381853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3383280" y="3666744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WPF UI</a:t>
            </a:r>
            <a:endParaRPr lang="en-US" sz="1150" dirty="0"/>
          </a:p>
        </p:txBody>
      </p:sp>
      <p:sp>
        <p:nvSpPr>
          <p:cNvPr id="30" name="Shape 22"/>
          <p:cNvSpPr/>
          <p:nvPr/>
        </p:nvSpPr>
        <p:spPr>
          <a:xfrm>
            <a:off x="5820156" y="3351276"/>
            <a:ext cx="292608" cy="292608"/>
          </a:xfrm>
          <a:prstGeom prst="ellipse">
            <a:avLst/>
          </a:prstGeom>
          <a:solidFill>
            <a:srgbClr val="1FAB89"/>
          </a:solidFill>
          <a:ln/>
        </p:spPr>
      </p:sp>
      <p:pic>
        <p:nvPicPr>
          <p:cNvPr id="31" name="Image 6" descr="/home/claude/pptx_proj/icons/arrowrigh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5269" y="3386389"/>
            <a:ext cx="222382" cy="222382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6217920" y="2971800"/>
            <a:ext cx="23317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7F8"/>
            </a:solidFill>
            <a:prstDash val="solid"/>
          </a:ln>
          <a:effectLst>
            <a:outerShdw blurRad="101600" dist="38100" dir="5400000" algn="bl" rotWithShape="0">
              <a:srgbClr val="17264D">
                <a:alpha val="10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7118604" y="3099816"/>
            <a:ext cx="530352" cy="530352"/>
          </a:xfrm>
          <a:prstGeom prst="ellipse">
            <a:avLst/>
          </a:prstGeom>
          <a:solidFill>
            <a:srgbClr val="17264D"/>
          </a:solidFill>
          <a:ln/>
        </p:spPr>
      </p:sp>
      <p:pic>
        <p:nvPicPr>
          <p:cNvPr id="34" name="Image 7" descr="/home/claude/pptx_proj/icons/cshar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2853" y="3174065"/>
            <a:ext cx="381853" cy="381853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6217920" y="3666744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App Logic</a:t>
            </a:r>
            <a:endParaRPr lang="en-US" sz="1150" dirty="0"/>
          </a:p>
        </p:txBody>
      </p:sp>
      <p:sp>
        <p:nvSpPr>
          <p:cNvPr id="36" name="Shape 26"/>
          <p:cNvSpPr/>
          <p:nvPr/>
        </p:nvSpPr>
        <p:spPr>
          <a:xfrm>
            <a:off x="8654796" y="3351276"/>
            <a:ext cx="292608" cy="292608"/>
          </a:xfrm>
          <a:prstGeom prst="ellipse">
            <a:avLst/>
          </a:prstGeom>
          <a:solidFill>
            <a:srgbClr val="1FAB89"/>
          </a:solidFill>
          <a:ln/>
        </p:spPr>
      </p:sp>
      <p:pic>
        <p:nvPicPr>
          <p:cNvPr id="37" name="Image 8" descr="/home/claude/pptx_proj/icons/arrowrigh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9909" y="3386389"/>
            <a:ext cx="222382" cy="222382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9052560" y="2971800"/>
            <a:ext cx="2331720" cy="1051560"/>
          </a:xfrm>
          <a:prstGeom prst="roundRect">
            <a:avLst>
              <a:gd name="adj" fmla="val 8696"/>
            </a:avLst>
          </a:prstGeom>
          <a:solidFill>
            <a:srgbClr val="17264D"/>
          </a:solidFill>
          <a:ln w="12700">
            <a:solidFill>
              <a:srgbClr val="DCE7F8"/>
            </a:solidFill>
            <a:prstDash val="solid"/>
          </a:ln>
          <a:effectLst>
            <a:outerShdw blurRad="101600" dist="38100" dir="5400000" algn="bl" rotWithShape="0">
              <a:srgbClr val="17264D">
                <a:alpha val="10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9953244" y="3099816"/>
            <a:ext cx="530352" cy="530352"/>
          </a:xfrm>
          <a:prstGeom prst="ellipse">
            <a:avLst/>
          </a:prstGeom>
          <a:solidFill>
            <a:srgbClr val="E8B84B"/>
          </a:solidFill>
          <a:ln/>
        </p:spPr>
      </p:sp>
      <p:pic>
        <p:nvPicPr>
          <p:cNvPr id="40" name="Image 9" descr="/home/claude/pptx_proj/icons/ser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7493" y="3174065"/>
            <a:ext cx="381853" cy="381853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9052560" y="3666744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150" dirty="0"/>
          </a:p>
        </p:txBody>
      </p:sp>
      <p:sp>
        <p:nvSpPr>
          <p:cNvPr id="42" name="Text 30"/>
          <p:cNvSpPr/>
          <p:nvPr/>
        </p:nvSpPr>
        <p:spPr>
          <a:xfrm>
            <a:off x="548640" y="44348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1050" dirty="0"/>
          </a:p>
        </p:txBody>
      </p:sp>
      <p:sp>
        <p:nvSpPr>
          <p:cNvPr id="43" name="Shape 31"/>
          <p:cNvSpPr/>
          <p:nvPr/>
        </p:nvSpPr>
        <p:spPr>
          <a:xfrm>
            <a:off x="548640" y="4736592"/>
            <a:ext cx="1115568" cy="457200"/>
          </a:xfrm>
          <a:prstGeom prst="roundRect">
            <a:avLst>
              <a:gd name="adj" fmla="val 50000"/>
            </a:avLst>
          </a:prstGeom>
          <a:solidFill>
            <a:srgbClr val="17264D"/>
          </a:solidFill>
          <a:ln/>
        </p:spPr>
      </p:sp>
      <p:pic>
        <p:nvPicPr>
          <p:cNvPr id="44" name="Image 10" descr="/home/claude/pptx_proj/icons/tab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656" y="4846320"/>
            <a:ext cx="237744" cy="237744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950976" y="4736592"/>
            <a:ext cx="658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50" dirty="0"/>
          </a:p>
        </p:txBody>
      </p:sp>
      <p:sp>
        <p:nvSpPr>
          <p:cNvPr id="46" name="Shape 33"/>
          <p:cNvSpPr/>
          <p:nvPr/>
        </p:nvSpPr>
        <p:spPr>
          <a:xfrm>
            <a:off x="1828800" y="4736592"/>
            <a:ext cx="1216152" cy="457200"/>
          </a:xfrm>
          <a:prstGeom prst="roundRect">
            <a:avLst>
              <a:gd name="adj" fmla="val 50000"/>
            </a:avLst>
          </a:prstGeom>
          <a:solidFill>
            <a:srgbClr val="17264D"/>
          </a:solidFill>
          <a:ln/>
        </p:spPr>
      </p:sp>
      <p:pic>
        <p:nvPicPr>
          <p:cNvPr id="47" name="Image 11" descr="/home/claude/pptx_proj/icons/tab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56816" y="4846320"/>
            <a:ext cx="237744" cy="237744"/>
          </a:xfrm>
          <a:prstGeom prst="rect">
            <a:avLst/>
          </a:prstGeom>
        </p:spPr>
      </p:pic>
      <p:sp>
        <p:nvSpPr>
          <p:cNvPr id="48" name="Text 34"/>
          <p:cNvSpPr/>
          <p:nvPr/>
        </p:nvSpPr>
        <p:spPr>
          <a:xfrm>
            <a:off x="2231136" y="4736592"/>
            <a:ext cx="75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1150" dirty="0"/>
          </a:p>
        </p:txBody>
      </p:sp>
      <p:sp>
        <p:nvSpPr>
          <p:cNvPr id="49" name="Shape 35"/>
          <p:cNvSpPr/>
          <p:nvPr/>
        </p:nvSpPr>
        <p:spPr>
          <a:xfrm>
            <a:off x="3209544" y="4736592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17264D"/>
          </a:solidFill>
          <a:ln/>
        </p:spPr>
      </p:sp>
      <p:pic>
        <p:nvPicPr>
          <p:cNvPr id="50" name="Image 12" descr="/home/claude/pptx_proj/icons/tab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37560" y="4846320"/>
            <a:ext cx="237744" cy="237744"/>
          </a:xfrm>
          <a:prstGeom prst="rect">
            <a:avLst/>
          </a:prstGeom>
        </p:spPr>
      </p:pic>
      <p:sp>
        <p:nvSpPr>
          <p:cNvPr id="51" name="Text 36"/>
          <p:cNvSpPr/>
          <p:nvPr/>
        </p:nvSpPr>
        <p:spPr>
          <a:xfrm>
            <a:off x="3611880" y="4736592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</a:t>
            </a:r>
            <a:endParaRPr lang="en-US" sz="1150" dirty="0"/>
          </a:p>
        </p:txBody>
      </p:sp>
      <p:sp>
        <p:nvSpPr>
          <p:cNvPr id="52" name="Shape 37"/>
          <p:cNvSpPr/>
          <p:nvPr/>
        </p:nvSpPr>
        <p:spPr>
          <a:xfrm>
            <a:off x="4791456" y="4736592"/>
            <a:ext cx="1316736" cy="457200"/>
          </a:xfrm>
          <a:prstGeom prst="roundRect">
            <a:avLst>
              <a:gd name="adj" fmla="val 50000"/>
            </a:avLst>
          </a:prstGeom>
          <a:solidFill>
            <a:srgbClr val="17264D"/>
          </a:solidFill>
          <a:ln/>
        </p:spPr>
      </p:sp>
      <p:pic>
        <p:nvPicPr>
          <p:cNvPr id="53" name="Image 13" descr="/home/claude/pptx_proj/icons/tab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9472" y="4846320"/>
            <a:ext cx="237744" cy="237744"/>
          </a:xfrm>
          <a:prstGeom prst="rect">
            <a:avLst/>
          </a:prstGeom>
        </p:spPr>
      </p:pic>
      <p:sp>
        <p:nvSpPr>
          <p:cNvPr id="54" name="Text 38"/>
          <p:cNvSpPr/>
          <p:nvPr/>
        </p:nvSpPr>
        <p:spPr>
          <a:xfrm>
            <a:off x="5193792" y="4736592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</a:t>
            </a:r>
            <a:endParaRPr lang="en-US" sz="1150" dirty="0"/>
          </a:p>
        </p:txBody>
      </p:sp>
      <p:sp>
        <p:nvSpPr>
          <p:cNvPr id="55" name="Shape 39"/>
          <p:cNvSpPr/>
          <p:nvPr/>
        </p:nvSpPr>
        <p:spPr>
          <a:xfrm>
            <a:off x="6272784" y="4736592"/>
            <a:ext cx="1819656" cy="457200"/>
          </a:xfrm>
          <a:prstGeom prst="roundRect">
            <a:avLst>
              <a:gd name="adj" fmla="val 50000"/>
            </a:avLst>
          </a:prstGeom>
          <a:solidFill>
            <a:srgbClr val="17264D"/>
          </a:solidFill>
          <a:ln/>
        </p:spPr>
      </p:sp>
      <p:pic>
        <p:nvPicPr>
          <p:cNvPr id="56" name="Image 14" descr="/home/claude/pptx_proj/icons/tab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4846320"/>
            <a:ext cx="237744" cy="237744"/>
          </a:xfrm>
          <a:prstGeom prst="rect">
            <a:avLst/>
          </a:prstGeom>
        </p:spPr>
      </p:pic>
      <p:sp>
        <p:nvSpPr>
          <p:cNvPr id="57" name="Text 40"/>
          <p:cNvSpPr/>
          <p:nvPr/>
        </p:nvSpPr>
        <p:spPr>
          <a:xfrm>
            <a:off x="6675120" y="4736592"/>
            <a:ext cx="1362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SavingsGoals</a:t>
            </a:r>
            <a:endParaRPr lang="en-US" sz="1150" dirty="0"/>
          </a:p>
        </p:txBody>
      </p:sp>
      <p:sp>
        <p:nvSpPr>
          <p:cNvPr id="58" name="Text 41"/>
          <p:cNvSpPr/>
          <p:nvPr/>
        </p:nvSpPr>
        <p:spPr>
          <a:xfrm>
            <a:off x="548640" y="53949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PRACTICES</a:t>
            </a:r>
            <a:endParaRPr lang="en-US" sz="1050" dirty="0"/>
          </a:p>
        </p:txBody>
      </p:sp>
      <p:sp>
        <p:nvSpPr>
          <p:cNvPr id="59" name="Shape 42"/>
          <p:cNvSpPr/>
          <p:nvPr/>
        </p:nvSpPr>
        <p:spPr>
          <a:xfrm>
            <a:off x="1429482" y="5687568"/>
            <a:ext cx="365760" cy="365760"/>
          </a:xfrm>
          <a:prstGeom prst="ellipse">
            <a:avLst/>
          </a:prstGeom>
          <a:solidFill>
            <a:srgbClr val="1FAB89"/>
          </a:solidFill>
          <a:ln/>
        </p:spPr>
      </p:sp>
      <p:pic>
        <p:nvPicPr>
          <p:cNvPr id="60" name="Image 15" descr="/home/claude/pptx_proj/icons/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3373" y="5731459"/>
            <a:ext cx="277978" cy="277978"/>
          </a:xfrm>
          <a:prstGeom prst="rect">
            <a:avLst/>
          </a:prstGeom>
        </p:spPr>
      </p:pic>
      <p:sp>
        <p:nvSpPr>
          <p:cNvPr id="61" name="Text 43"/>
          <p:cNvSpPr/>
          <p:nvPr/>
        </p:nvSpPr>
        <p:spPr>
          <a:xfrm>
            <a:off x="548640" y="6108192"/>
            <a:ext cx="21091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7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Design</a:t>
            </a:r>
            <a:endParaRPr lang="en-US" sz="900" dirty="0"/>
          </a:p>
        </p:txBody>
      </p:sp>
      <p:sp>
        <p:nvSpPr>
          <p:cNvPr id="62" name="Shape 44"/>
          <p:cNvSpPr/>
          <p:nvPr/>
        </p:nvSpPr>
        <p:spPr>
          <a:xfrm>
            <a:off x="3675797" y="5687568"/>
            <a:ext cx="365760" cy="365760"/>
          </a:xfrm>
          <a:prstGeom prst="ellipse">
            <a:avLst/>
          </a:prstGeom>
          <a:solidFill>
            <a:srgbClr val="1FAB89"/>
          </a:solidFill>
          <a:ln/>
        </p:spPr>
      </p:sp>
      <p:pic>
        <p:nvPicPr>
          <p:cNvPr id="63" name="Image 16" descr="/home/claude/pptx_proj/icons/ke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19688" y="5731459"/>
            <a:ext cx="277978" cy="277978"/>
          </a:xfrm>
          <a:prstGeom prst="rect">
            <a:avLst/>
          </a:prstGeom>
        </p:spPr>
      </p:pic>
      <p:sp>
        <p:nvSpPr>
          <p:cNvPr id="64" name="Text 45"/>
          <p:cNvSpPr/>
          <p:nvPr/>
        </p:nvSpPr>
        <p:spPr>
          <a:xfrm>
            <a:off x="2794955" y="6108192"/>
            <a:ext cx="21091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7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</a:t>
            </a:r>
            <a:endParaRPr lang="en-US" sz="900" dirty="0"/>
          </a:p>
        </p:txBody>
      </p:sp>
      <p:sp>
        <p:nvSpPr>
          <p:cNvPr id="65" name="Shape 46"/>
          <p:cNvSpPr/>
          <p:nvPr/>
        </p:nvSpPr>
        <p:spPr>
          <a:xfrm>
            <a:off x="5922112" y="5687568"/>
            <a:ext cx="365760" cy="365760"/>
          </a:xfrm>
          <a:prstGeom prst="ellipse">
            <a:avLst/>
          </a:prstGeom>
          <a:solidFill>
            <a:srgbClr val="1FAB89"/>
          </a:solidFill>
          <a:ln/>
        </p:spPr>
      </p:sp>
      <p:pic>
        <p:nvPicPr>
          <p:cNvPr id="66" name="Image 17" descr="/home/claude/pptx_proj/icons/che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66003" y="5731459"/>
            <a:ext cx="277978" cy="277978"/>
          </a:xfrm>
          <a:prstGeom prst="rect">
            <a:avLst/>
          </a:prstGeom>
        </p:spPr>
      </p:pic>
      <p:sp>
        <p:nvSpPr>
          <p:cNvPr id="67" name="Text 47"/>
          <p:cNvSpPr/>
          <p:nvPr/>
        </p:nvSpPr>
        <p:spPr>
          <a:xfrm>
            <a:off x="5041270" y="6108192"/>
            <a:ext cx="21091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7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900" dirty="0"/>
          </a:p>
        </p:txBody>
      </p:sp>
      <p:sp>
        <p:nvSpPr>
          <p:cNvPr id="68" name="Shape 48"/>
          <p:cNvSpPr/>
          <p:nvPr/>
        </p:nvSpPr>
        <p:spPr>
          <a:xfrm>
            <a:off x="8168427" y="5687568"/>
            <a:ext cx="365760" cy="365760"/>
          </a:xfrm>
          <a:prstGeom prst="ellipse">
            <a:avLst/>
          </a:prstGeom>
          <a:solidFill>
            <a:srgbClr val="1FAB89"/>
          </a:solidFill>
          <a:ln/>
        </p:spPr>
      </p:sp>
      <p:pic>
        <p:nvPicPr>
          <p:cNvPr id="69" name="Image 18" descr="/home/claude/pptx_proj/icons/shiel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12318" y="5731459"/>
            <a:ext cx="277978" cy="277978"/>
          </a:xfrm>
          <a:prstGeom prst="rect">
            <a:avLst/>
          </a:prstGeom>
        </p:spPr>
      </p:pic>
      <p:sp>
        <p:nvSpPr>
          <p:cNvPr id="70" name="Text 49"/>
          <p:cNvSpPr/>
          <p:nvPr/>
        </p:nvSpPr>
        <p:spPr>
          <a:xfrm>
            <a:off x="7287585" y="6108192"/>
            <a:ext cx="21091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7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Queries</a:t>
            </a:r>
            <a:endParaRPr lang="en-US" sz="900" dirty="0"/>
          </a:p>
        </p:txBody>
      </p:sp>
      <p:sp>
        <p:nvSpPr>
          <p:cNvPr id="71" name="Shape 50"/>
          <p:cNvSpPr/>
          <p:nvPr/>
        </p:nvSpPr>
        <p:spPr>
          <a:xfrm>
            <a:off x="10414742" y="5687568"/>
            <a:ext cx="365760" cy="365760"/>
          </a:xfrm>
          <a:prstGeom prst="ellipse">
            <a:avLst/>
          </a:prstGeom>
          <a:solidFill>
            <a:srgbClr val="1FAB89"/>
          </a:solidFill>
          <a:ln/>
        </p:spPr>
      </p:sp>
      <p:pic>
        <p:nvPicPr>
          <p:cNvPr id="72" name="Image 19" descr="/home/claude/pptx_proj/icons/warning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58633" y="5731459"/>
            <a:ext cx="277978" cy="277978"/>
          </a:xfrm>
          <a:prstGeom prst="rect">
            <a:avLst/>
          </a:prstGeom>
        </p:spPr>
      </p:pic>
      <p:sp>
        <p:nvSpPr>
          <p:cNvPr id="73" name="Text 51"/>
          <p:cNvSpPr/>
          <p:nvPr/>
        </p:nvSpPr>
        <p:spPr>
          <a:xfrm>
            <a:off x="9533900" y="6108192"/>
            <a:ext cx="21091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7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900" dirty="0"/>
          </a:p>
        </p:txBody>
      </p:sp>
      <p:sp>
        <p:nvSpPr>
          <p:cNvPr id="74" name="Text 5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Budget Tracker  |  C# · WPF · SQL Server</a:t>
            </a:r>
            <a:endParaRPr lang="en-US" sz="900" dirty="0"/>
          </a:p>
        </p:txBody>
      </p:sp>
      <p:sp>
        <p:nvSpPr>
          <p:cNvPr id="75" name="Text 53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26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206240" cy="4206240"/>
          </a:xfrm>
          <a:prstGeom prst="ellipse">
            <a:avLst/>
          </a:prstGeom>
          <a:solidFill>
            <a:srgbClr val="1E3260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754880"/>
            <a:ext cx="3291840" cy="3291840"/>
          </a:xfrm>
          <a:prstGeom prst="ellipse">
            <a:avLst/>
          </a:prstGeom>
          <a:solidFill>
            <a:srgbClr val="1E326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Wrapping Up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FA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349240" cy="932688"/>
          </a:xfrm>
          <a:prstGeom prst="roundRect">
            <a:avLst>
              <a:gd name="adj" fmla="val 9804"/>
            </a:avLst>
          </a:prstGeom>
          <a:solidFill>
            <a:srgbClr val="1E3260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2368296"/>
            <a:ext cx="475488" cy="475488"/>
          </a:xfrm>
          <a:prstGeom prst="ellipse">
            <a:avLst/>
          </a:prstGeom>
          <a:solidFill>
            <a:srgbClr val="1FAB89"/>
          </a:solidFill>
          <a:ln/>
        </p:spPr>
      </p:sp>
      <p:pic>
        <p:nvPicPr>
          <p:cNvPr id="9" name="Image 0" descr="/home/claude/pptx_proj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579" y="2425355"/>
            <a:ext cx="361371" cy="36137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89888" y="2276856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CE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simple and organized way to manage personal finances.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3227832"/>
            <a:ext cx="5349240" cy="932688"/>
          </a:xfrm>
          <a:prstGeom prst="roundRect">
            <a:avLst>
              <a:gd name="adj" fmla="val 9804"/>
            </a:avLst>
          </a:prstGeom>
          <a:solidFill>
            <a:srgbClr val="1E3260"/>
          </a:solidFill>
          <a:ln/>
        </p:spPr>
      </p:sp>
      <p:sp>
        <p:nvSpPr>
          <p:cNvPr id="12" name="Shape 9"/>
          <p:cNvSpPr/>
          <p:nvPr/>
        </p:nvSpPr>
        <p:spPr>
          <a:xfrm>
            <a:off x="731520" y="3447288"/>
            <a:ext cx="475488" cy="475488"/>
          </a:xfrm>
          <a:prstGeom prst="ellipse">
            <a:avLst/>
          </a:prstGeom>
          <a:solidFill>
            <a:srgbClr val="1FAB89"/>
          </a:solidFill>
          <a:ln/>
        </p:spPr>
      </p:sp>
      <p:pic>
        <p:nvPicPr>
          <p:cNvPr id="13" name="Image 1" descr="/home/claude/pptx_proj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579" y="3504347"/>
            <a:ext cx="361371" cy="36137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89888" y="3355848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CE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users control spending, budgets and savings.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306824"/>
            <a:ext cx="5349240" cy="932688"/>
          </a:xfrm>
          <a:prstGeom prst="roundRect">
            <a:avLst>
              <a:gd name="adj" fmla="val 9804"/>
            </a:avLst>
          </a:prstGeom>
          <a:solidFill>
            <a:srgbClr val="1E3260"/>
          </a:solidFill>
          <a:ln/>
        </p:spPr>
      </p:sp>
      <p:sp>
        <p:nvSpPr>
          <p:cNvPr id="16" name="Shape 12"/>
          <p:cNvSpPr/>
          <p:nvPr/>
        </p:nvSpPr>
        <p:spPr>
          <a:xfrm>
            <a:off x="731520" y="4526280"/>
            <a:ext cx="475488" cy="475488"/>
          </a:xfrm>
          <a:prstGeom prst="ellipse">
            <a:avLst/>
          </a:prstGeom>
          <a:solidFill>
            <a:srgbClr val="1FAB89"/>
          </a:solidFill>
          <a:ln/>
        </p:spPr>
      </p:sp>
      <p:pic>
        <p:nvPicPr>
          <p:cNvPr id="17" name="Image 2" descr="/home/claude/pptx_proj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579" y="4583339"/>
            <a:ext cx="361371" cy="36137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89888" y="443484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CE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useful charts and reports for financial analysis.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263640" y="16916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263640" y="214884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1E3260"/>
          </a:solidFill>
          <a:ln/>
        </p:spPr>
      </p:sp>
      <p:sp>
        <p:nvSpPr>
          <p:cNvPr id="21" name="Shape 16"/>
          <p:cNvSpPr/>
          <p:nvPr/>
        </p:nvSpPr>
        <p:spPr>
          <a:xfrm>
            <a:off x="6464808" y="2350008"/>
            <a:ext cx="512064" cy="512064"/>
          </a:xfrm>
          <a:prstGeom prst="ellipse">
            <a:avLst/>
          </a:prstGeom>
          <a:solidFill>
            <a:srgbClr val="E8B84B"/>
          </a:solidFill>
          <a:ln/>
        </p:spPr>
      </p:sp>
      <p:pic>
        <p:nvPicPr>
          <p:cNvPr id="22" name="Image 3" descr="/home/claude/pptx_proj/icons/mob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6497" y="2421697"/>
            <a:ext cx="368686" cy="36868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464808" y="2971800"/>
            <a:ext cx="22037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Application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6464808" y="3337560"/>
            <a:ext cx="22037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CE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app for on-the-go tracking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9052560" y="214884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1E3260"/>
          </a:solidFill>
          <a:ln/>
        </p:spPr>
      </p:sp>
      <p:sp>
        <p:nvSpPr>
          <p:cNvPr id="26" name="Shape 20"/>
          <p:cNvSpPr/>
          <p:nvPr/>
        </p:nvSpPr>
        <p:spPr>
          <a:xfrm>
            <a:off x="9253728" y="2350008"/>
            <a:ext cx="512064" cy="512064"/>
          </a:xfrm>
          <a:prstGeom prst="ellipse">
            <a:avLst/>
          </a:prstGeom>
          <a:solidFill>
            <a:srgbClr val="E8B84B"/>
          </a:solidFill>
          <a:ln/>
        </p:spPr>
      </p:sp>
      <p:pic>
        <p:nvPicPr>
          <p:cNvPr id="27" name="Image 4" descr="/home/claude/pptx_proj/icons/clou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5417" y="2421697"/>
            <a:ext cx="368686" cy="36868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253728" y="2971800"/>
            <a:ext cx="22037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Synchronization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9253728" y="3337560"/>
            <a:ext cx="22037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CE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data securely across devices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6263640" y="393192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1E3260"/>
          </a:solidFill>
          <a:ln/>
        </p:spPr>
      </p:sp>
      <p:sp>
        <p:nvSpPr>
          <p:cNvPr id="31" name="Shape 24"/>
          <p:cNvSpPr/>
          <p:nvPr/>
        </p:nvSpPr>
        <p:spPr>
          <a:xfrm>
            <a:off x="6464808" y="4133088"/>
            <a:ext cx="512064" cy="512064"/>
          </a:xfrm>
          <a:prstGeom prst="ellipse">
            <a:avLst/>
          </a:prstGeom>
          <a:solidFill>
            <a:srgbClr val="E8B84B"/>
          </a:solidFill>
          <a:ln/>
        </p:spPr>
      </p:sp>
      <p:pic>
        <p:nvPicPr>
          <p:cNvPr id="32" name="Image 5" descr="/home/claude/pptx_proj/icons/br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6497" y="4204777"/>
            <a:ext cx="368686" cy="36868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464808" y="4754880"/>
            <a:ext cx="22037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Insights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6464808" y="5120640"/>
            <a:ext cx="22037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CE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Smarter, predictive financial analysis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9052560" y="393192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1E3260"/>
          </a:solidFill>
          <a:ln/>
        </p:spPr>
      </p:sp>
      <p:sp>
        <p:nvSpPr>
          <p:cNvPr id="36" name="Shape 28"/>
          <p:cNvSpPr/>
          <p:nvPr/>
        </p:nvSpPr>
        <p:spPr>
          <a:xfrm>
            <a:off x="9253728" y="4133088"/>
            <a:ext cx="512064" cy="512064"/>
          </a:xfrm>
          <a:prstGeom prst="ellipse">
            <a:avLst/>
          </a:prstGeom>
          <a:solidFill>
            <a:srgbClr val="E8B84B"/>
          </a:solidFill>
          <a:ln/>
        </p:spPr>
      </p:sp>
      <p:pic>
        <p:nvPicPr>
          <p:cNvPr id="37" name="Image 6" descr="/home/claude/pptx_proj/icons/bel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5417" y="4204777"/>
            <a:ext cx="368686" cy="368686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9253728" y="4754880"/>
            <a:ext cx="22037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Notifications &amp; Reminders</a:t>
            </a:r>
            <a:endParaRPr lang="en-US" sz="1250" dirty="0"/>
          </a:p>
        </p:txBody>
      </p:sp>
      <p:sp>
        <p:nvSpPr>
          <p:cNvPr id="39" name="Text 30"/>
          <p:cNvSpPr/>
          <p:nvPr/>
        </p:nvSpPr>
        <p:spPr>
          <a:xfrm>
            <a:off x="9253728" y="5120640"/>
            <a:ext cx="22037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CE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Timely alerts for bills and budgets</a:t>
            </a:r>
            <a:endParaRPr lang="en-US" sz="950" dirty="0"/>
          </a:p>
        </p:txBody>
      </p:sp>
      <p:sp>
        <p:nvSpPr>
          <p:cNvPr id="40" name="Text 31"/>
          <p:cNvSpPr/>
          <p:nvPr/>
        </p:nvSpPr>
        <p:spPr>
          <a:xfrm>
            <a:off x="548640" y="6172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470</Words>
  <Application>Microsoft Office PowerPoint</Application>
  <PresentationFormat>Widescreen</PresentationFormat>
  <Paragraphs>124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account</cp:lastModifiedBy>
  <cp:revision>3</cp:revision>
  <dcterms:created xsi:type="dcterms:W3CDTF">2026-09-05T04:40:24Z</dcterms:created>
  <dcterms:modified xsi:type="dcterms:W3CDTF">2026-09-06T00:42:33Z</dcterms:modified>
</cp:coreProperties>
</file>