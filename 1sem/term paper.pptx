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56" r:id="rId2"/>
    <p:sldId id="270" r:id="rId3"/>
    <p:sldId id="257" r:id="rId4"/>
    <p:sldId id="263" r:id="rId5"/>
    <p:sldId id="265" r:id="rId6"/>
    <p:sldId id="258" r:id="rId7"/>
    <p:sldId id="259" r:id="rId8"/>
    <p:sldId id="266" r:id="rId9"/>
    <p:sldId id="260" r:id="rId10"/>
    <p:sldId id="267" r:id="rId11"/>
    <p:sldId id="262"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02AE64-E034-4CDC-ABB8-B04A217C1E19}" type="datetimeFigureOut">
              <a:rPr lang="en-US" smtClean="0"/>
              <a:t>6/10/2024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5512D0-C21C-40E1-9671-0085C7470CFE}" type="slidenum">
              <a:rPr lang="en-US" smtClean="0"/>
              <a:t>‹#›</a:t>
            </a:fld>
            <a:endParaRPr lang="en-US"/>
          </a:p>
        </p:txBody>
      </p:sp>
    </p:spTree>
    <p:extLst>
      <p:ext uri="{BB962C8B-B14F-4D97-AF65-F5344CB8AC3E}">
        <p14:creationId xmlns:p14="http://schemas.microsoft.com/office/powerpoint/2010/main" val="3047513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5549EF13-96E9-43B2-8DF8-D520CD9F7D70}" type="datetimeFigureOut">
              <a:rPr lang="en-US" smtClean="0"/>
              <a:t>6/10/2024</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9D82761-59B6-4AC1-866D-79FD9E0EFDEF}" type="slidenum">
              <a:rPr lang="en-US" smtClean="0"/>
              <a:t>‹#›</a:t>
            </a:fld>
            <a:endParaRPr lang="en-US"/>
          </a:p>
        </p:txBody>
      </p:sp>
    </p:spTree>
    <p:extLst>
      <p:ext uri="{BB962C8B-B14F-4D97-AF65-F5344CB8AC3E}">
        <p14:creationId xmlns:p14="http://schemas.microsoft.com/office/powerpoint/2010/main" val="34264561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49EF13-96E9-43B2-8DF8-D520CD9F7D70}" type="datetimeFigureOut">
              <a:rPr lang="en-US" smtClean="0"/>
              <a:t>6/10/2024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73640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5549EF13-96E9-43B2-8DF8-D520CD9F7D70}" type="datetimeFigureOut">
              <a:rPr lang="en-US" smtClean="0"/>
              <a:t>6/10/2024</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160598862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549EF13-96E9-43B2-8DF8-D520CD9F7D70}"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3457090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49EF13-96E9-43B2-8DF8-D520CD9F7D70}" type="datetimeFigureOut">
              <a:rPr lang="en-US" smtClean="0"/>
              <a:t>6/10/2024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3584335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49EF13-96E9-43B2-8DF8-D520CD9F7D70}" type="datetimeFigureOut">
              <a:rPr lang="en-US" smtClean="0"/>
              <a:t>6/10/2024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1653522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49EF13-96E9-43B2-8DF8-D520CD9F7D70}" type="datetimeFigureOut">
              <a:rPr lang="en-US" smtClean="0"/>
              <a:t>6/10/2024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718992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5549EF13-96E9-43B2-8DF8-D520CD9F7D70}" type="datetimeFigureOut">
              <a:rPr lang="en-US" smtClean="0"/>
              <a:t>6/10/2024</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9D82761-59B6-4AC1-866D-79FD9E0EFDEF}"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87879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549EF13-96E9-43B2-8DF8-D520CD9F7D70}" type="datetimeFigureOut">
              <a:rPr lang="en-US" smtClean="0"/>
              <a:t>6/10/2024</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9D82761-59B6-4AC1-866D-79FD9E0EFDEF}"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47170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49EF13-96E9-43B2-8DF8-D520CD9F7D70}"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244070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49EF13-96E9-43B2-8DF8-D520CD9F7D70}"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1256696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49EF13-96E9-43B2-8DF8-D520CD9F7D70}"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82761-59B6-4AC1-866D-79FD9E0EFDEF}" type="slidenum">
              <a:rPr lang="en-US" smtClean="0"/>
              <a:t>‹#›</a:t>
            </a:fld>
            <a:endParaRPr lang="en-US"/>
          </a:p>
        </p:txBody>
      </p:sp>
    </p:spTree>
    <p:extLst>
      <p:ext uri="{BB962C8B-B14F-4D97-AF65-F5344CB8AC3E}">
        <p14:creationId xmlns:p14="http://schemas.microsoft.com/office/powerpoint/2010/main" val="1297749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5549EF13-96E9-43B2-8DF8-D520CD9F7D70}" type="datetimeFigureOut">
              <a:rPr lang="en-US" smtClean="0"/>
              <a:t>6/10/2024</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9D82761-59B6-4AC1-866D-79FD9E0EFDEF}" type="slidenum">
              <a:rPr lang="en-US" smtClean="0"/>
              <a:t>‹#›</a:t>
            </a:fld>
            <a:endParaRPr lang="en-US"/>
          </a:p>
        </p:txBody>
      </p:sp>
    </p:spTree>
    <p:extLst>
      <p:ext uri="{BB962C8B-B14F-4D97-AF65-F5344CB8AC3E}">
        <p14:creationId xmlns:p14="http://schemas.microsoft.com/office/powerpoint/2010/main" val="425172286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Mining</a:t>
            </a:r>
            <a:endParaRPr lang="en-US" dirty="0"/>
          </a:p>
        </p:txBody>
      </p:sp>
      <p:sp>
        <p:nvSpPr>
          <p:cNvPr id="3" name="Subtitle 2"/>
          <p:cNvSpPr>
            <a:spLocks noGrp="1"/>
          </p:cNvSpPr>
          <p:nvPr>
            <p:ph type="subTitle" idx="1"/>
          </p:nvPr>
        </p:nvSpPr>
        <p:spPr>
          <a:xfrm>
            <a:off x="1562100" y="4197928"/>
            <a:ext cx="9070848" cy="941336"/>
          </a:xfrm>
        </p:spPr>
        <p:txBody>
          <a:bodyPr>
            <a:normAutofit/>
          </a:bodyPr>
          <a:lstStyle/>
          <a:p>
            <a:r>
              <a:rPr lang="en-US" dirty="0" smtClean="0"/>
              <a:t>A presentation </a:t>
            </a:r>
            <a:r>
              <a:rPr lang="en-US" smtClean="0"/>
              <a:t>prepared by,</a:t>
            </a:r>
            <a:endParaRPr lang="en-US" dirty="0" smtClean="0"/>
          </a:p>
          <a:p>
            <a:r>
              <a:rPr lang="en-US" dirty="0" err="1" smtClean="0"/>
              <a:t>Anshu</a:t>
            </a:r>
            <a:r>
              <a:rPr lang="en-US" dirty="0" smtClean="0"/>
              <a:t> </a:t>
            </a:r>
            <a:r>
              <a:rPr lang="en-US" dirty="0" err="1" smtClean="0"/>
              <a:t>Hada</a:t>
            </a:r>
            <a:endParaRPr lang="en-US" dirty="0" smtClean="0"/>
          </a:p>
          <a:p>
            <a:r>
              <a:rPr lang="en-US" dirty="0" smtClean="0"/>
              <a:t>Section- A</a:t>
            </a:r>
          </a:p>
        </p:txBody>
      </p:sp>
    </p:spTree>
    <p:extLst>
      <p:ext uri="{BB962C8B-B14F-4D97-AF65-F5344CB8AC3E}">
        <p14:creationId xmlns:p14="http://schemas.microsoft.com/office/powerpoint/2010/main" val="4159668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3563" y="641682"/>
            <a:ext cx="4281055" cy="1130788"/>
          </a:xfrm>
        </p:spPr>
        <p:txBody>
          <a:bodyPr>
            <a:normAutofit/>
          </a:bodyPr>
          <a:lstStyle/>
          <a:p>
            <a:r>
              <a:rPr lang="en-US" b="1" dirty="0" smtClean="0"/>
              <a:t>Outlines </a:t>
            </a:r>
            <a:endParaRPr lang="en-US" b="1" dirty="0"/>
          </a:p>
        </p:txBody>
      </p:sp>
      <p:sp>
        <p:nvSpPr>
          <p:cNvPr id="5" name="Content Placeholder 4"/>
          <p:cNvSpPr>
            <a:spLocks noGrp="1"/>
          </p:cNvSpPr>
          <p:nvPr>
            <p:ph idx="1"/>
          </p:nvPr>
        </p:nvSpPr>
        <p:spPr>
          <a:xfrm>
            <a:off x="1745672" y="1771558"/>
            <a:ext cx="8825346" cy="4261658"/>
          </a:xfrm>
        </p:spPr>
        <p:txBody>
          <a:bodyPr>
            <a:noAutofit/>
          </a:bodyPr>
          <a:lstStyle/>
          <a:p>
            <a:pPr>
              <a:buFont typeface="Wingdings" panose="05000000000000000000" pitchFamily="2" charset="2"/>
              <a:buChar char="v"/>
            </a:pPr>
            <a:r>
              <a:rPr lang="en-US" sz="2400" dirty="0" smtClean="0"/>
              <a:t>What is Data Mining?</a:t>
            </a:r>
          </a:p>
          <a:p>
            <a:pPr>
              <a:buFont typeface="Wingdings" panose="05000000000000000000" pitchFamily="2" charset="2"/>
              <a:buChar char="v"/>
            </a:pPr>
            <a:r>
              <a:rPr lang="en-US" sz="2400" dirty="0" smtClean="0"/>
              <a:t>Steps of Data Mining </a:t>
            </a:r>
          </a:p>
          <a:p>
            <a:pPr>
              <a:buFont typeface="Wingdings" panose="05000000000000000000" pitchFamily="2" charset="2"/>
              <a:buChar char="v"/>
            </a:pPr>
            <a:r>
              <a:rPr lang="en-US" sz="2400" dirty="0" smtClean="0"/>
              <a:t>Objectives of Data Mining</a:t>
            </a:r>
          </a:p>
          <a:p>
            <a:pPr>
              <a:buFont typeface="Wingdings" panose="05000000000000000000" pitchFamily="2" charset="2"/>
              <a:buChar char="v"/>
            </a:pPr>
            <a:r>
              <a:rPr lang="en-US" sz="2400" dirty="0" smtClean="0"/>
              <a:t>Data Mining techniques </a:t>
            </a:r>
          </a:p>
          <a:p>
            <a:pPr>
              <a:buFont typeface="Wingdings" panose="05000000000000000000" pitchFamily="2" charset="2"/>
              <a:buChar char="v"/>
            </a:pPr>
            <a:r>
              <a:rPr lang="en-US" sz="2400" dirty="0" smtClean="0"/>
              <a:t>Application of Data Mining </a:t>
            </a:r>
          </a:p>
          <a:p>
            <a:pPr>
              <a:buFont typeface="Wingdings" panose="05000000000000000000" pitchFamily="2" charset="2"/>
              <a:buChar char="v"/>
            </a:pPr>
            <a:r>
              <a:rPr lang="en-US" sz="2400" dirty="0" smtClean="0"/>
              <a:t>Advantages of Data Mining </a:t>
            </a:r>
          </a:p>
          <a:p>
            <a:pPr>
              <a:buFont typeface="Wingdings" panose="05000000000000000000" pitchFamily="2" charset="2"/>
              <a:buChar char="v"/>
            </a:pPr>
            <a:r>
              <a:rPr lang="en-US" sz="2400" dirty="0" smtClean="0"/>
              <a:t>Challenges on Data Mining </a:t>
            </a:r>
          </a:p>
          <a:p>
            <a:pPr>
              <a:buFont typeface="Wingdings" panose="05000000000000000000" pitchFamily="2" charset="2"/>
              <a:buChar char="v"/>
            </a:pPr>
            <a:r>
              <a:rPr lang="en-US" sz="2400" dirty="0" smtClean="0"/>
              <a:t>Future of Data Mining</a:t>
            </a:r>
          </a:p>
          <a:p>
            <a:pPr>
              <a:buFont typeface="Wingdings" panose="05000000000000000000" pitchFamily="2" charset="2"/>
              <a:buChar char="v"/>
            </a:pPr>
            <a:r>
              <a:rPr lang="en-US" sz="2400" dirty="0" smtClean="0"/>
              <a:t>Conclusions </a:t>
            </a:r>
          </a:p>
        </p:txBody>
      </p:sp>
      <p:sp>
        <p:nvSpPr>
          <p:cNvPr id="8" name="TextBox 7"/>
          <p:cNvSpPr txBox="1"/>
          <p:nvPr/>
        </p:nvSpPr>
        <p:spPr>
          <a:xfrm>
            <a:off x="11429999" y="235527"/>
            <a:ext cx="443345" cy="369332"/>
          </a:xfrm>
          <a:prstGeom prst="rect">
            <a:avLst/>
          </a:prstGeom>
          <a:noFill/>
        </p:spPr>
        <p:txBody>
          <a:bodyPr wrap="square" rtlCol="0">
            <a:spAutoFit/>
          </a:bodyPr>
          <a:lstStyle/>
          <a:p>
            <a:r>
              <a:rPr lang="en-US" dirty="0" smtClean="0"/>
              <a:t> </a:t>
            </a:r>
            <a:endParaRPr lang="en-US" dirty="0"/>
          </a:p>
        </p:txBody>
      </p:sp>
    </p:spTree>
    <p:extLst>
      <p:ext uri="{BB962C8B-B14F-4D97-AF65-F5344CB8AC3E}">
        <p14:creationId xmlns:p14="http://schemas.microsoft.com/office/powerpoint/2010/main" val="13027837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Data Mining?</a:t>
            </a:r>
            <a:endParaRPr lang="en-US" b="1" dirty="0"/>
          </a:p>
        </p:txBody>
      </p:sp>
      <p:sp>
        <p:nvSpPr>
          <p:cNvPr id="21" name="Text Placeholder 20"/>
          <p:cNvSpPr>
            <a:spLocks noGrp="1"/>
          </p:cNvSpPr>
          <p:nvPr>
            <p:ph sz="half" idx="1"/>
          </p:nvPr>
        </p:nvSpPr>
        <p:spPr>
          <a:xfrm>
            <a:off x="834369" y="1967346"/>
            <a:ext cx="6317673" cy="4502727"/>
          </a:xfrm>
        </p:spPr>
        <p:txBody>
          <a:bodyPr>
            <a:normAutofit/>
          </a:bodyPr>
          <a:lstStyle/>
          <a:p>
            <a:r>
              <a:rPr lang="en-US" dirty="0" smtClean="0"/>
              <a:t>Data Mining refers to the process of searching analyzing a large batch of raw data in order to identify pattern and extract useful information.</a:t>
            </a:r>
          </a:p>
          <a:p>
            <a:r>
              <a:rPr lang="en-US" dirty="0" smtClean="0"/>
              <a:t>Data </a:t>
            </a:r>
            <a:r>
              <a:rPr lang="en-US" dirty="0"/>
              <a:t>mining relies on effective data collection, warehousing, and computer processing</a:t>
            </a:r>
            <a:r>
              <a:rPr lang="en-US" dirty="0" smtClean="0"/>
              <a:t>.</a:t>
            </a:r>
          </a:p>
          <a:p>
            <a:r>
              <a:rPr lang="en-US" dirty="0" smtClean="0"/>
              <a:t> </a:t>
            </a:r>
            <a:r>
              <a:rPr lang="en-US" dirty="0"/>
              <a:t>Machine Learning (ML), Artificial Intelligence, data management are crucial elements of data mining that are necessary. </a:t>
            </a:r>
            <a:endParaRPr lang="en-US" dirty="0" smtClean="0"/>
          </a:p>
          <a:p>
            <a:r>
              <a:rPr lang="en-US" dirty="0"/>
              <a:t>Popular data mining tools include R, Python, Weka, and </a:t>
            </a:r>
            <a:r>
              <a:rPr lang="en-US" dirty="0" smtClean="0"/>
              <a:t>Rapid Miner</a:t>
            </a:r>
            <a:r>
              <a:rPr lang="en-US" dirty="0"/>
              <a:t>, each offering unique features and capabilities.</a:t>
            </a:r>
          </a:p>
          <a:p>
            <a:endParaRPr lang="en-US" dirty="0"/>
          </a:p>
        </p:txBody>
      </p:sp>
      <p:sp>
        <p:nvSpPr>
          <p:cNvPr id="17" name="Rectangle 16" descr="What Is Data Mining?"/>
          <p:cNvSpPr>
            <a:spLocks noChangeAspect="1" noChangeArrowheads="1"/>
          </p:cNvSpPr>
          <p:nvPr/>
        </p:nvSpPr>
        <p:spPr bwMode="auto">
          <a:xfrm>
            <a:off x="0" y="0"/>
            <a:ext cx="308610" cy="308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a:p>
        </p:txBody>
      </p:sp>
      <p:sp>
        <p:nvSpPr>
          <p:cNvPr id="18" name="Rectangle 6"/>
          <p:cNvSpPr>
            <a:spLocks noChangeArrowheads="1"/>
          </p:cNvSpPr>
          <p:nvPr/>
        </p:nvSpPr>
        <p:spPr bwMode="auto">
          <a:xfrm>
            <a:off x="457200" y="765175"/>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5" name="Picture 24"/>
          <p:cNvPicPr>
            <a:picLocks noChangeAspect="1"/>
          </p:cNvPicPr>
          <p:nvPr/>
        </p:nvPicPr>
        <p:blipFill>
          <a:blip r:embed="rId2"/>
          <a:stretch>
            <a:fillRect/>
          </a:stretch>
        </p:blipFill>
        <p:spPr>
          <a:xfrm>
            <a:off x="7152041" y="2014194"/>
            <a:ext cx="4277959" cy="3416788"/>
          </a:xfrm>
          <a:prstGeom prst="rect">
            <a:avLst/>
          </a:prstGeom>
        </p:spPr>
      </p:pic>
      <p:sp>
        <p:nvSpPr>
          <p:cNvPr id="30" name="TextBox 29"/>
          <p:cNvSpPr txBox="1"/>
          <p:nvPr/>
        </p:nvSpPr>
        <p:spPr>
          <a:xfrm>
            <a:off x="11357631" y="308610"/>
            <a:ext cx="501860" cy="369332"/>
          </a:xfrm>
          <a:prstGeom prst="rect">
            <a:avLst/>
          </a:prstGeom>
          <a:noFill/>
        </p:spPr>
        <p:txBody>
          <a:bodyPr wrap="square" rtlCol="0">
            <a:spAutoFit/>
          </a:bodyPr>
          <a:lstStyle/>
          <a:p>
            <a:r>
              <a:rPr lang="en-US" dirty="0" smtClean="0"/>
              <a:t>1</a:t>
            </a:r>
            <a:endParaRPr lang="en-US" dirty="0"/>
          </a:p>
        </p:txBody>
      </p:sp>
    </p:spTree>
    <p:extLst>
      <p:ext uri="{BB962C8B-B14F-4D97-AF65-F5344CB8AC3E}">
        <p14:creationId xmlns:p14="http://schemas.microsoft.com/office/powerpoint/2010/main" val="27432984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smtClean="0"/>
              <a:t>Steps of Data Mining</a:t>
            </a:r>
            <a:endParaRPr lang="en-US" b="1" dirty="0"/>
          </a:p>
        </p:txBody>
      </p:sp>
      <p:sp>
        <p:nvSpPr>
          <p:cNvPr id="6" name="Text Placeholder 5"/>
          <p:cNvSpPr>
            <a:spLocks noGrp="1"/>
          </p:cNvSpPr>
          <p:nvPr>
            <p:ph type="body" idx="1"/>
          </p:nvPr>
        </p:nvSpPr>
        <p:spPr>
          <a:xfrm>
            <a:off x="1066800" y="2103120"/>
            <a:ext cx="6470073" cy="3931920"/>
          </a:xfrm>
        </p:spPr>
        <p:txBody>
          <a:bodyPr/>
          <a:lstStyle/>
          <a:p>
            <a:pPr marL="342900" indent="-342900">
              <a:buFont typeface="+mj-lt"/>
              <a:buAutoNum type="arabicPeriod"/>
            </a:pPr>
            <a:r>
              <a:rPr lang="en-US" dirty="0" smtClean="0"/>
              <a:t>Firstly</a:t>
            </a:r>
            <a:r>
              <a:rPr lang="en-US" dirty="0"/>
              <a:t>, Data are collected and loaded into data warehouses on-site or on a </a:t>
            </a:r>
            <a:r>
              <a:rPr lang="en-US" dirty="0" smtClean="0"/>
              <a:t>cloud </a:t>
            </a:r>
            <a:r>
              <a:rPr lang="en-US" dirty="0"/>
              <a:t>service.</a:t>
            </a:r>
          </a:p>
          <a:p>
            <a:pPr marL="342900" indent="-342900">
              <a:buFont typeface="+mj-lt"/>
              <a:buAutoNum type="arabicPeriod"/>
            </a:pPr>
            <a:r>
              <a:rPr lang="en-US" dirty="0" smtClean="0"/>
              <a:t>The </a:t>
            </a:r>
            <a:r>
              <a:rPr lang="en-US" dirty="0"/>
              <a:t>data are accessed by management teams, business analysts and other professionals and determine how they want to organize it.</a:t>
            </a:r>
          </a:p>
          <a:p>
            <a:pPr marL="342900" indent="-342900">
              <a:buFont typeface="+mj-lt"/>
              <a:buAutoNum type="arabicPeriod"/>
            </a:pPr>
            <a:r>
              <a:rPr lang="en-US" dirty="0"/>
              <a:t>I</a:t>
            </a:r>
            <a:r>
              <a:rPr lang="en-US" dirty="0" smtClean="0"/>
              <a:t>n </a:t>
            </a:r>
            <a:r>
              <a:rPr lang="en-US" dirty="0"/>
              <a:t>data mining, custom application software sorts and organizes the data.</a:t>
            </a:r>
          </a:p>
          <a:p>
            <a:pPr marL="342900" indent="-342900">
              <a:buFont typeface="+mj-lt"/>
              <a:buAutoNum type="arabicPeriod"/>
            </a:pPr>
            <a:r>
              <a:rPr lang="en-US" dirty="0" smtClean="0"/>
              <a:t>At </a:t>
            </a:r>
            <a:r>
              <a:rPr lang="en-US" dirty="0"/>
              <a:t>the end user presents the data in an easy-to-share format, such as a graph or table.</a:t>
            </a:r>
          </a:p>
        </p:txBody>
      </p:sp>
      <p:pic>
        <p:nvPicPr>
          <p:cNvPr id="8" name="Picture 7"/>
          <p:cNvPicPr>
            <a:picLocks noChangeAspect="1"/>
          </p:cNvPicPr>
          <p:nvPr/>
        </p:nvPicPr>
        <p:blipFill>
          <a:blip r:embed="rId2"/>
          <a:stretch>
            <a:fillRect/>
          </a:stretch>
        </p:blipFill>
        <p:spPr>
          <a:xfrm>
            <a:off x="7394864" y="2014194"/>
            <a:ext cx="4035136" cy="3265689"/>
          </a:xfrm>
          <a:prstGeom prst="rect">
            <a:avLst/>
          </a:prstGeom>
        </p:spPr>
      </p:pic>
      <p:sp>
        <p:nvSpPr>
          <p:cNvPr id="9" name="TextBox 8"/>
          <p:cNvSpPr txBox="1"/>
          <p:nvPr/>
        </p:nvSpPr>
        <p:spPr>
          <a:xfrm>
            <a:off x="10986655" y="207818"/>
            <a:ext cx="969818" cy="369332"/>
          </a:xfrm>
          <a:prstGeom prst="rect">
            <a:avLst/>
          </a:prstGeom>
          <a:noFill/>
        </p:spPr>
        <p:txBody>
          <a:bodyPr wrap="square" rtlCol="0">
            <a:spAutoFit/>
          </a:bodyPr>
          <a:lstStyle/>
          <a:p>
            <a:r>
              <a:rPr lang="en-US" dirty="0"/>
              <a:t> </a:t>
            </a:r>
            <a:r>
              <a:rPr lang="en-US" dirty="0" smtClean="0"/>
              <a:t>      2</a:t>
            </a:r>
            <a:endParaRPr lang="en-US" dirty="0"/>
          </a:p>
        </p:txBody>
      </p:sp>
    </p:spTree>
    <p:extLst>
      <p:ext uri="{BB962C8B-B14F-4D97-AF65-F5344CB8AC3E}">
        <p14:creationId xmlns:p14="http://schemas.microsoft.com/office/powerpoint/2010/main" val="38701963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b="1" dirty="0"/>
              <a:t>Objectives of Data Mining</a:t>
            </a:r>
            <a:br>
              <a:rPr lang="en-US" b="1" dirty="0"/>
            </a:br>
            <a:endParaRPr lang="en-US" b="1" dirty="0"/>
          </a:p>
        </p:txBody>
      </p:sp>
      <p:sp>
        <p:nvSpPr>
          <p:cNvPr id="5" name="Content Placeholder 4"/>
          <p:cNvSpPr>
            <a:spLocks noGrp="1"/>
          </p:cNvSpPr>
          <p:nvPr>
            <p:ph idx="1"/>
          </p:nvPr>
        </p:nvSpPr>
        <p:spPr>
          <a:xfrm>
            <a:off x="1066800" y="1773382"/>
            <a:ext cx="10058400" cy="4261658"/>
          </a:xfrm>
        </p:spPr>
        <p:txBody>
          <a:bodyPr/>
          <a:lstStyle/>
          <a:p>
            <a:pPr marL="0" indent="0">
              <a:buNone/>
            </a:pPr>
            <a:r>
              <a:rPr lang="en-US" dirty="0"/>
              <a:t>The objectives of data mining are as follows:</a:t>
            </a:r>
          </a:p>
          <a:p>
            <a:pPr marL="342900" indent="-342900">
              <a:buFont typeface="+mj-lt"/>
              <a:buAutoNum type="arabicPeriod"/>
            </a:pPr>
            <a:r>
              <a:rPr lang="en-US" dirty="0"/>
              <a:t>Pattern discovery</a:t>
            </a:r>
          </a:p>
          <a:p>
            <a:pPr marL="342900" indent="-342900">
              <a:buFont typeface="+mj-lt"/>
              <a:buAutoNum type="arabicPeriod"/>
            </a:pPr>
            <a:r>
              <a:rPr lang="en-US" dirty="0"/>
              <a:t>Prediction and Forecasting</a:t>
            </a:r>
          </a:p>
          <a:p>
            <a:pPr marL="342900" indent="-342900">
              <a:buFont typeface="+mj-lt"/>
              <a:buAutoNum type="arabicPeriod"/>
            </a:pPr>
            <a:r>
              <a:rPr lang="en-US" dirty="0"/>
              <a:t>Anomaly Detection</a:t>
            </a:r>
          </a:p>
          <a:p>
            <a:pPr marL="342900" indent="-342900">
              <a:buFont typeface="+mj-lt"/>
              <a:buAutoNum type="arabicPeriod"/>
            </a:pPr>
            <a:r>
              <a:rPr lang="en-US" dirty="0"/>
              <a:t>Segmentation</a:t>
            </a:r>
          </a:p>
          <a:p>
            <a:pPr marL="342900" indent="-342900">
              <a:buFont typeface="+mj-lt"/>
              <a:buAutoNum type="arabicPeriod"/>
            </a:pPr>
            <a:r>
              <a:rPr lang="en-US" dirty="0" smtClean="0"/>
              <a:t>Improved </a:t>
            </a:r>
            <a:r>
              <a:rPr lang="en-US" dirty="0"/>
              <a:t>Decision-Making</a:t>
            </a:r>
          </a:p>
          <a:p>
            <a:pPr marL="342900" indent="-342900">
              <a:buFont typeface="+mj-lt"/>
              <a:buAutoNum type="arabicPeriod"/>
            </a:pPr>
            <a:endParaRPr lang="en-US" dirty="0"/>
          </a:p>
        </p:txBody>
      </p:sp>
      <p:pic>
        <p:nvPicPr>
          <p:cNvPr id="7" name="Picture 6"/>
          <p:cNvPicPr>
            <a:picLocks noChangeAspect="1"/>
          </p:cNvPicPr>
          <p:nvPr/>
        </p:nvPicPr>
        <p:blipFill>
          <a:blip r:embed="rId2"/>
          <a:stretch>
            <a:fillRect/>
          </a:stretch>
        </p:blipFill>
        <p:spPr>
          <a:xfrm>
            <a:off x="6962775" y="1662545"/>
            <a:ext cx="4162425" cy="3993139"/>
          </a:xfrm>
          <a:prstGeom prst="rect">
            <a:avLst/>
          </a:prstGeom>
        </p:spPr>
      </p:pic>
      <p:sp>
        <p:nvSpPr>
          <p:cNvPr id="8" name="TextBox 7"/>
          <p:cNvSpPr txBox="1"/>
          <p:nvPr/>
        </p:nvSpPr>
        <p:spPr>
          <a:xfrm>
            <a:off x="11429999" y="235527"/>
            <a:ext cx="443345" cy="369332"/>
          </a:xfrm>
          <a:prstGeom prst="rect">
            <a:avLst/>
          </a:prstGeom>
          <a:noFill/>
        </p:spPr>
        <p:txBody>
          <a:bodyPr wrap="square" rtlCol="0">
            <a:spAutoFit/>
          </a:bodyPr>
          <a:lstStyle/>
          <a:p>
            <a:r>
              <a:rPr lang="en-US" dirty="0" smtClean="0"/>
              <a:t> 3</a:t>
            </a:r>
            <a:endParaRPr lang="en-US" dirty="0"/>
          </a:p>
        </p:txBody>
      </p:sp>
    </p:spTree>
    <p:extLst>
      <p:ext uri="{BB962C8B-B14F-4D97-AF65-F5344CB8AC3E}">
        <p14:creationId xmlns:p14="http://schemas.microsoft.com/office/powerpoint/2010/main" val="33956216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 Mining Techniques</a:t>
            </a:r>
            <a:endParaRPr lang="en-US" b="1" dirty="0"/>
          </a:p>
        </p:txBody>
      </p:sp>
      <p:sp>
        <p:nvSpPr>
          <p:cNvPr id="3" name="Text Placeholder 2"/>
          <p:cNvSpPr>
            <a:spLocks noGrp="1"/>
          </p:cNvSpPr>
          <p:nvPr>
            <p:ph type="body" idx="1"/>
          </p:nvPr>
        </p:nvSpPr>
        <p:spPr>
          <a:xfrm>
            <a:off x="1066799" y="2103120"/>
            <a:ext cx="5361709" cy="3931920"/>
          </a:xfrm>
        </p:spPr>
        <p:txBody>
          <a:bodyPr/>
          <a:lstStyle/>
          <a:p>
            <a:pPr marL="0" indent="0">
              <a:buNone/>
            </a:pPr>
            <a:r>
              <a:rPr lang="en-US" dirty="0" smtClean="0"/>
              <a:t>Common data mining techniques are given below:</a:t>
            </a:r>
          </a:p>
          <a:p>
            <a:pPr marL="342900" indent="-342900">
              <a:buFont typeface="+mj-lt"/>
              <a:buAutoNum type="arabicParenR"/>
            </a:pPr>
            <a:r>
              <a:rPr lang="en-US" dirty="0" smtClean="0"/>
              <a:t>Classification analysis</a:t>
            </a:r>
          </a:p>
          <a:p>
            <a:pPr marL="342900" indent="-342900">
              <a:buFont typeface="+mj-lt"/>
              <a:buAutoNum type="arabicParenR"/>
            </a:pPr>
            <a:r>
              <a:rPr lang="en-US" dirty="0" smtClean="0"/>
              <a:t>Association rule learning</a:t>
            </a:r>
          </a:p>
          <a:p>
            <a:pPr marL="342900" indent="-342900">
              <a:buFont typeface="+mj-lt"/>
              <a:buAutoNum type="arabicParenR"/>
            </a:pPr>
            <a:r>
              <a:rPr lang="en-US" dirty="0" smtClean="0"/>
              <a:t>Anomaly detection</a:t>
            </a:r>
          </a:p>
          <a:p>
            <a:pPr marL="342900" indent="-342900">
              <a:buFont typeface="+mj-lt"/>
              <a:buAutoNum type="arabicParenR"/>
            </a:pPr>
            <a:r>
              <a:rPr lang="en-US" dirty="0" smtClean="0"/>
              <a:t>Clustering analysis</a:t>
            </a:r>
          </a:p>
          <a:p>
            <a:pPr marL="342900" indent="-342900">
              <a:buFont typeface="+mj-lt"/>
              <a:buAutoNum type="arabicParenR"/>
            </a:pPr>
            <a:r>
              <a:rPr lang="en-US" dirty="0" smtClean="0"/>
              <a:t>Regression analysis</a:t>
            </a:r>
          </a:p>
          <a:p>
            <a:pPr marL="342900" indent="-342900">
              <a:buFont typeface="+mj-lt"/>
              <a:buAutoNum type="arabicParenR"/>
            </a:pPr>
            <a:endParaRPr lang="en-US" dirty="0" smtClean="0"/>
          </a:p>
          <a:p>
            <a:pPr marL="0" indent="0">
              <a:buNone/>
            </a:pPr>
            <a:endParaRPr lang="en-US" dirty="0"/>
          </a:p>
        </p:txBody>
      </p:sp>
      <p:pic>
        <p:nvPicPr>
          <p:cNvPr id="7" name="Picture 6"/>
          <p:cNvPicPr>
            <a:picLocks noChangeAspect="1"/>
          </p:cNvPicPr>
          <p:nvPr/>
        </p:nvPicPr>
        <p:blipFill>
          <a:blip r:embed="rId2"/>
          <a:stretch>
            <a:fillRect/>
          </a:stretch>
        </p:blipFill>
        <p:spPr>
          <a:xfrm>
            <a:off x="6747163" y="2313709"/>
            <a:ext cx="4807528" cy="2680854"/>
          </a:xfrm>
          <a:prstGeom prst="rect">
            <a:avLst/>
          </a:prstGeom>
        </p:spPr>
      </p:pic>
      <p:sp>
        <p:nvSpPr>
          <p:cNvPr id="8" name="TextBox 7"/>
          <p:cNvSpPr txBox="1"/>
          <p:nvPr/>
        </p:nvSpPr>
        <p:spPr>
          <a:xfrm>
            <a:off x="11554691" y="273262"/>
            <a:ext cx="443345" cy="369332"/>
          </a:xfrm>
          <a:prstGeom prst="rect">
            <a:avLst/>
          </a:prstGeom>
          <a:noFill/>
        </p:spPr>
        <p:txBody>
          <a:bodyPr wrap="square" rtlCol="0">
            <a:spAutoFit/>
          </a:bodyPr>
          <a:lstStyle/>
          <a:p>
            <a:r>
              <a:rPr lang="en-US" dirty="0" smtClean="0"/>
              <a:t>4</a:t>
            </a:r>
            <a:endParaRPr lang="en-US" dirty="0"/>
          </a:p>
        </p:txBody>
      </p:sp>
    </p:spTree>
    <p:extLst>
      <p:ext uri="{BB962C8B-B14F-4D97-AF65-F5344CB8AC3E}">
        <p14:creationId xmlns:p14="http://schemas.microsoft.com/office/powerpoint/2010/main" val="25147378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 of Data Mining</a:t>
            </a:r>
            <a:endParaRPr lang="en-US" b="1" dirty="0"/>
          </a:p>
        </p:txBody>
      </p:sp>
      <p:sp>
        <p:nvSpPr>
          <p:cNvPr id="3" name="Text Placeholder 2"/>
          <p:cNvSpPr>
            <a:spLocks noGrp="1"/>
          </p:cNvSpPr>
          <p:nvPr>
            <p:ph type="body" idx="1"/>
          </p:nvPr>
        </p:nvSpPr>
        <p:spPr>
          <a:xfrm>
            <a:off x="457200" y="2014194"/>
            <a:ext cx="5888182" cy="3931920"/>
          </a:xfrm>
        </p:spPr>
        <p:txBody>
          <a:bodyPr/>
          <a:lstStyle/>
          <a:p>
            <a:pPr marL="0" indent="0">
              <a:buNone/>
            </a:pPr>
            <a:r>
              <a:rPr lang="en-US" dirty="0" smtClean="0"/>
              <a:t>Data mining is widely used in various fields . Some of them are given below:</a:t>
            </a:r>
          </a:p>
          <a:p>
            <a:pPr marL="342900" indent="-342900">
              <a:buFont typeface="+mj-lt"/>
              <a:buAutoNum type="arabicPeriod"/>
            </a:pPr>
            <a:r>
              <a:rPr lang="en-US" dirty="0" smtClean="0"/>
              <a:t>Retail Industry</a:t>
            </a:r>
          </a:p>
          <a:p>
            <a:pPr marL="342900" indent="-342900">
              <a:buFont typeface="+mj-lt"/>
              <a:buAutoNum type="arabicPeriod"/>
            </a:pPr>
            <a:r>
              <a:rPr lang="en-US" dirty="0" smtClean="0"/>
              <a:t>Telecommunication Industry</a:t>
            </a:r>
          </a:p>
          <a:p>
            <a:pPr marL="342900" indent="-342900">
              <a:buFont typeface="+mj-lt"/>
              <a:buAutoNum type="arabicPeriod"/>
            </a:pPr>
            <a:r>
              <a:rPr lang="en-US" dirty="0" smtClean="0"/>
              <a:t>Biological </a:t>
            </a:r>
            <a:r>
              <a:rPr lang="en-US" dirty="0"/>
              <a:t>D</a:t>
            </a:r>
            <a:r>
              <a:rPr lang="en-US" dirty="0" smtClean="0"/>
              <a:t>ata Analysis</a:t>
            </a:r>
          </a:p>
          <a:p>
            <a:pPr marL="342900" indent="-342900">
              <a:buFont typeface="+mj-lt"/>
              <a:buAutoNum type="arabicPeriod"/>
            </a:pPr>
            <a:r>
              <a:rPr lang="en-US" dirty="0" smtClean="0"/>
              <a:t>Intrusion Detection</a:t>
            </a:r>
            <a:endParaRPr lang="en-US" dirty="0"/>
          </a:p>
        </p:txBody>
      </p:sp>
      <p:sp>
        <p:nvSpPr>
          <p:cNvPr id="9" name="TextBox 8"/>
          <p:cNvSpPr txBox="1"/>
          <p:nvPr/>
        </p:nvSpPr>
        <p:spPr>
          <a:xfrm>
            <a:off x="11430000" y="235527"/>
            <a:ext cx="526473" cy="369332"/>
          </a:xfrm>
          <a:prstGeom prst="rect">
            <a:avLst/>
          </a:prstGeom>
          <a:noFill/>
        </p:spPr>
        <p:txBody>
          <a:bodyPr wrap="square" rtlCol="0">
            <a:spAutoFit/>
          </a:bodyPr>
          <a:lstStyle/>
          <a:p>
            <a:r>
              <a:rPr lang="en-US" dirty="0"/>
              <a:t> </a:t>
            </a:r>
            <a:r>
              <a:rPr lang="en-US" dirty="0" smtClean="0"/>
              <a:t>5</a:t>
            </a:r>
            <a:endParaRPr lang="en-US" dirty="0"/>
          </a:p>
        </p:txBody>
      </p:sp>
      <p:pic>
        <p:nvPicPr>
          <p:cNvPr id="11" name="Picture 10"/>
          <p:cNvPicPr>
            <a:picLocks noChangeAspect="1"/>
          </p:cNvPicPr>
          <p:nvPr/>
        </p:nvPicPr>
        <p:blipFill>
          <a:blip r:embed="rId2"/>
          <a:stretch>
            <a:fillRect/>
          </a:stretch>
        </p:blipFill>
        <p:spPr>
          <a:xfrm>
            <a:off x="6345382" y="1976459"/>
            <a:ext cx="5084618" cy="2830657"/>
          </a:xfrm>
          <a:prstGeom prst="rect">
            <a:avLst/>
          </a:prstGeom>
        </p:spPr>
      </p:pic>
    </p:spTree>
    <p:extLst>
      <p:ext uri="{BB962C8B-B14F-4D97-AF65-F5344CB8AC3E}">
        <p14:creationId xmlns:p14="http://schemas.microsoft.com/office/powerpoint/2010/main" val="13587600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Advantages of </a:t>
            </a:r>
            <a:r>
              <a:rPr lang="en-US" b="1" dirty="0"/>
              <a:t>D</a:t>
            </a:r>
            <a:r>
              <a:rPr lang="en-US" b="1" dirty="0" smtClean="0"/>
              <a:t>ata </a:t>
            </a:r>
            <a:r>
              <a:rPr lang="en-US" b="1" dirty="0"/>
              <a:t>M</a:t>
            </a:r>
            <a:r>
              <a:rPr lang="en-US" b="1" dirty="0" smtClean="0"/>
              <a:t>ining</a:t>
            </a:r>
            <a:endParaRPr lang="en-US" b="1" dirty="0"/>
          </a:p>
        </p:txBody>
      </p:sp>
      <p:sp>
        <p:nvSpPr>
          <p:cNvPr id="3" name="Text Placeholder 2"/>
          <p:cNvSpPr>
            <a:spLocks noGrp="1"/>
          </p:cNvSpPr>
          <p:nvPr>
            <p:ph type="body" idx="1"/>
          </p:nvPr>
        </p:nvSpPr>
        <p:spPr>
          <a:xfrm>
            <a:off x="1066800" y="2383526"/>
            <a:ext cx="7827818" cy="2631820"/>
          </a:xfrm>
        </p:spPr>
        <p:txBody>
          <a:bodyPr/>
          <a:lstStyle/>
          <a:p>
            <a:pPr marL="0" indent="0">
              <a:buNone/>
            </a:pPr>
            <a:r>
              <a:rPr lang="en-US" dirty="0" smtClean="0"/>
              <a:t>The advantages of data mining are mentioned below:</a:t>
            </a:r>
          </a:p>
          <a:p>
            <a:pPr marL="342900" indent="-342900">
              <a:buFont typeface="+mj-lt"/>
              <a:buAutoNum type="arabicPeriod"/>
            </a:pPr>
            <a:r>
              <a:rPr lang="en-US" dirty="0" smtClean="0"/>
              <a:t>Marketing/ Retails</a:t>
            </a:r>
          </a:p>
          <a:p>
            <a:pPr marL="342900" indent="-342900">
              <a:buFont typeface="+mj-lt"/>
              <a:buAutoNum type="arabicPeriod"/>
            </a:pPr>
            <a:r>
              <a:rPr lang="en-US" dirty="0" smtClean="0"/>
              <a:t>Finance/ Banking</a:t>
            </a:r>
          </a:p>
          <a:p>
            <a:pPr marL="342900" indent="-342900">
              <a:buFont typeface="+mj-lt"/>
              <a:buAutoNum type="arabicPeriod"/>
            </a:pPr>
            <a:r>
              <a:rPr lang="en-US" dirty="0" smtClean="0"/>
              <a:t>Researchers </a:t>
            </a:r>
          </a:p>
          <a:p>
            <a:pPr marL="342900" indent="-342900">
              <a:buFont typeface="+mj-lt"/>
              <a:buAutoNum type="arabicPeriod"/>
            </a:pPr>
            <a:r>
              <a:rPr lang="en-US" dirty="0" smtClean="0"/>
              <a:t>Predict future trends</a:t>
            </a:r>
          </a:p>
          <a:p>
            <a:pPr marL="342900" indent="-342900">
              <a:buFont typeface="+mj-lt"/>
              <a:buAutoNum type="arabicPeriod"/>
            </a:pPr>
            <a:r>
              <a:rPr lang="en-US" dirty="0" smtClean="0"/>
              <a:t>Helps in decision making</a:t>
            </a:r>
            <a:endParaRPr lang="en-US" dirty="0"/>
          </a:p>
        </p:txBody>
      </p:sp>
      <p:sp>
        <p:nvSpPr>
          <p:cNvPr id="5" name="TextBox 4"/>
          <p:cNvSpPr txBox="1"/>
          <p:nvPr/>
        </p:nvSpPr>
        <p:spPr>
          <a:xfrm>
            <a:off x="11125200" y="273262"/>
            <a:ext cx="665019" cy="369332"/>
          </a:xfrm>
          <a:prstGeom prst="rect">
            <a:avLst/>
          </a:prstGeom>
          <a:noFill/>
        </p:spPr>
        <p:txBody>
          <a:bodyPr wrap="square" rtlCol="0">
            <a:spAutoFit/>
          </a:bodyPr>
          <a:lstStyle/>
          <a:p>
            <a:r>
              <a:rPr lang="en-US" dirty="0" smtClean="0"/>
              <a:t>   6</a:t>
            </a:r>
            <a:endParaRPr lang="en-US" dirty="0"/>
          </a:p>
        </p:txBody>
      </p:sp>
    </p:spTree>
    <p:extLst>
      <p:ext uri="{BB962C8B-B14F-4D97-AF65-F5344CB8AC3E}">
        <p14:creationId xmlns:p14="http://schemas.microsoft.com/office/powerpoint/2010/main" val="1931250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 in Data Mining</a:t>
            </a:r>
            <a:endParaRPr lang="en-US" b="1" dirty="0"/>
          </a:p>
        </p:txBody>
      </p:sp>
      <p:sp>
        <p:nvSpPr>
          <p:cNvPr id="3" name="Text Placeholder 2"/>
          <p:cNvSpPr>
            <a:spLocks noGrp="1"/>
          </p:cNvSpPr>
          <p:nvPr>
            <p:ph type="body" idx="1"/>
          </p:nvPr>
        </p:nvSpPr>
        <p:spPr/>
        <p:txBody>
          <a:bodyPr/>
          <a:lstStyle/>
          <a:p>
            <a:pPr marL="0" indent="0">
              <a:buNone/>
            </a:pPr>
            <a:r>
              <a:rPr lang="en-US" dirty="0" smtClean="0"/>
              <a:t>Despite its benefits, data mining has some challenges and they are as follows:</a:t>
            </a:r>
          </a:p>
          <a:p>
            <a:pPr marL="342900" indent="-342900">
              <a:buFont typeface="+mj-lt"/>
              <a:buAutoNum type="arabicPeriod"/>
            </a:pPr>
            <a:r>
              <a:rPr lang="en-US" dirty="0"/>
              <a:t>P</a:t>
            </a:r>
            <a:r>
              <a:rPr lang="en-US" dirty="0" smtClean="0"/>
              <a:t>rivacy concerns</a:t>
            </a:r>
          </a:p>
          <a:p>
            <a:pPr marL="342900" indent="-342900">
              <a:buFont typeface="+mj-lt"/>
              <a:buAutoNum type="arabicPeriod"/>
            </a:pPr>
            <a:r>
              <a:rPr lang="en-US" dirty="0" smtClean="0"/>
              <a:t>Expensive</a:t>
            </a:r>
          </a:p>
          <a:p>
            <a:pPr marL="342900" indent="-342900">
              <a:buFont typeface="+mj-lt"/>
              <a:buAutoNum type="arabicPeriod"/>
            </a:pPr>
            <a:r>
              <a:rPr lang="en-US" dirty="0" smtClean="0"/>
              <a:t>Technical knowledge</a:t>
            </a:r>
          </a:p>
          <a:p>
            <a:pPr marL="342900" indent="-342900">
              <a:buFont typeface="+mj-lt"/>
              <a:buAutoNum type="arabicPeriod"/>
            </a:pPr>
            <a:r>
              <a:rPr lang="en-US" dirty="0" smtClean="0"/>
              <a:t>Large database </a:t>
            </a:r>
            <a:endParaRPr lang="en-US" dirty="0"/>
          </a:p>
        </p:txBody>
      </p:sp>
      <p:sp>
        <p:nvSpPr>
          <p:cNvPr id="6" name="TextBox 5"/>
          <p:cNvSpPr txBox="1"/>
          <p:nvPr/>
        </p:nvSpPr>
        <p:spPr>
          <a:xfrm>
            <a:off x="11305310" y="273262"/>
            <a:ext cx="387927" cy="369332"/>
          </a:xfrm>
          <a:prstGeom prst="rect">
            <a:avLst/>
          </a:prstGeom>
          <a:noFill/>
        </p:spPr>
        <p:txBody>
          <a:bodyPr wrap="square" rtlCol="0">
            <a:spAutoFit/>
          </a:bodyPr>
          <a:lstStyle/>
          <a:p>
            <a:r>
              <a:rPr lang="en-US" dirty="0" smtClean="0"/>
              <a:t> 7</a:t>
            </a:r>
            <a:endParaRPr lang="en-US" dirty="0"/>
          </a:p>
        </p:txBody>
      </p:sp>
    </p:spTree>
    <p:extLst>
      <p:ext uri="{BB962C8B-B14F-4D97-AF65-F5344CB8AC3E}">
        <p14:creationId xmlns:p14="http://schemas.microsoft.com/office/powerpoint/2010/main" val="29454433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Future of data mining</a:t>
            </a:r>
            <a:endParaRPr lang="en-US" b="1" dirty="0"/>
          </a:p>
        </p:txBody>
      </p:sp>
      <p:sp>
        <p:nvSpPr>
          <p:cNvPr id="3" name="Text Placeholder 2"/>
          <p:cNvSpPr>
            <a:spLocks noGrp="1"/>
          </p:cNvSpPr>
          <p:nvPr>
            <p:ph type="body" idx="1"/>
          </p:nvPr>
        </p:nvSpPr>
        <p:spPr>
          <a:xfrm>
            <a:off x="651164" y="2103120"/>
            <a:ext cx="6483927" cy="3931920"/>
          </a:xfrm>
        </p:spPr>
        <p:txBody>
          <a:bodyPr/>
          <a:lstStyle/>
          <a:p>
            <a:pPr marL="0" indent="0">
              <a:buNone/>
            </a:pPr>
            <a:r>
              <a:rPr lang="en-US" dirty="0"/>
              <a:t>Data mining has become an important part of technology that is used by many companies and firms to make critical business decisions. Following are some of the trends that are expected in the future of data mining:</a:t>
            </a:r>
          </a:p>
          <a:p>
            <a:pPr marL="342900" indent="-342900">
              <a:buFont typeface="+mj-lt"/>
              <a:buAutoNum type="arabicPeriod"/>
            </a:pPr>
            <a:r>
              <a:rPr lang="en-US" dirty="0" smtClean="0"/>
              <a:t>Distributed </a:t>
            </a:r>
            <a:r>
              <a:rPr lang="en-US" dirty="0"/>
              <a:t>data </a:t>
            </a:r>
            <a:r>
              <a:rPr lang="en-US" dirty="0" smtClean="0"/>
              <a:t>mining</a:t>
            </a:r>
          </a:p>
          <a:p>
            <a:pPr marL="342900" indent="-342900">
              <a:buFont typeface="+mj-lt"/>
              <a:buAutoNum type="arabicPeriod"/>
            </a:pPr>
            <a:r>
              <a:rPr lang="en-US" dirty="0"/>
              <a:t>Multimedia Data </a:t>
            </a:r>
            <a:r>
              <a:rPr lang="en-US" dirty="0" smtClean="0"/>
              <a:t>mining</a:t>
            </a:r>
          </a:p>
          <a:p>
            <a:pPr marL="342900" indent="-342900">
              <a:buFont typeface="+mj-lt"/>
              <a:buAutoNum type="arabicPeriod"/>
            </a:pPr>
            <a:r>
              <a:rPr lang="en-US" dirty="0" smtClean="0"/>
              <a:t>Geographic </a:t>
            </a:r>
            <a:r>
              <a:rPr lang="en-US" dirty="0"/>
              <a:t>data </a:t>
            </a:r>
            <a:r>
              <a:rPr lang="en-US" dirty="0" smtClean="0"/>
              <a:t>mining</a:t>
            </a:r>
          </a:p>
          <a:p>
            <a:pPr marL="342900" lvl="0" indent="-342900">
              <a:buFont typeface="+mj-lt"/>
              <a:buAutoNum type="arabicPeriod"/>
            </a:pPr>
            <a:r>
              <a:rPr lang="en-US" dirty="0" smtClean="0"/>
              <a:t>Time series &amp; sequence data mining</a:t>
            </a:r>
          </a:p>
          <a:p>
            <a:pPr marL="342900" indent="-342900">
              <a:buFont typeface="+mj-lt"/>
              <a:buAutoNum type="arabicPeriod"/>
            </a:pPr>
            <a:endParaRPr lang="en-US" dirty="0"/>
          </a:p>
        </p:txBody>
      </p:sp>
      <p:sp>
        <p:nvSpPr>
          <p:cNvPr id="5" name="TextBox 4"/>
          <p:cNvSpPr txBox="1"/>
          <p:nvPr/>
        </p:nvSpPr>
        <p:spPr>
          <a:xfrm>
            <a:off x="11125200" y="235527"/>
            <a:ext cx="595745" cy="369332"/>
          </a:xfrm>
          <a:prstGeom prst="rect">
            <a:avLst/>
          </a:prstGeom>
          <a:noFill/>
        </p:spPr>
        <p:txBody>
          <a:bodyPr wrap="square" rtlCol="0">
            <a:spAutoFit/>
          </a:bodyPr>
          <a:lstStyle/>
          <a:p>
            <a:r>
              <a:rPr lang="en-US" dirty="0" smtClean="0"/>
              <a:t>  8</a:t>
            </a:r>
            <a:endParaRPr lang="en-US" dirty="0"/>
          </a:p>
        </p:txBody>
      </p:sp>
      <p:pic>
        <p:nvPicPr>
          <p:cNvPr id="6" name="Picture 5"/>
          <p:cNvPicPr>
            <a:picLocks noChangeAspect="1"/>
          </p:cNvPicPr>
          <p:nvPr/>
        </p:nvPicPr>
        <p:blipFill>
          <a:blip r:embed="rId2"/>
          <a:stretch>
            <a:fillRect/>
          </a:stretch>
        </p:blipFill>
        <p:spPr>
          <a:xfrm>
            <a:off x="7412182" y="2103120"/>
            <a:ext cx="4308763" cy="2666307"/>
          </a:xfrm>
          <a:prstGeom prst="rect">
            <a:avLst/>
          </a:prstGeom>
        </p:spPr>
      </p:pic>
    </p:spTree>
    <p:extLst>
      <p:ext uri="{BB962C8B-B14F-4D97-AF65-F5344CB8AC3E}">
        <p14:creationId xmlns:p14="http://schemas.microsoft.com/office/powerpoint/2010/main" val="73480611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b="1" dirty="0"/>
          </a:p>
        </p:txBody>
      </p:sp>
      <p:sp>
        <p:nvSpPr>
          <p:cNvPr id="3" name="Text Placeholder 2"/>
          <p:cNvSpPr>
            <a:spLocks noGrp="1"/>
          </p:cNvSpPr>
          <p:nvPr>
            <p:ph type="body" idx="1"/>
          </p:nvPr>
        </p:nvSpPr>
        <p:spPr/>
        <p:txBody>
          <a:bodyPr/>
          <a:lstStyle/>
          <a:p>
            <a:pPr marL="0" indent="0">
              <a:buNone/>
            </a:pPr>
            <a:r>
              <a:rPr lang="en-US" dirty="0" smtClean="0"/>
              <a:t>In conclusion, Data mining plays a crucial role in extracting valuable insights from data, empowering businesses and decision-makers.</a:t>
            </a:r>
            <a:r>
              <a:rPr lang="en-US" dirty="0"/>
              <a:t> </a:t>
            </a:r>
            <a:r>
              <a:rPr lang="en-US" dirty="0" smtClean="0"/>
              <a:t>Incorporating </a:t>
            </a:r>
            <a:r>
              <a:rPr lang="en-US" dirty="0"/>
              <a:t>data mining into the analytical process empowers business analysts with deeper insights into customers behavior patterns, better predictions capabilities for future  trends , enhanced risk managements strategies and new opportunities for innovations within an organizations.</a:t>
            </a:r>
          </a:p>
          <a:p>
            <a:pPr marL="0" indent="0">
              <a:buNone/>
            </a:pPr>
            <a:r>
              <a:rPr lang="en-US" dirty="0"/>
              <a:t/>
            </a:r>
            <a:br>
              <a:rPr lang="en-US" dirty="0"/>
            </a:br>
            <a:endParaRPr lang="en-US" dirty="0"/>
          </a:p>
        </p:txBody>
      </p:sp>
      <p:sp>
        <p:nvSpPr>
          <p:cNvPr id="7" name="TextBox 6"/>
          <p:cNvSpPr txBox="1"/>
          <p:nvPr/>
        </p:nvSpPr>
        <p:spPr>
          <a:xfrm>
            <a:off x="11125200" y="277091"/>
            <a:ext cx="651164" cy="369332"/>
          </a:xfrm>
          <a:prstGeom prst="rect">
            <a:avLst/>
          </a:prstGeom>
          <a:noFill/>
        </p:spPr>
        <p:txBody>
          <a:bodyPr wrap="square" rtlCol="0">
            <a:spAutoFit/>
          </a:bodyPr>
          <a:lstStyle/>
          <a:p>
            <a:r>
              <a:rPr lang="en-US" dirty="0" smtClean="0"/>
              <a:t>   9</a:t>
            </a:r>
            <a:endParaRPr lang="en-US" dirty="0"/>
          </a:p>
        </p:txBody>
      </p:sp>
    </p:spTree>
    <p:extLst>
      <p:ext uri="{BB962C8B-B14F-4D97-AF65-F5344CB8AC3E}">
        <p14:creationId xmlns:p14="http://schemas.microsoft.com/office/powerpoint/2010/main" val="26702708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9418" y="2222012"/>
            <a:ext cx="9531927" cy="1477151"/>
          </a:xfrm>
        </p:spPr>
        <p:txBody>
          <a:bodyPr/>
          <a:lstStyle/>
          <a:p>
            <a:r>
              <a:rPr lang="en-US" b="1" dirty="0" smtClean="0"/>
              <a:t>               Any Queries ?</a:t>
            </a:r>
            <a:endParaRPr lang="en-US" b="1" dirty="0"/>
          </a:p>
        </p:txBody>
      </p:sp>
    </p:spTree>
    <p:extLst>
      <p:ext uri="{BB962C8B-B14F-4D97-AF65-F5344CB8AC3E}">
        <p14:creationId xmlns:p14="http://schemas.microsoft.com/office/powerpoint/2010/main" val="214602534"/>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66800" y="642593"/>
            <a:ext cx="10058400" cy="5467261"/>
          </a:xfrm>
        </p:spPr>
        <p:txBody>
          <a:bodyPr/>
          <a:lstStyle/>
          <a:p>
            <a:r>
              <a:rPr lang="en-US" b="1" dirty="0" smtClean="0"/>
              <a:t>             </a:t>
            </a:r>
            <a:r>
              <a:rPr lang="en-US" sz="7200" b="1" dirty="0" smtClean="0"/>
              <a:t>Thank You!!</a:t>
            </a:r>
            <a:endParaRPr lang="en-US" sz="7200" b="1" dirty="0"/>
          </a:p>
        </p:txBody>
      </p:sp>
    </p:spTree>
    <p:extLst>
      <p:ext uri="{BB962C8B-B14F-4D97-AF65-F5344CB8AC3E}">
        <p14:creationId xmlns:p14="http://schemas.microsoft.com/office/powerpoint/2010/main" val="742022446"/>
      </p:ext>
    </p:extLst>
  </p:cSld>
  <p:clrMapOvr>
    <a:masterClrMapping/>
  </p:clrMapOvr>
  <p:transition spd="med">
    <p:pull/>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203</TotalTime>
  <Words>424</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Century Gothic</vt:lpstr>
      <vt:lpstr>Garamond</vt:lpstr>
      <vt:lpstr>Wingdings</vt:lpstr>
      <vt:lpstr>Savon</vt:lpstr>
      <vt:lpstr>Data Mining</vt:lpstr>
      <vt:lpstr>Outlines </vt:lpstr>
      <vt:lpstr>What is Data Mining?</vt:lpstr>
      <vt:lpstr>Steps of Data Mining</vt:lpstr>
      <vt:lpstr>Objectives of Data Mining </vt:lpstr>
      <vt:lpstr>Data Mining Techniques</vt:lpstr>
      <vt:lpstr>Applications of Data Mining</vt:lpstr>
      <vt:lpstr>Advantages of Data Mining</vt:lpstr>
      <vt:lpstr>Challenges in Data Mining</vt:lpstr>
      <vt:lpstr>Future of data mining</vt:lpstr>
      <vt:lpstr>Conclusion</vt:lpstr>
      <vt:lpstr>               Any Queries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Uncovering Hidden Insights</dc:title>
  <dc:creator>Dibana Khokhali</dc:creator>
  <cp:lastModifiedBy>Dibana Khokhali</cp:lastModifiedBy>
  <cp:revision>20</cp:revision>
  <dcterms:created xsi:type="dcterms:W3CDTF">2024-02-28T03:00:07Z</dcterms:created>
  <dcterms:modified xsi:type="dcterms:W3CDTF">2024-06-10T13:38:26Z</dcterms:modified>
</cp:coreProperties>
</file>