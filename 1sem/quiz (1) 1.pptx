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sldIdLst>
    <p:sldId id="256" r:id="rId2"/>
    <p:sldId id="259" r:id="rId3"/>
    <p:sldId id="262" r:id="rId4"/>
    <p:sldId id="257" r:id="rId5"/>
    <p:sldId id="258" r:id="rId6"/>
    <p:sldId id="261" r:id="rId7"/>
    <p:sldId id="263" r:id="rId8"/>
    <p:sldId id="264" r:id="rId9"/>
    <p:sldId id="260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8E3C0-2A42-AA2E-3F20-A59958F446BE}" v="299" dt="2024-07-04T17:36:23.905"/>
    <p1510:client id="{B5FD1E23-EEAE-5193-5799-0E9B9525E6EF}" v="132" dt="2024-07-04T15:24:15.306"/>
    <p1510:client id="{F73A3C92-359C-4CA4-A11A-2CA5D15D30EF}" v="84" dt="2024-07-05T02:07:15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66" d="100"/>
          <a:sy n="66" d="100"/>
        </p:scale>
        <p:origin x="-612" y="-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659081-23B2-4403-9EEC-08531429851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10B7AC-E622-453D-85A4-20045E204E4F}">
      <dgm:prSet/>
      <dgm:spPr/>
      <dgm:t>
        <a:bodyPr/>
        <a:lstStyle/>
        <a:p>
          <a:r>
            <a:rPr lang="en-GB"/>
            <a:t>Starting the game </a:t>
          </a:r>
          <a:endParaRPr lang="en-US"/>
        </a:p>
      </dgm:t>
    </dgm:pt>
    <dgm:pt modelId="{B569D80D-7DB1-41E0-93FD-7EA547045B1D}" type="parTrans" cxnId="{9CC87BAB-34E4-4503-8B38-6E3314195908}">
      <dgm:prSet/>
      <dgm:spPr/>
      <dgm:t>
        <a:bodyPr/>
        <a:lstStyle/>
        <a:p>
          <a:endParaRPr lang="en-US"/>
        </a:p>
      </dgm:t>
    </dgm:pt>
    <dgm:pt modelId="{2CB76BD2-EF8F-4AB8-A1D3-69AE444F1BC1}" type="sibTrans" cxnId="{9CC87BAB-34E4-4503-8B38-6E3314195908}">
      <dgm:prSet/>
      <dgm:spPr/>
      <dgm:t>
        <a:bodyPr/>
        <a:lstStyle/>
        <a:p>
          <a:endParaRPr lang="en-US"/>
        </a:p>
      </dgm:t>
    </dgm:pt>
    <dgm:pt modelId="{96D88DCC-E1B8-4BE0-A931-9F3D377473BE}">
      <dgm:prSet/>
      <dgm:spPr/>
      <dgm:t>
        <a:bodyPr/>
        <a:lstStyle/>
        <a:p>
          <a:r>
            <a:rPr lang="en-GB"/>
            <a:t>Check Answers if they are correct/wrong</a:t>
          </a:r>
          <a:endParaRPr lang="en-US"/>
        </a:p>
      </dgm:t>
    </dgm:pt>
    <dgm:pt modelId="{99EB2993-2CA0-464C-9184-80CE9C1B5DCF}" type="parTrans" cxnId="{7191BECD-7B22-41FF-B124-CC8D26B4C7A1}">
      <dgm:prSet/>
      <dgm:spPr/>
      <dgm:t>
        <a:bodyPr/>
        <a:lstStyle/>
        <a:p>
          <a:endParaRPr lang="en-US"/>
        </a:p>
      </dgm:t>
    </dgm:pt>
    <dgm:pt modelId="{29BBDBE1-B80C-4DA9-BCE8-5A2A07DFE248}" type="sibTrans" cxnId="{7191BECD-7B22-41FF-B124-CC8D26B4C7A1}">
      <dgm:prSet/>
      <dgm:spPr/>
      <dgm:t>
        <a:bodyPr/>
        <a:lstStyle/>
        <a:p>
          <a:endParaRPr lang="en-US"/>
        </a:p>
      </dgm:t>
    </dgm:pt>
    <dgm:pt modelId="{49FB1414-1088-4A29-9086-15936AEE18B4}">
      <dgm:prSet/>
      <dgm:spPr/>
      <dgm:t>
        <a:bodyPr/>
        <a:lstStyle/>
        <a:p>
          <a:r>
            <a:rPr lang="en-GB"/>
            <a:t>Get the Final Score</a:t>
          </a:r>
          <a:endParaRPr lang="en-US"/>
        </a:p>
      </dgm:t>
    </dgm:pt>
    <dgm:pt modelId="{568899DE-1DBF-4CEB-813F-F12FB42BCECA}" type="parTrans" cxnId="{C1FD0FB2-914A-43CE-858F-3957FFA7903D}">
      <dgm:prSet/>
      <dgm:spPr/>
      <dgm:t>
        <a:bodyPr/>
        <a:lstStyle/>
        <a:p>
          <a:endParaRPr lang="en-US"/>
        </a:p>
      </dgm:t>
    </dgm:pt>
    <dgm:pt modelId="{6B446F46-B456-4EFA-A303-F078381ADBB7}" type="sibTrans" cxnId="{C1FD0FB2-914A-43CE-858F-3957FFA7903D}">
      <dgm:prSet/>
      <dgm:spPr/>
      <dgm:t>
        <a:bodyPr/>
        <a:lstStyle/>
        <a:p>
          <a:endParaRPr lang="en-US"/>
        </a:p>
      </dgm:t>
    </dgm:pt>
    <dgm:pt modelId="{A557042D-91B1-4454-AB78-37FD76024EB9}" type="pres">
      <dgm:prSet presAssocID="{39659081-23B2-4403-9EEC-085314298519}" presName="vert0" presStyleCnt="0">
        <dgm:presLayoutVars>
          <dgm:dir/>
          <dgm:animOne val="branch"/>
          <dgm:animLvl val="lvl"/>
        </dgm:presLayoutVars>
      </dgm:prSet>
      <dgm:spPr/>
    </dgm:pt>
    <dgm:pt modelId="{093C16ED-D450-498A-915A-F721E6B2CEE8}" type="pres">
      <dgm:prSet presAssocID="{9610B7AC-E622-453D-85A4-20045E204E4F}" presName="thickLine" presStyleLbl="alignNode1" presStyleIdx="0" presStyleCnt="3"/>
      <dgm:spPr/>
    </dgm:pt>
    <dgm:pt modelId="{6B917EB7-7EB6-4AA6-AF64-E842E3F5FA5E}" type="pres">
      <dgm:prSet presAssocID="{9610B7AC-E622-453D-85A4-20045E204E4F}" presName="horz1" presStyleCnt="0"/>
      <dgm:spPr/>
    </dgm:pt>
    <dgm:pt modelId="{F6EE3108-A1CD-457B-A36D-05AEA6A2E413}" type="pres">
      <dgm:prSet presAssocID="{9610B7AC-E622-453D-85A4-20045E204E4F}" presName="tx1" presStyleLbl="revTx" presStyleIdx="0" presStyleCnt="3"/>
      <dgm:spPr/>
    </dgm:pt>
    <dgm:pt modelId="{E185F226-F367-4FF4-9B01-C01B7A80D199}" type="pres">
      <dgm:prSet presAssocID="{9610B7AC-E622-453D-85A4-20045E204E4F}" presName="vert1" presStyleCnt="0"/>
      <dgm:spPr/>
    </dgm:pt>
    <dgm:pt modelId="{78BE3523-C6CD-4D18-9A24-687AE9D42796}" type="pres">
      <dgm:prSet presAssocID="{96D88DCC-E1B8-4BE0-A931-9F3D377473BE}" presName="thickLine" presStyleLbl="alignNode1" presStyleIdx="1" presStyleCnt="3"/>
      <dgm:spPr/>
    </dgm:pt>
    <dgm:pt modelId="{7712710E-0567-4892-97B8-999AEAFBB886}" type="pres">
      <dgm:prSet presAssocID="{96D88DCC-E1B8-4BE0-A931-9F3D377473BE}" presName="horz1" presStyleCnt="0"/>
      <dgm:spPr/>
    </dgm:pt>
    <dgm:pt modelId="{E27114C5-1A96-4CE2-8D9E-DB458E9B4CAD}" type="pres">
      <dgm:prSet presAssocID="{96D88DCC-E1B8-4BE0-A931-9F3D377473BE}" presName="tx1" presStyleLbl="revTx" presStyleIdx="1" presStyleCnt="3"/>
      <dgm:spPr/>
    </dgm:pt>
    <dgm:pt modelId="{EC84873D-6822-4962-B5A6-E7AC75DF1108}" type="pres">
      <dgm:prSet presAssocID="{96D88DCC-E1B8-4BE0-A931-9F3D377473BE}" presName="vert1" presStyleCnt="0"/>
      <dgm:spPr/>
    </dgm:pt>
    <dgm:pt modelId="{104C1EDC-CFFF-4610-8D6C-0AD6A356F30C}" type="pres">
      <dgm:prSet presAssocID="{49FB1414-1088-4A29-9086-15936AEE18B4}" presName="thickLine" presStyleLbl="alignNode1" presStyleIdx="2" presStyleCnt="3"/>
      <dgm:spPr/>
    </dgm:pt>
    <dgm:pt modelId="{6EF6235E-846F-43C4-AA12-A5F5B046DDEE}" type="pres">
      <dgm:prSet presAssocID="{49FB1414-1088-4A29-9086-15936AEE18B4}" presName="horz1" presStyleCnt="0"/>
      <dgm:spPr/>
    </dgm:pt>
    <dgm:pt modelId="{9273C61A-B0EE-4EB3-8549-B8B3965F837D}" type="pres">
      <dgm:prSet presAssocID="{49FB1414-1088-4A29-9086-15936AEE18B4}" presName="tx1" presStyleLbl="revTx" presStyleIdx="2" presStyleCnt="3"/>
      <dgm:spPr/>
    </dgm:pt>
    <dgm:pt modelId="{726DD1E2-58DA-407E-9DB6-901BF6D327C0}" type="pres">
      <dgm:prSet presAssocID="{49FB1414-1088-4A29-9086-15936AEE18B4}" presName="vert1" presStyleCnt="0"/>
      <dgm:spPr/>
    </dgm:pt>
  </dgm:ptLst>
  <dgm:cxnLst>
    <dgm:cxn modelId="{724BF552-AFA2-4DAD-9836-AD8B4F5D68A3}" type="presOf" srcId="{96D88DCC-E1B8-4BE0-A931-9F3D377473BE}" destId="{E27114C5-1A96-4CE2-8D9E-DB458E9B4CAD}" srcOrd="0" destOrd="0" presId="urn:microsoft.com/office/officeart/2008/layout/LinedList"/>
    <dgm:cxn modelId="{9D4F0657-C179-4B8B-9E91-0FD00FFDBFFA}" type="presOf" srcId="{49FB1414-1088-4A29-9086-15936AEE18B4}" destId="{9273C61A-B0EE-4EB3-8549-B8B3965F837D}" srcOrd="0" destOrd="0" presId="urn:microsoft.com/office/officeart/2008/layout/LinedList"/>
    <dgm:cxn modelId="{9CC87BAB-34E4-4503-8B38-6E3314195908}" srcId="{39659081-23B2-4403-9EEC-085314298519}" destId="{9610B7AC-E622-453D-85A4-20045E204E4F}" srcOrd="0" destOrd="0" parTransId="{B569D80D-7DB1-41E0-93FD-7EA547045B1D}" sibTransId="{2CB76BD2-EF8F-4AB8-A1D3-69AE444F1BC1}"/>
    <dgm:cxn modelId="{C1FD0FB2-914A-43CE-858F-3957FFA7903D}" srcId="{39659081-23B2-4403-9EEC-085314298519}" destId="{49FB1414-1088-4A29-9086-15936AEE18B4}" srcOrd="2" destOrd="0" parTransId="{568899DE-1DBF-4CEB-813F-F12FB42BCECA}" sibTransId="{6B446F46-B456-4EFA-A303-F078381ADBB7}"/>
    <dgm:cxn modelId="{1C0790B6-C87E-463D-9C82-5B791C962289}" type="presOf" srcId="{9610B7AC-E622-453D-85A4-20045E204E4F}" destId="{F6EE3108-A1CD-457B-A36D-05AEA6A2E413}" srcOrd="0" destOrd="0" presId="urn:microsoft.com/office/officeart/2008/layout/LinedList"/>
    <dgm:cxn modelId="{7191BECD-7B22-41FF-B124-CC8D26B4C7A1}" srcId="{39659081-23B2-4403-9EEC-085314298519}" destId="{96D88DCC-E1B8-4BE0-A931-9F3D377473BE}" srcOrd="1" destOrd="0" parTransId="{99EB2993-2CA0-464C-9184-80CE9C1B5DCF}" sibTransId="{29BBDBE1-B80C-4DA9-BCE8-5A2A07DFE248}"/>
    <dgm:cxn modelId="{29C209CF-D2AD-4109-BBC4-972F9876B1AE}" type="presOf" srcId="{39659081-23B2-4403-9EEC-085314298519}" destId="{A557042D-91B1-4454-AB78-37FD76024EB9}" srcOrd="0" destOrd="0" presId="urn:microsoft.com/office/officeart/2008/layout/LinedList"/>
    <dgm:cxn modelId="{4731BFAA-1B6C-4FF4-8AB8-6C4CE6D0338C}" type="presParOf" srcId="{A557042D-91B1-4454-AB78-37FD76024EB9}" destId="{093C16ED-D450-498A-915A-F721E6B2CEE8}" srcOrd="0" destOrd="0" presId="urn:microsoft.com/office/officeart/2008/layout/LinedList"/>
    <dgm:cxn modelId="{378E1F2D-8756-4F7D-A5E4-91AECB1A6DF5}" type="presParOf" srcId="{A557042D-91B1-4454-AB78-37FD76024EB9}" destId="{6B917EB7-7EB6-4AA6-AF64-E842E3F5FA5E}" srcOrd="1" destOrd="0" presId="urn:microsoft.com/office/officeart/2008/layout/LinedList"/>
    <dgm:cxn modelId="{9AB5DE36-1DE3-47B4-B97F-E78D84FEDE7E}" type="presParOf" srcId="{6B917EB7-7EB6-4AA6-AF64-E842E3F5FA5E}" destId="{F6EE3108-A1CD-457B-A36D-05AEA6A2E413}" srcOrd="0" destOrd="0" presId="urn:microsoft.com/office/officeart/2008/layout/LinedList"/>
    <dgm:cxn modelId="{1183720C-5814-47A7-80D3-E580003BC3C3}" type="presParOf" srcId="{6B917EB7-7EB6-4AA6-AF64-E842E3F5FA5E}" destId="{E185F226-F367-4FF4-9B01-C01B7A80D199}" srcOrd="1" destOrd="0" presId="urn:microsoft.com/office/officeart/2008/layout/LinedList"/>
    <dgm:cxn modelId="{1D1C3CE6-DDEC-4607-AE04-1B56502B45CD}" type="presParOf" srcId="{A557042D-91B1-4454-AB78-37FD76024EB9}" destId="{78BE3523-C6CD-4D18-9A24-687AE9D42796}" srcOrd="2" destOrd="0" presId="urn:microsoft.com/office/officeart/2008/layout/LinedList"/>
    <dgm:cxn modelId="{6E5915D0-282C-4A9A-B12D-9BE8D562286D}" type="presParOf" srcId="{A557042D-91B1-4454-AB78-37FD76024EB9}" destId="{7712710E-0567-4892-97B8-999AEAFBB886}" srcOrd="3" destOrd="0" presId="urn:microsoft.com/office/officeart/2008/layout/LinedList"/>
    <dgm:cxn modelId="{08284DF5-C112-473B-85BA-999CB910B6E9}" type="presParOf" srcId="{7712710E-0567-4892-97B8-999AEAFBB886}" destId="{E27114C5-1A96-4CE2-8D9E-DB458E9B4CAD}" srcOrd="0" destOrd="0" presId="urn:microsoft.com/office/officeart/2008/layout/LinedList"/>
    <dgm:cxn modelId="{9DE97C98-2F19-4C70-B6F8-27A746534E95}" type="presParOf" srcId="{7712710E-0567-4892-97B8-999AEAFBB886}" destId="{EC84873D-6822-4962-B5A6-E7AC75DF1108}" srcOrd="1" destOrd="0" presId="urn:microsoft.com/office/officeart/2008/layout/LinedList"/>
    <dgm:cxn modelId="{D8D65EAF-E1AD-4624-9782-B764A5BEE00F}" type="presParOf" srcId="{A557042D-91B1-4454-AB78-37FD76024EB9}" destId="{104C1EDC-CFFF-4610-8D6C-0AD6A356F30C}" srcOrd="4" destOrd="0" presId="urn:microsoft.com/office/officeart/2008/layout/LinedList"/>
    <dgm:cxn modelId="{B2AB5858-788D-499B-A1A7-8A1C6A0FE80E}" type="presParOf" srcId="{A557042D-91B1-4454-AB78-37FD76024EB9}" destId="{6EF6235E-846F-43C4-AA12-A5F5B046DDEE}" srcOrd="5" destOrd="0" presId="urn:microsoft.com/office/officeart/2008/layout/LinedList"/>
    <dgm:cxn modelId="{06C252C0-0D84-4822-A454-62480E3ABE0A}" type="presParOf" srcId="{6EF6235E-846F-43C4-AA12-A5F5B046DDEE}" destId="{9273C61A-B0EE-4EB3-8549-B8B3965F837D}" srcOrd="0" destOrd="0" presId="urn:microsoft.com/office/officeart/2008/layout/LinedList"/>
    <dgm:cxn modelId="{74DE194B-941F-4EB1-9FA1-8D65AE62CFD4}" type="presParOf" srcId="{6EF6235E-846F-43C4-AA12-A5F5B046DDEE}" destId="{726DD1E2-58DA-407E-9DB6-901BF6D327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C16ED-D450-498A-915A-F721E6B2CEE8}">
      <dsp:nvSpPr>
        <dsp:cNvPr id="0" name=""/>
        <dsp:cNvSpPr/>
      </dsp:nvSpPr>
      <dsp:spPr>
        <a:xfrm>
          <a:off x="0" y="2457"/>
          <a:ext cx="53530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E3108-A1CD-457B-A36D-05AEA6A2E413}">
      <dsp:nvSpPr>
        <dsp:cNvPr id="0" name=""/>
        <dsp:cNvSpPr/>
      </dsp:nvSpPr>
      <dsp:spPr>
        <a:xfrm>
          <a:off x="0" y="2457"/>
          <a:ext cx="5353050" cy="1676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Starting the game </a:t>
          </a:r>
          <a:endParaRPr lang="en-US" sz="3900" kern="1200"/>
        </a:p>
      </dsp:txBody>
      <dsp:txXfrm>
        <a:off x="0" y="2457"/>
        <a:ext cx="5353050" cy="1676035"/>
      </dsp:txXfrm>
    </dsp:sp>
    <dsp:sp modelId="{78BE3523-C6CD-4D18-9A24-687AE9D42796}">
      <dsp:nvSpPr>
        <dsp:cNvPr id="0" name=""/>
        <dsp:cNvSpPr/>
      </dsp:nvSpPr>
      <dsp:spPr>
        <a:xfrm>
          <a:off x="0" y="1678492"/>
          <a:ext cx="53530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114C5-1A96-4CE2-8D9E-DB458E9B4CAD}">
      <dsp:nvSpPr>
        <dsp:cNvPr id="0" name=""/>
        <dsp:cNvSpPr/>
      </dsp:nvSpPr>
      <dsp:spPr>
        <a:xfrm>
          <a:off x="0" y="1678492"/>
          <a:ext cx="5353050" cy="1676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Check Answers if they are correct/wrong</a:t>
          </a:r>
          <a:endParaRPr lang="en-US" sz="3900" kern="1200"/>
        </a:p>
      </dsp:txBody>
      <dsp:txXfrm>
        <a:off x="0" y="1678492"/>
        <a:ext cx="5353050" cy="1676035"/>
      </dsp:txXfrm>
    </dsp:sp>
    <dsp:sp modelId="{104C1EDC-CFFF-4610-8D6C-0AD6A356F30C}">
      <dsp:nvSpPr>
        <dsp:cNvPr id="0" name=""/>
        <dsp:cNvSpPr/>
      </dsp:nvSpPr>
      <dsp:spPr>
        <a:xfrm>
          <a:off x="0" y="3354528"/>
          <a:ext cx="53530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3C61A-B0EE-4EB3-8549-B8B3965F837D}">
      <dsp:nvSpPr>
        <dsp:cNvPr id="0" name=""/>
        <dsp:cNvSpPr/>
      </dsp:nvSpPr>
      <dsp:spPr>
        <a:xfrm>
          <a:off x="0" y="3354528"/>
          <a:ext cx="5353050" cy="1676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Get the Final Score</a:t>
          </a:r>
          <a:endParaRPr lang="en-US" sz="3900" kern="1200"/>
        </a:p>
      </dsp:txBody>
      <dsp:txXfrm>
        <a:off x="0" y="3354528"/>
        <a:ext cx="5353050" cy="1676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43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8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98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90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6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1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6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0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7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0" r:id="rId6"/>
    <p:sldLayoutId id="2147483926" r:id="rId7"/>
    <p:sldLayoutId id="2147483927" r:id="rId8"/>
    <p:sldLayoutId id="2147483928" r:id="rId9"/>
    <p:sldLayoutId id="2147483929" r:id="rId10"/>
    <p:sldLayoutId id="214748393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2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7494" y="552782"/>
            <a:ext cx="5369169" cy="16196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QUIZ GAME </a:t>
            </a:r>
            <a:b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5" name="Picture 34" descr="Hand holding a pen shading number on a sheet">
            <a:extLst>
              <a:ext uri="{FF2B5EF4-FFF2-40B4-BE49-F238E27FC236}">
                <a16:creationId xmlns:a16="http://schemas.microsoft.com/office/drawing/2014/main" id="{6CA1E964-8E9F-AA93-3A5B-02441FA54A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280" r="-1" b="-1"/>
          <a:stretch/>
        </p:blipFill>
        <p:spPr>
          <a:xfrm>
            <a:off x="-52346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5436113" y="4232571"/>
                </a:moveTo>
                <a:cubicBezTo>
                  <a:pt x="5625722" y="4232571"/>
                  <a:pt x="5779430" y="4386279"/>
                  <a:pt x="5779430" y="4575888"/>
                </a:cubicBezTo>
                <a:cubicBezTo>
                  <a:pt x="5779430" y="4765497"/>
                  <a:pt x="5625722" y="4919205"/>
                  <a:pt x="5436113" y="4919205"/>
                </a:cubicBezTo>
                <a:cubicBezTo>
                  <a:pt x="5246504" y="4919205"/>
                  <a:pt x="5092796" y="4765497"/>
                  <a:pt x="5092796" y="4575888"/>
                </a:cubicBezTo>
                <a:cubicBezTo>
                  <a:pt x="5092796" y="4386279"/>
                  <a:pt x="5246504" y="4232571"/>
                  <a:pt x="5436113" y="4232571"/>
                </a:cubicBezTo>
                <a:close/>
                <a:moveTo>
                  <a:pt x="5580185" y="1806694"/>
                </a:moveTo>
                <a:cubicBezTo>
                  <a:pt x="5699726" y="1806694"/>
                  <a:pt x="5799461" y="1891487"/>
                  <a:pt x="5822527" y="2004209"/>
                </a:cubicBezTo>
                <a:lnTo>
                  <a:pt x="5827552" y="2054052"/>
                </a:lnTo>
                <a:lnTo>
                  <a:pt x="5827552" y="2054073"/>
                </a:lnTo>
                <a:lnTo>
                  <a:pt x="5822527" y="2103916"/>
                </a:lnTo>
                <a:cubicBezTo>
                  <a:pt x="5799461" y="2216637"/>
                  <a:pt x="5699726" y="2301430"/>
                  <a:pt x="5580185" y="2301430"/>
                </a:cubicBezTo>
                <a:cubicBezTo>
                  <a:pt x="5443567" y="2301430"/>
                  <a:pt x="5332817" y="2190680"/>
                  <a:pt x="5332817" y="2054062"/>
                </a:cubicBezTo>
                <a:cubicBezTo>
                  <a:pt x="5332817" y="1917444"/>
                  <a:pt x="5443567" y="1806694"/>
                  <a:pt x="5580185" y="1806694"/>
                </a:cubicBezTo>
                <a:close/>
                <a:moveTo>
                  <a:pt x="5580184" y="1294715"/>
                </a:moveTo>
                <a:cubicBezTo>
                  <a:pt x="5659753" y="1294715"/>
                  <a:pt x="5724256" y="1359218"/>
                  <a:pt x="5724256" y="1438787"/>
                </a:cubicBezTo>
                <a:cubicBezTo>
                  <a:pt x="5724256" y="1518356"/>
                  <a:pt x="5659753" y="1582859"/>
                  <a:pt x="5580184" y="1582859"/>
                </a:cubicBezTo>
                <a:cubicBezTo>
                  <a:pt x="5500615" y="1582859"/>
                  <a:pt x="5436112" y="1518356"/>
                  <a:pt x="5436112" y="1438787"/>
                </a:cubicBezTo>
                <a:cubicBezTo>
                  <a:pt x="5436112" y="1359218"/>
                  <a:pt x="5500615" y="1294715"/>
                  <a:pt x="5580184" y="1294715"/>
                </a:cubicBezTo>
                <a:close/>
                <a:moveTo>
                  <a:pt x="0" y="0"/>
                </a:moveTo>
                <a:lnTo>
                  <a:pt x="5346882" y="0"/>
                </a:lnTo>
                <a:lnTo>
                  <a:pt x="5396357" y="64140"/>
                </a:lnTo>
                <a:cubicBezTo>
                  <a:pt x="5509528" y="228632"/>
                  <a:pt x="5577723" y="424885"/>
                  <a:pt x="5582550" y="646882"/>
                </a:cubicBezTo>
                <a:cubicBezTo>
                  <a:pt x="5608062" y="1102027"/>
                  <a:pt x="5203194" y="1301070"/>
                  <a:pt x="5151872" y="1809180"/>
                </a:cubicBezTo>
                <a:cubicBezTo>
                  <a:pt x="5104686" y="2276432"/>
                  <a:pt x="5496947" y="2514465"/>
                  <a:pt x="5323965" y="3464278"/>
                </a:cubicBezTo>
                <a:cubicBezTo>
                  <a:pt x="5211960" y="4079388"/>
                  <a:pt x="4297510" y="4259025"/>
                  <a:pt x="5513003" y="5720066"/>
                </a:cubicBezTo>
                <a:cubicBezTo>
                  <a:pt x="5768583" y="6027176"/>
                  <a:pt x="5791560" y="6490332"/>
                  <a:pt x="5601722" y="6841105"/>
                </a:cubicBezTo>
                <a:lnTo>
                  <a:pt x="5590822" y="6858000"/>
                </a:lnTo>
                <a:lnTo>
                  <a:pt x="1735" y="6858000"/>
                </a:lnTo>
                <a:lnTo>
                  <a:pt x="0" y="6858000"/>
                </a:lnTo>
                <a:lnTo>
                  <a:pt x="0" y="6849812"/>
                </a:lnTo>
                <a:lnTo>
                  <a:pt x="0" y="6483067"/>
                </a:lnTo>
                <a:lnTo>
                  <a:pt x="0" y="1250146"/>
                </a:lnTo>
                <a:close/>
              </a:path>
            </a:pathLst>
          </a:cu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092" y="2391995"/>
            <a:ext cx="5355276" cy="31747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PRESENTED BY : </a:t>
            </a:r>
          </a:p>
          <a:p>
            <a:r>
              <a:rPr lang="en-US" dirty="0"/>
              <a:t>Manila </a:t>
            </a:r>
            <a:r>
              <a:rPr lang="en-US" dirty="0" err="1"/>
              <a:t>Aryal</a:t>
            </a:r>
            <a:endParaRPr lang="en-US" dirty="0"/>
          </a:p>
          <a:p>
            <a:r>
              <a:rPr lang="en-US" dirty="0" err="1"/>
              <a:t>Anshu</a:t>
            </a:r>
            <a:r>
              <a:rPr lang="en-US" dirty="0"/>
              <a:t> </a:t>
            </a:r>
            <a:r>
              <a:rPr lang="en-US" dirty="0" err="1"/>
              <a:t>Hada</a:t>
            </a:r>
            <a:endParaRPr lang="en-US" dirty="0"/>
          </a:p>
          <a:p>
            <a:r>
              <a:rPr lang="en-US" dirty="0"/>
              <a:t>Kamana Shrestha</a:t>
            </a:r>
          </a:p>
          <a:p>
            <a:r>
              <a:rPr lang="en-US" dirty="0" err="1"/>
              <a:t>Bsc.CSIT</a:t>
            </a:r>
            <a:r>
              <a:rPr lang="en-US" dirty="0"/>
              <a:t> 1st Semester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3074" y="552782"/>
            <a:ext cx="5149326" cy="1643663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</p:txBody>
      </p:sp>
      <p:pic>
        <p:nvPicPr>
          <p:cNvPr id="7" name="Content Placeholder 3" descr="quiz-logo-with-speech-bubble-symbols-concept-of-questionnaire-show-sing-quiz-vector.jpg"/>
          <p:cNvPicPr>
            <a:picLocks noChangeAspect="1"/>
          </p:cNvPicPr>
          <p:nvPr/>
        </p:nvPicPr>
        <p:blipFill rotWithShape="1">
          <a:blip r:embed="rId2" cstate="print"/>
          <a:srcRect t="9402" b="16818"/>
          <a:stretch/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5916AF-1650-A3AF-7609-95B023DC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074" y="2735229"/>
            <a:ext cx="5149326" cy="3108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Arial" panose="020B05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A Quiz is a form of game or mind sport in which players attempt to answer questions correctly on one or several specific topics.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4D190-E445-9B66-C90F-C0749EF6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60916"/>
            <a:ext cx="5480813" cy="1282667"/>
          </a:xfrm>
        </p:spPr>
        <p:txBody>
          <a:bodyPr anchor="b">
            <a:normAutofit/>
          </a:bodyPr>
          <a:lstStyle/>
          <a:p>
            <a:r>
              <a:rPr lang="en-GB" dirty="0">
                <a:cs typeface="Posterama"/>
              </a:rPr>
              <a:t>Features </a:t>
            </a:r>
            <a:endParaRPr lang="en-GB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83D1144A-6164-59AD-0814-9AFEE0686F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79" r="-14" b="-14"/>
          <a:stretch/>
        </p:blipFill>
        <p:spPr>
          <a:xfrm>
            <a:off x="-1" y="1"/>
            <a:ext cx="5242562" cy="4293415"/>
          </a:xfrm>
          <a:custGeom>
            <a:avLst/>
            <a:gdLst/>
            <a:ahLst/>
            <a:cxnLst/>
            <a:rect l="l" t="t" r="r" b="b"/>
            <a:pathLst>
              <a:path w="6734174" h="5514977">
                <a:moveTo>
                  <a:pt x="1077007" y="4987440"/>
                </a:moveTo>
                <a:cubicBezTo>
                  <a:pt x="1094537" y="4990273"/>
                  <a:pt x="1112073" y="4996453"/>
                  <a:pt x="1128635" y="5006199"/>
                </a:cubicBezTo>
                <a:cubicBezTo>
                  <a:pt x="1194883" y="5045182"/>
                  <a:pt x="1220457" y="5126442"/>
                  <a:pt x="1185757" y="5187698"/>
                </a:cubicBezTo>
                <a:cubicBezTo>
                  <a:pt x="1151058" y="5248954"/>
                  <a:pt x="1069223" y="5267011"/>
                  <a:pt x="1002975" y="5228028"/>
                </a:cubicBezTo>
                <a:cubicBezTo>
                  <a:pt x="936728" y="5189045"/>
                  <a:pt x="911153" y="5107785"/>
                  <a:pt x="945853" y="5046529"/>
                </a:cubicBezTo>
                <a:cubicBezTo>
                  <a:pt x="963203" y="5015901"/>
                  <a:pt x="992337" y="4996072"/>
                  <a:pt x="1025413" y="4988775"/>
                </a:cubicBezTo>
                <a:cubicBezTo>
                  <a:pt x="1041952" y="4985125"/>
                  <a:pt x="1059476" y="4984609"/>
                  <a:pt x="1077007" y="4987440"/>
                </a:cubicBezTo>
                <a:close/>
                <a:moveTo>
                  <a:pt x="474762" y="4590962"/>
                </a:moveTo>
                <a:cubicBezTo>
                  <a:pt x="500491" y="4587824"/>
                  <a:pt x="527063" y="4588310"/>
                  <a:pt x="553642" y="4592604"/>
                </a:cubicBezTo>
                <a:cubicBezTo>
                  <a:pt x="589081" y="4598329"/>
                  <a:pt x="624531" y="4610823"/>
                  <a:pt x="658012" y="4630525"/>
                </a:cubicBezTo>
                <a:cubicBezTo>
                  <a:pt x="791935" y="4709331"/>
                  <a:pt x="843635" y="4873604"/>
                  <a:pt x="773488" y="4997438"/>
                </a:cubicBezTo>
                <a:cubicBezTo>
                  <a:pt x="703339" y="5121271"/>
                  <a:pt x="537907" y="5157774"/>
                  <a:pt x="403983" y="5078968"/>
                </a:cubicBezTo>
                <a:cubicBezTo>
                  <a:pt x="270060" y="5000162"/>
                  <a:pt x="218360" y="4835889"/>
                  <a:pt x="288508" y="4712055"/>
                </a:cubicBezTo>
                <a:cubicBezTo>
                  <a:pt x="327966" y="4642398"/>
                  <a:pt x="397573" y="4600375"/>
                  <a:pt x="474762" y="4590962"/>
                </a:cubicBezTo>
                <a:close/>
                <a:moveTo>
                  <a:pt x="0" y="0"/>
                </a:moveTo>
                <a:lnTo>
                  <a:pt x="952983" y="0"/>
                </a:lnTo>
                <a:lnTo>
                  <a:pt x="2081055" y="0"/>
                </a:lnTo>
                <a:lnTo>
                  <a:pt x="2263577" y="150988"/>
                </a:lnTo>
                <a:cubicBezTo>
                  <a:pt x="2504052" y="338565"/>
                  <a:pt x="2728791" y="577550"/>
                  <a:pt x="2992530" y="694885"/>
                </a:cubicBezTo>
                <a:cubicBezTo>
                  <a:pt x="3318395" y="839609"/>
                  <a:pt x="3657608" y="716866"/>
                  <a:pt x="3970058" y="592698"/>
                </a:cubicBezTo>
                <a:cubicBezTo>
                  <a:pt x="4331373" y="448982"/>
                  <a:pt x="4690914" y="359985"/>
                  <a:pt x="5084944" y="488161"/>
                </a:cubicBezTo>
                <a:cubicBezTo>
                  <a:pt x="5565424" y="644433"/>
                  <a:pt x="5733507" y="1009888"/>
                  <a:pt x="5669311" y="1444982"/>
                </a:cubicBezTo>
                <a:cubicBezTo>
                  <a:pt x="5633326" y="1688985"/>
                  <a:pt x="5552663" y="1922553"/>
                  <a:pt x="5493314" y="2161331"/>
                </a:cubicBezTo>
                <a:cubicBezTo>
                  <a:pt x="5439656" y="2378561"/>
                  <a:pt x="5495983" y="2579198"/>
                  <a:pt x="5660990" y="2721315"/>
                </a:cubicBezTo>
                <a:cubicBezTo>
                  <a:pt x="5835491" y="2871524"/>
                  <a:pt x="6009868" y="3023606"/>
                  <a:pt x="6194694" y="3156288"/>
                </a:cubicBezTo>
                <a:cubicBezTo>
                  <a:pt x="6992820" y="3729094"/>
                  <a:pt x="6788369" y="4727029"/>
                  <a:pt x="6332492" y="5124196"/>
                </a:cubicBezTo>
                <a:cubicBezTo>
                  <a:pt x="5760173" y="5622336"/>
                  <a:pt x="5107042" y="5619729"/>
                  <a:pt x="4441677" y="5255068"/>
                </a:cubicBezTo>
                <a:cubicBezTo>
                  <a:pt x="4173482" y="5108729"/>
                  <a:pt x="3929482" y="4905798"/>
                  <a:pt x="3670848" y="4735132"/>
                </a:cubicBezTo>
                <a:cubicBezTo>
                  <a:pt x="3306542" y="4495539"/>
                  <a:pt x="2914030" y="4470019"/>
                  <a:pt x="2584477" y="4836478"/>
                </a:cubicBezTo>
                <a:cubicBezTo>
                  <a:pt x="2461558" y="4973117"/>
                  <a:pt x="2326491" y="5118013"/>
                  <a:pt x="2168844" y="5190252"/>
                </a:cubicBezTo>
                <a:cubicBezTo>
                  <a:pt x="1762360" y="5376523"/>
                  <a:pt x="1372544" y="5223527"/>
                  <a:pt x="1038433" y="4794945"/>
                </a:cubicBezTo>
                <a:cubicBezTo>
                  <a:pt x="904350" y="4623011"/>
                  <a:pt x="765802" y="4432532"/>
                  <a:pt x="552043" y="4416221"/>
                </a:cubicBezTo>
                <a:cubicBezTo>
                  <a:pt x="379074" y="4403135"/>
                  <a:pt x="204522" y="4409418"/>
                  <a:pt x="31608" y="4426144"/>
                </a:cubicBezTo>
                <a:lnTo>
                  <a:pt x="0" y="4429791"/>
                </a:lnTo>
                <a:close/>
              </a:path>
            </a:pathLst>
          </a:custGeom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4887A6F-4D46-7175-4186-12338B45C3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29350" y="810562"/>
          <a:ext cx="5353050" cy="5033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309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11646" y="734517"/>
            <a:ext cx="1978702" cy="8094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916776" y="1963711"/>
            <a:ext cx="2458385" cy="7944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691922" y="3267856"/>
            <a:ext cx="2758190" cy="86943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 INPUT</a:t>
            </a:r>
          </a:p>
        </p:txBody>
      </p:sp>
      <p:sp>
        <p:nvSpPr>
          <p:cNvPr id="5" name="Diamond 4"/>
          <p:cNvSpPr/>
          <p:nvPr/>
        </p:nvSpPr>
        <p:spPr>
          <a:xfrm>
            <a:off x="4991723" y="4616972"/>
            <a:ext cx="2218545" cy="137909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START OR QUIT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675" y="449705"/>
            <a:ext cx="396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FLOWCHART OF THE QUIZ GAME </a:t>
            </a:r>
          </a:p>
        </p:txBody>
      </p:sp>
      <p:cxnSp>
        <p:nvCxnSpPr>
          <p:cNvPr id="9" name="Straight Arrow Connector 8"/>
          <p:cNvCxnSpPr>
            <a:stCxn id="5" idx="2"/>
          </p:cNvCxnSpPr>
          <p:nvPr/>
        </p:nvCxnSpPr>
        <p:spPr>
          <a:xfrm rot="16200000" flipH="1">
            <a:off x="5928610" y="6168451"/>
            <a:ext cx="359763" cy="1499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6200000" flipH="1">
            <a:off x="5891136" y="2998034"/>
            <a:ext cx="494676" cy="14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853658" y="4354643"/>
            <a:ext cx="509666" cy="149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H="1">
            <a:off x="5913619" y="1761344"/>
            <a:ext cx="419729" cy="149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5846164" y="6355830"/>
            <a:ext cx="554636" cy="4122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7" name="Straight Connector 36"/>
          <p:cNvCxnSpPr>
            <a:stCxn id="5" idx="3"/>
          </p:cNvCxnSpPr>
          <p:nvPr/>
        </p:nvCxnSpPr>
        <p:spPr>
          <a:xfrm>
            <a:off x="7210268" y="5306519"/>
            <a:ext cx="1813811" cy="29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8255834" y="6104744"/>
            <a:ext cx="1506511" cy="158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89561" y="493176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</a:t>
            </a:r>
          </a:p>
        </p:txBody>
      </p:sp>
      <p:cxnSp>
        <p:nvCxnSpPr>
          <p:cNvPr id="42" name="Straight Connector 41"/>
          <p:cNvCxnSpPr/>
          <p:nvPr/>
        </p:nvCxnSpPr>
        <p:spPr>
          <a:xfrm rot="16200000" flipH="1">
            <a:off x="978108" y="4598233"/>
            <a:ext cx="4504544" cy="149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3" idx="1"/>
          </p:cNvCxnSpPr>
          <p:nvPr/>
        </p:nvCxnSpPr>
        <p:spPr>
          <a:xfrm>
            <a:off x="3192906" y="2353455"/>
            <a:ext cx="1723870" cy="749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00996" y="596608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6558" y="1199212"/>
            <a:ext cx="2233534" cy="1034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QUIT GAME 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6518" y="2833141"/>
            <a:ext cx="2233534" cy="109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SCORE</a:t>
            </a:r>
          </a:p>
        </p:txBody>
      </p:sp>
      <p:sp>
        <p:nvSpPr>
          <p:cNvPr id="4" name="Oval 3"/>
          <p:cNvSpPr/>
          <p:nvPr/>
        </p:nvSpPr>
        <p:spPr>
          <a:xfrm>
            <a:off x="5486399" y="4586990"/>
            <a:ext cx="194872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5" name="Flowchart: Connector 4"/>
          <p:cNvSpPr/>
          <p:nvPr/>
        </p:nvSpPr>
        <p:spPr>
          <a:xfrm>
            <a:off x="6100996" y="194872"/>
            <a:ext cx="554636" cy="52465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" name="Straight Arrow Connector 5"/>
          <p:cNvCxnSpPr>
            <a:stCxn id="5" idx="4"/>
            <a:endCxn id="2" idx="0"/>
          </p:cNvCxnSpPr>
          <p:nvPr/>
        </p:nvCxnSpPr>
        <p:spPr>
          <a:xfrm rot="5400000">
            <a:off x="6130978" y="951875"/>
            <a:ext cx="479685" cy="149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6200000" flipH="1">
            <a:off x="6084756" y="2547080"/>
            <a:ext cx="597113" cy="499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0"/>
          </p:cNvCxnSpPr>
          <p:nvPr/>
        </p:nvCxnSpPr>
        <p:spPr>
          <a:xfrm rot="16200000" flipH="1">
            <a:off x="6124730" y="4250960"/>
            <a:ext cx="654574" cy="174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16200000" flipH="1">
            <a:off x="2211049" y="1716374"/>
            <a:ext cx="3462728" cy="299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6200000" flipH="1">
            <a:off x="6565692" y="2413416"/>
            <a:ext cx="4841823" cy="149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927423" y="3432749"/>
            <a:ext cx="1409075" cy="1498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 flipV="1">
            <a:off x="7375162" y="4856813"/>
            <a:ext cx="1618937" cy="1499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44EAD-200B-0E89-A2DF-D8A2849F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752" y="552782"/>
            <a:ext cx="5919373" cy="1611920"/>
          </a:xfrm>
        </p:spPr>
        <p:txBody>
          <a:bodyPr>
            <a:normAutofit/>
          </a:bodyPr>
          <a:lstStyle/>
          <a:p>
            <a:r>
              <a:rPr lang="en-GB" dirty="0">
                <a:cs typeface="Posterama"/>
              </a:rPr>
              <a:t> Objective 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2E791B01-4818-9D8C-A2BD-E36C9EF60B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46" r="4" b="4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365F-2057-BEA6-0F06-8E70CB366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083" y="2391995"/>
            <a:ext cx="5904056" cy="3174788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 algn="just">
              <a:buFont typeface="Courier New" panose="020B05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Create a simple and entertaining game.</a:t>
            </a:r>
            <a:endParaRPr lang="en-US" dirty="0"/>
          </a:p>
          <a:p>
            <a:pPr lvl="1" algn="just"/>
            <a:endParaRPr lang="en-GB" dirty="0">
              <a:ea typeface="+mn-lt"/>
              <a:cs typeface="+mn-lt"/>
            </a:endParaRPr>
          </a:p>
          <a:p>
            <a:pPr lvl="1" algn="just">
              <a:buFont typeface="Courier New" panose="020B05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Enhance users IQ level in entertaining way.</a:t>
            </a:r>
          </a:p>
          <a:p>
            <a:pPr lvl="1" algn="just"/>
            <a:endParaRPr lang="en-GB" dirty="0">
              <a:ea typeface="+mn-lt"/>
              <a:cs typeface="+mn-lt"/>
            </a:endParaRPr>
          </a:p>
          <a:p>
            <a:pPr lvl="1" algn="just">
              <a:buFont typeface="Courier New" panose="020B05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The users can easily learn different kinds of knowledge about variety of subjects</a:t>
            </a:r>
            <a:endParaRPr lang="en-GB"/>
          </a:p>
          <a:p>
            <a:pPr>
              <a:buFont typeface="Arial" panose="020B05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739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08229-CE35-5AA6-A16D-621720CD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752" y="552782"/>
            <a:ext cx="5919373" cy="1611920"/>
          </a:xfrm>
        </p:spPr>
        <p:txBody>
          <a:bodyPr>
            <a:normAutofit/>
          </a:bodyPr>
          <a:lstStyle/>
          <a:p>
            <a:r>
              <a:rPr lang="en-GB" dirty="0">
                <a:cs typeface="Posterama"/>
              </a:rPr>
              <a:t>Methodology </a:t>
            </a:r>
            <a:endParaRPr lang="en-GB"/>
          </a:p>
        </p:txBody>
      </p:sp>
      <p:pic>
        <p:nvPicPr>
          <p:cNvPr id="31" name="Picture 30" descr="White bulbs with a yellow one standing out">
            <a:extLst>
              <a:ext uri="{FF2B5EF4-FFF2-40B4-BE49-F238E27FC236}">
                <a16:creationId xmlns:a16="http://schemas.microsoft.com/office/drawing/2014/main" id="{83E0EFCF-F7B2-D6B4-A542-73F19655BC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05" r="12294" b="-3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F56B-9580-48C6-A654-4D404AFC4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083" y="2391995"/>
            <a:ext cx="5904056" cy="31747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1. </a:t>
            </a:r>
            <a:r>
              <a:rPr lang="en-US" sz="2400" b="1" dirty="0">
                <a:latin typeface="Avenir Next LT Pro"/>
                <a:cs typeface="Times New Roman"/>
              </a:rPr>
              <a:t>Objectives</a:t>
            </a:r>
            <a:endParaRPr lang="en-US" sz="2400">
              <a:latin typeface="Avenir Next LT Pro"/>
            </a:endParaRPr>
          </a:p>
          <a:p>
            <a:pPr algn="just">
              <a:lnSpc>
                <a:spcPct val="100000"/>
              </a:lnSpc>
            </a:pPr>
            <a:r>
              <a:rPr lang="en-US" sz="1800" dirty="0">
                <a:ea typeface="+mn-lt"/>
                <a:cs typeface="+mn-lt"/>
              </a:rPr>
              <a:t>            </a:t>
            </a:r>
            <a:r>
              <a:rPr lang="en-US" sz="1800" dirty="0">
                <a:latin typeface="Avenir Next LT Pro"/>
                <a:cs typeface="Times New Roman"/>
              </a:rPr>
              <a:t>The goal of this program is to develop an interactive IQ test game where participants can respond to multiple-choice questions and promptly receive feedback on their answers.</a:t>
            </a:r>
            <a:endParaRPr lang="en-GB" sz="1800">
              <a:latin typeface="Avenir Next LT Pro"/>
            </a:endParaRPr>
          </a:p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 2.  </a:t>
            </a:r>
            <a:r>
              <a:rPr lang="en-US" sz="2400" b="1" dirty="0">
                <a:latin typeface="Avenir Next LT Pro"/>
                <a:cs typeface="Times New Roman"/>
              </a:rPr>
              <a:t>Implementation</a:t>
            </a:r>
            <a:endParaRPr lang="en-GB" sz="2400">
              <a:latin typeface="Avenir Next LT Pro"/>
              <a:cs typeface="Times New Roman"/>
            </a:endParaRPr>
          </a:p>
          <a:p>
            <a:pPr marL="285750" indent="-285750" algn="just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800" b="1" dirty="0">
                <a:latin typeface="Avenir Next LT Pro"/>
                <a:cs typeface="Times New Roman"/>
              </a:rPr>
              <a:t>Programming language:</a:t>
            </a:r>
            <a:r>
              <a:rPr lang="en-US" sz="1800" b="1" dirty="0">
                <a:ea typeface="+mn-lt"/>
                <a:cs typeface="Times New Roman"/>
              </a:rPr>
              <a:t> </a:t>
            </a:r>
            <a:r>
              <a:rPr lang="en-US" sz="1800" dirty="0">
                <a:ea typeface="+mn-lt"/>
                <a:cs typeface="+mn-lt"/>
              </a:rPr>
              <a:t>Implemented in C.</a:t>
            </a:r>
            <a:endParaRPr lang="en-GB" sz="1800"/>
          </a:p>
          <a:p>
            <a:pPr marL="285750" indent="-285750" algn="just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800" b="1" dirty="0">
                <a:ea typeface="+mn-lt"/>
                <a:cs typeface="+mn-lt"/>
              </a:rPr>
              <a:t>Libraries used</a:t>
            </a:r>
            <a:r>
              <a:rPr lang="en-US" sz="1800" dirty="0">
                <a:ea typeface="+mn-lt"/>
                <a:cs typeface="+mn-lt"/>
              </a:rPr>
              <a:t>: The program utilizes standard C libraries (</a:t>
            </a:r>
            <a:r>
              <a:rPr lang="en-US" sz="1800" err="1">
                <a:latin typeface="Avenir Next LT Pro"/>
              </a:rPr>
              <a:t>stdio.h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latin typeface="Avenir Next LT Pro"/>
              </a:rPr>
              <a:t>stdlib.h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latin typeface="Avenir Next LT Pro"/>
              </a:rPr>
              <a:t>conio.h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latin typeface="Avenir Next LT Pro"/>
              </a:rPr>
              <a:t>ctype.h</a:t>
            </a:r>
            <a:r>
              <a:rPr lang="en-US" sz="1800" dirty="0">
                <a:ea typeface="+mn-lt"/>
                <a:cs typeface="+mn-lt"/>
              </a:rPr>
              <a:t>) for performing input/output operations, managing memory, handling console input, and validating character types, respectively.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22939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4440-40C3-12AC-7754-4FC0973F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Posterama"/>
              </a:rPr>
              <a:t>Methodology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8924E-3E0F-6EE4-9B0E-570BF57ED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600" b="1" dirty="0">
                <a:latin typeface="Avenir Next LT Pro"/>
                <a:cs typeface="Times New Roman"/>
              </a:rPr>
              <a:t>3.</a:t>
            </a:r>
            <a:r>
              <a:rPr lang="en-US" sz="2400" b="1" dirty="0">
                <a:latin typeface="Avenir Next LT Pro"/>
                <a:cs typeface="Times New Roman"/>
              </a:rPr>
              <a:t> Key Functions and their Roll</a:t>
            </a:r>
            <a:endParaRPr lang="en-GB" sz="2400">
              <a:latin typeface="Avenir Next LT Pro"/>
              <a:cs typeface="Times New Roman"/>
            </a:endParaRPr>
          </a:p>
          <a:p>
            <a:pPr marL="514350" lvl="1" indent="-285750" algn="just">
              <a:buFont typeface="Courier New"/>
              <a:buChar char="o"/>
            </a:pPr>
            <a:r>
              <a:rPr lang="en-US" sz="1400" b="1" err="1">
                <a:latin typeface="Avenir Next LT Pro"/>
                <a:cs typeface="Times New Roman"/>
              </a:rPr>
              <a:t>mainMenu</a:t>
            </a:r>
            <a:r>
              <a:rPr lang="en-US" sz="1400" b="1" dirty="0">
                <a:latin typeface="Avenir Next LT Pro"/>
                <a:cs typeface="Times New Roman"/>
              </a:rPr>
              <a:t>():</a:t>
            </a:r>
            <a:r>
              <a:rPr lang="en-US" sz="1400" dirty="0">
                <a:latin typeface="Avenir Next LT Pro"/>
                <a:cs typeface="Times New Roman"/>
              </a:rPr>
              <a:t> This function displays the main menu interface and manages user input to initiate the game or terminate the program.</a:t>
            </a:r>
            <a:endParaRPr lang="en-GB" sz="1400">
              <a:latin typeface="Avenir Next LT Pro"/>
              <a:cs typeface="Times New Roman"/>
            </a:endParaRPr>
          </a:p>
          <a:p>
            <a:pPr marL="514350" lvl="1" indent="-285750" algn="just">
              <a:buFont typeface="Courier New"/>
              <a:buChar char="o"/>
            </a:pPr>
            <a:r>
              <a:rPr lang="en-US" sz="1400" b="1" err="1">
                <a:latin typeface="Avenir Next LT Pro"/>
                <a:cs typeface="Times New Roman"/>
              </a:rPr>
              <a:t>gamePlay</a:t>
            </a:r>
            <a:r>
              <a:rPr lang="en-US" sz="1400" b="1" dirty="0">
                <a:latin typeface="Avenir Next LT Pro"/>
                <a:cs typeface="Times New Roman"/>
              </a:rPr>
              <a:t>():</a:t>
            </a:r>
            <a:r>
              <a:rPr lang="en-US" sz="1400" dirty="0">
                <a:latin typeface="Avenir Next LT Pro"/>
                <a:cs typeface="Times New Roman"/>
              </a:rPr>
              <a:t> Responsible for executing the central gameplay loop, this function presents questions, validates user responses, and provides immediate feedback based on correctness.</a:t>
            </a:r>
            <a:endParaRPr lang="en-GB" sz="1400">
              <a:latin typeface="Avenir Next LT Pro"/>
              <a:cs typeface="Times New Roman"/>
            </a:endParaRPr>
          </a:p>
          <a:p>
            <a:pPr marL="514350" lvl="1" indent="-285750" algn="just">
              <a:buFont typeface="Courier New"/>
              <a:buChar char="o"/>
            </a:pPr>
            <a:r>
              <a:rPr lang="en-US" sz="1400" b="1" err="1">
                <a:latin typeface="Avenir Next LT Pro"/>
                <a:cs typeface="Times New Roman"/>
              </a:rPr>
              <a:t>gotoxy</a:t>
            </a:r>
            <a:r>
              <a:rPr lang="en-US" sz="1400" b="1" dirty="0">
                <a:latin typeface="Avenir Next LT Pro"/>
                <a:cs typeface="Times New Roman"/>
              </a:rPr>
              <a:t>() (Assumed from </a:t>
            </a:r>
            <a:r>
              <a:rPr lang="en-US" sz="1400" b="1" err="1">
                <a:latin typeface="Avenir Next LT Pro"/>
                <a:cs typeface="Times New Roman"/>
              </a:rPr>
              <a:t>gotoxy.h</a:t>
            </a:r>
            <a:r>
              <a:rPr lang="en-US" sz="1400" b="1" dirty="0">
                <a:latin typeface="Avenir Next LT Pro"/>
                <a:cs typeface="Times New Roman"/>
              </a:rPr>
              <a:t>):</a:t>
            </a:r>
            <a:r>
              <a:rPr lang="en-US" sz="1400" dirty="0">
                <a:latin typeface="Avenir Next LT Pro"/>
                <a:cs typeface="Times New Roman"/>
              </a:rPr>
              <a:t> This function, inferred from </a:t>
            </a:r>
            <a:r>
              <a:rPr lang="en-US" sz="1400" err="1">
                <a:latin typeface="Avenir Next LT Pro"/>
              </a:rPr>
              <a:t>gotoxy.h</a:t>
            </a:r>
            <a:r>
              <a:rPr lang="en-US" sz="1400" dirty="0">
                <a:latin typeface="Avenir Next LT Pro"/>
                <a:cs typeface="Times New Roman"/>
              </a:rPr>
              <a:t>, facilitates text positioning within the console interface, contributing to a more refined user experience.</a:t>
            </a:r>
            <a:endParaRPr lang="en-GB" sz="1400">
              <a:latin typeface="Avenir Next LT Pro"/>
              <a:cs typeface="Times New Roman"/>
            </a:endParaRPr>
          </a:p>
          <a:p>
            <a:pPr algn="just"/>
            <a:r>
              <a:rPr lang="en-US" sz="1600" b="1" dirty="0">
                <a:latin typeface="Avenir Next LT Pro"/>
                <a:cs typeface="Times New Roman"/>
              </a:rPr>
              <a:t>4.</a:t>
            </a:r>
            <a:r>
              <a:rPr lang="en-US" sz="2400" b="1" dirty="0">
                <a:latin typeface="Avenir Next LT Pro"/>
                <a:cs typeface="Times New Roman"/>
              </a:rPr>
              <a:t> Testing and Validation</a:t>
            </a:r>
            <a:endParaRPr lang="en-GB" sz="2400" dirty="0">
              <a:latin typeface="Avenir Next LT Pro"/>
              <a:cs typeface="Times New Roman"/>
            </a:endParaRPr>
          </a:p>
          <a:p>
            <a:pPr marL="514350" lvl="1" indent="-285750" algn="just">
              <a:buFont typeface="Courier New"/>
              <a:buChar char="o"/>
            </a:pPr>
            <a:r>
              <a:rPr lang="en-US" sz="1400" dirty="0">
                <a:latin typeface="Avenir Next LT Pro"/>
                <a:cs typeface="Times New Roman"/>
              </a:rPr>
              <a:t>Valid inputs including 'S', 'Q', 'ESC', and legitimate answer choices 'a', 'b', 'c', 'd'.</a:t>
            </a:r>
            <a:endParaRPr lang="en-GB" sz="1400">
              <a:latin typeface="Avenir Next LT Pro"/>
              <a:cs typeface="Times New Roman"/>
            </a:endParaRPr>
          </a:p>
          <a:p>
            <a:pPr marL="514350" lvl="1" indent="-285750" algn="just">
              <a:buFont typeface="Courier New"/>
              <a:buChar char="o"/>
            </a:pPr>
            <a:r>
              <a:rPr lang="en-US" sz="1400" dirty="0">
                <a:latin typeface="Avenir Next LT Pro"/>
                <a:cs typeface="Times New Roman"/>
              </a:rPr>
              <a:t>Extensive checks for error handling to verify correct operation when encountering invalid inputs.</a:t>
            </a:r>
            <a:endParaRPr lang="en-GB" sz="1400">
              <a:latin typeface="Avenir Next LT Pro"/>
              <a:cs typeface="Times New Roman"/>
            </a:endParaRPr>
          </a:p>
          <a:p>
            <a:pPr marL="400050" lvl="1" indent="-171450" algn="just">
              <a:buFont typeface="Courier New" panose="020B0504020202020204" pitchFamily="34" charset="0"/>
              <a:buChar char="o"/>
            </a:pPr>
            <a:r>
              <a:rPr lang="en-US" sz="1400" dirty="0">
                <a:latin typeface="Avenir Next LT Pro"/>
                <a:cs typeface="Times New Roman"/>
              </a:rPr>
              <a:t>Testing of edge cases such as boundary values and extreme inputs to ensure robust functionality across all potential use cases.</a:t>
            </a:r>
            <a:endParaRPr lang="en-GB" sz="1400">
              <a:latin typeface="Avenir Next LT Pro"/>
              <a:cs typeface="Times New Roman"/>
            </a:endParaRPr>
          </a:p>
          <a:p>
            <a:pPr algn="just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9791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CEC5B-81EE-F5E6-011B-8CAE575B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875"/>
            <a:ext cx="5354792" cy="873035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Conclusions</a:t>
            </a:r>
            <a:endParaRPr lang="en-US" dirty="0">
              <a:cs typeface="Posteram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9D817-9422-FB0E-D407-A3E349E4A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8" y="983015"/>
            <a:ext cx="5355276" cy="280097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300" b="1"/>
          </a:p>
          <a:p>
            <a:pPr marL="342900" indent="-342900" algn="just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To conclude, the IQ test game program offers an interactive and stimulating experience for users to assess their knowledge through a variety of multiple-choice questions. The program effectively integrates essential features including menu presentation, question display with selectable options, validation of user inputs, and prompt feedback on accuracy.</a:t>
            </a:r>
          </a:p>
          <a:p>
            <a:pPr marL="342900" indent="-342900" algn="just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By using standard C libraries for tasks like handling input/output, managing memory, and controlling the console, along with a specific function (</a:t>
            </a:r>
            <a:r>
              <a:rPr lang="en-US" sz="1800" err="1">
                <a:ea typeface="+mn-lt"/>
                <a:cs typeface="+mn-lt"/>
              </a:rPr>
              <a:t>gotoxy</a:t>
            </a:r>
            <a:r>
              <a:rPr lang="en-US" sz="1800" dirty="0">
                <a:ea typeface="+mn-lt"/>
                <a:cs typeface="+mn-lt"/>
              </a:rPr>
              <a:t>()) for placing text accurately on the screen, the program ensures smooth and user-friendly interaction.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300" b="1">
              <a:latin typeface="Times New Roman"/>
              <a:cs typeface="Times New Roman"/>
            </a:endParaRPr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7C5C0AFB-BFD2-0664-AC1D-76A507827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77" r="17605" b="11"/>
          <a:stretch/>
        </p:blipFill>
        <p:spPr>
          <a:xfrm>
            <a:off x="6364448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391440" y="4232571"/>
                </a:moveTo>
                <a:cubicBezTo>
                  <a:pt x="581049" y="4232571"/>
                  <a:pt x="734757" y="4386279"/>
                  <a:pt x="734757" y="4575888"/>
                </a:cubicBezTo>
                <a:cubicBezTo>
                  <a:pt x="734757" y="4765497"/>
                  <a:pt x="581049" y="4919205"/>
                  <a:pt x="391440" y="4919205"/>
                </a:cubicBezTo>
                <a:cubicBezTo>
                  <a:pt x="201831" y="4919205"/>
                  <a:pt x="48123" y="4765497"/>
                  <a:pt x="48123" y="4575888"/>
                </a:cubicBezTo>
                <a:cubicBezTo>
                  <a:pt x="48123" y="4386279"/>
                  <a:pt x="201831" y="4232571"/>
                  <a:pt x="391440" y="4232571"/>
                </a:cubicBezTo>
                <a:close/>
                <a:moveTo>
                  <a:pt x="247368" y="1806694"/>
                </a:moveTo>
                <a:cubicBezTo>
                  <a:pt x="383986" y="1806694"/>
                  <a:pt x="494736" y="1917444"/>
                  <a:pt x="494736" y="2054062"/>
                </a:cubicBezTo>
                <a:cubicBezTo>
                  <a:pt x="494736" y="2190680"/>
                  <a:pt x="383986" y="2301430"/>
                  <a:pt x="247368" y="2301430"/>
                </a:cubicBezTo>
                <a:cubicBezTo>
                  <a:pt x="110750" y="2301430"/>
                  <a:pt x="0" y="2190680"/>
                  <a:pt x="0" y="2054062"/>
                </a:cubicBezTo>
                <a:cubicBezTo>
                  <a:pt x="0" y="1917444"/>
                  <a:pt x="110750" y="1806694"/>
                  <a:pt x="247368" y="1806694"/>
                </a:cubicBezTo>
                <a:close/>
                <a:moveTo>
                  <a:pt x="247369" y="1294715"/>
                </a:moveTo>
                <a:cubicBezTo>
                  <a:pt x="326938" y="1294715"/>
                  <a:pt x="391441" y="1359218"/>
                  <a:pt x="391441" y="1438787"/>
                </a:cubicBezTo>
                <a:cubicBezTo>
                  <a:pt x="391441" y="1518356"/>
                  <a:pt x="326938" y="1582859"/>
                  <a:pt x="247369" y="1582859"/>
                </a:cubicBezTo>
                <a:cubicBezTo>
                  <a:pt x="167800" y="1582859"/>
                  <a:pt x="103297" y="1518356"/>
                  <a:pt x="103297" y="1438787"/>
                </a:cubicBezTo>
                <a:cubicBezTo>
                  <a:pt x="103297" y="1359218"/>
                  <a:pt x="167800" y="1294715"/>
                  <a:pt x="247369" y="1294715"/>
                </a:cubicBezTo>
                <a:close/>
                <a:moveTo>
                  <a:pt x="480671" y="0"/>
                </a:moveTo>
                <a:lnTo>
                  <a:pt x="5827552" y="0"/>
                </a:lnTo>
                <a:lnTo>
                  <a:pt x="5827552" y="6858000"/>
                </a:lnTo>
                <a:lnTo>
                  <a:pt x="5825818" y="6858000"/>
                </a:lnTo>
                <a:lnTo>
                  <a:pt x="236731" y="6858000"/>
                </a:lnTo>
                <a:lnTo>
                  <a:pt x="225831" y="6841105"/>
                </a:lnTo>
                <a:cubicBezTo>
                  <a:pt x="35993" y="6490332"/>
                  <a:pt x="58970" y="6027176"/>
                  <a:pt x="314550" y="5720066"/>
                </a:cubicBezTo>
                <a:cubicBezTo>
                  <a:pt x="1530043" y="4259025"/>
                  <a:pt x="615593" y="4079388"/>
                  <a:pt x="503588" y="3464278"/>
                </a:cubicBezTo>
                <a:cubicBezTo>
                  <a:pt x="330606" y="2514465"/>
                  <a:pt x="722867" y="2276432"/>
                  <a:pt x="675681" y="1809180"/>
                </a:cubicBezTo>
                <a:cubicBezTo>
                  <a:pt x="624359" y="1301070"/>
                  <a:pt x="219491" y="1102027"/>
                  <a:pt x="245003" y="646882"/>
                </a:cubicBezTo>
                <a:cubicBezTo>
                  <a:pt x="249830" y="424885"/>
                  <a:pt x="318025" y="228632"/>
                  <a:pt x="431196" y="6414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274B4-B001-4088-B01D-E6999509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FDD48-A0AC-A9D6-0EA6-D5D7F767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3"/>
            <a:ext cx="4361811" cy="31308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Thank You</a:t>
            </a:r>
            <a:endParaRPr lang="en-US" sz="6600">
              <a:cs typeface="Posterama"/>
            </a:endParaRPr>
          </a:p>
        </p:txBody>
      </p:sp>
      <p:pic>
        <p:nvPicPr>
          <p:cNvPr id="5" name="Picture 4" descr="A logo of a brain&#10;&#10;Description automatically generated">
            <a:extLst>
              <a:ext uri="{FF2B5EF4-FFF2-40B4-BE49-F238E27FC236}">
                <a16:creationId xmlns:a16="http://schemas.microsoft.com/office/drawing/2014/main" id="{79E6A0E5-190C-0929-967B-196B3DC2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59" r="-1" b="269"/>
          <a:stretch/>
        </p:blipFill>
        <p:spPr>
          <a:xfrm>
            <a:off x="5243149" y="10"/>
            <a:ext cx="6948851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454911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28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SplashVTI</vt:lpstr>
      <vt:lpstr> QUIZ GAME  </vt:lpstr>
      <vt:lpstr>INTRODUCTION</vt:lpstr>
      <vt:lpstr>Features </vt:lpstr>
      <vt:lpstr>PowerPoint Presentation</vt:lpstr>
      <vt:lpstr>PowerPoint Presentation</vt:lpstr>
      <vt:lpstr> Objective </vt:lpstr>
      <vt:lpstr>Methodology </vt:lpstr>
      <vt:lpstr>Methodology </vt:lpstr>
      <vt:lpstr>Conclusions</vt:lpstr>
      <vt:lpstr>Thank 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281</cp:revision>
  <dcterms:created xsi:type="dcterms:W3CDTF">2024-07-04T14:14:06Z</dcterms:created>
  <dcterms:modified xsi:type="dcterms:W3CDTF">2024-07-05T02:07:31Z</dcterms:modified>
</cp:coreProperties>
</file>