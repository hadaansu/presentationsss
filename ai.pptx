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4020202020204" charset="0"/>
      <p:regular r:id="rId13"/>
    </p:embeddedFont>
    <p:embeddedFont>
      <p:font typeface="Bitter Medium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17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93" y="1701283"/>
            <a:ext cx="7764780" cy="43676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127409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Expert Systems </a:t>
            </a:r>
            <a:r>
              <a:rPr lang="en-US" sz="4450" b="1" dirty="0" smtClean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–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sz="445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 AI Application</a:t>
            </a:r>
            <a:endParaRPr lang="en-US" sz="4450" b="1" dirty="0"/>
          </a:p>
        </p:txBody>
      </p:sp>
      <p:sp>
        <p:nvSpPr>
          <p:cNvPr id="5" name="Text 1"/>
          <p:cNvSpPr/>
          <p:nvPr/>
        </p:nvSpPr>
        <p:spPr>
          <a:xfrm>
            <a:off x="793790" y="3885128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-775236" y="4588192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By- Anshu Hada</a:t>
            </a:r>
            <a:endParaRPr lang="en-US" sz="1750" b="1" dirty="0"/>
          </a:p>
        </p:txBody>
      </p:sp>
      <p:sp>
        <p:nvSpPr>
          <p:cNvPr id="7" name="Text 3"/>
          <p:cNvSpPr/>
          <p:nvPr/>
        </p:nvSpPr>
        <p:spPr>
          <a:xfrm>
            <a:off x="-1450646" y="5036225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 No- 3</a:t>
            </a:r>
            <a:endParaRPr lang="en-US" sz="1750" b="1" dirty="0"/>
          </a:p>
        </p:txBody>
      </p:sp>
      <p:sp>
        <p:nvSpPr>
          <p:cNvPr id="8" name="Text 4"/>
          <p:cNvSpPr/>
          <p:nvPr/>
        </p:nvSpPr>
        <p:spPr>
          <a:xfrm>
            <a:off x="-1450646" y="5476595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Section- A</a:t>
            </a:r>
            <a:endParaRPr lang="en-US" sz="17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930"/>
            <a:ext cx="8223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 to Expert Systems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69099" y="202894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expert system is a computer programme that emulates the decision-making ability of a human expert. It's a key area within AI focused on knowledge-based problem-solving.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9099" y="404142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conventional programmes, expert systems excel at tasks that require human-like intelligence, such as diagnosis, planning, and interpretation, by leveraging a vast amount of domain-specific knowledge.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730" y="1726731"/>
            <a:ext cx="6244709" cy="51184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753308"/>
            <a:ext cx="9472493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Main Components of an Expert System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8426" y="2151102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FF8F0"/>
          </a:solidFill>
          <a:ln/>
        </p:spPr>
      </p:sp>
      <p:sp>
        <p:nvSpPr>
          <p:cNvPr id="4" name="Shape 2"/>
          <p:cNvSpPr/>
          <p:nvPr/>
        </p:nvSpPr>
        <p:spPr>
          <a:xfrm>
            <a:off x="738426" y="2128242"/>
            <a:ext cx="6471285" cy="91440"/>
          </a:xfrm>
          <a:prstGeom prst="roundRect">
            <a:avLst>
              <a:gd name="adj" fmla="val 96917"/>
            </a:avLst>
          </a:prstGeom>
          <a:solidFill>
            <a:srgbClr val="D2600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834634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D2600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505" y="1992868"/>
            <a:ext cx="253127" cy="31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264" y="2678549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Knowledge Base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72264" y="3134678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repository of domain-specific knowledge, including facts, rules, heuristics, and relationships, acquired from human experts. This is the core "expertise" of the system.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20689" y="2151102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7420689" y="2128242"/>
            <a:ext cx="6471285" cy="91440"/>
          </a:xfrm>
          <a:prstGeom prst="roundRect">
            <a:avLst>
              <a:gd name="adj" fmla="val 96917"/>
            </a:avLst>
          </a:prstGeom>
          <a:solidFill>
            <a:srgbClr val="D2600F"/>
          </a:solidFill>
          <a:ln/>
        </p:spPr>
      </p:sp>
      <p:sp>
        <p:nvSpPr>
          <p:cNvPr id="11" name="Shape 8"/>
          <p:cNvSpPr/>
          <p:nvPr/>
        </p:nvSpPr>
        <p:spPr>
          <a:xfrm>
            <a:off x="10339864" y="1834634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D2600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768" y="1992868"/>
            <a:ext cx="253127" cy="316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54528" y="2678549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Inference Engine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654528" y="3134678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"brain" of the expert system. It applies logical reasoning to the knowledge base to deduce new facts or recommend solutions, using strategies like forward or backward chaining.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738426" y="4908590"/>
            <a:ext cx="6471285" cy="2567583"/>
          </a:xfrm>
          <a:prstGeom prst="roundRect">
            <a:avLst>
              <a:gd name="adj" fmla="val 4274"/>
            </a:avLst>
          </a:prstGeom>
          <a:solidFill>
            <a:srgbClr val="FFF8F0"/>
          </a:solidFill>
          <a:ln/>
        </p:spPr>
      </p:sp>
      <p:sp>
        <p:nvSpPr>
          <p:cNvPr id="16" name="Shape 12"/>
          <p:cNvSpPr/>
          <p:nvPr/>
        </p:nvSpPr>
        <p:spPr>
          <a:xfrm>
            <a:off x="738426" y="4885730"/>
            <a:ext cx="6471285" cy="91440"/>
          </a:xfrm>
          <a:prstGeom prst="roundRect">
            <a:avLst>
              <a:gd name="adj" fmla="val 96917"/>
            </a:avLst>
          </a:prstGeom>
          <a:solidFill>
            <a:srgbClr val="D2600F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600" y="4592122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D2600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505" y="4750356"/>
            <a:ext cx="253127" cy="316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2264" y="5436037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Interface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72264" y="5892165"/>
            <a:ext cx="6003608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Facilitates interaction between the user and the expert system. It allows users to input queries, receive explanations for the system's reasoning, and view results in an understandable format.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7420689" y="4908590"/>
            <a:ext cx="6471285" cy="2567583"/>
          </a:xfrm>
          <a:prstGeom prst="roundRect">
            <a:avLst>
              <a:gd name="adj" fmla="val 4274"/>
            </a:avLst>
          </a:prstGeom>
          <a:solidFill>
            <a:srgbClr val="FFF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0689" y="4885730"/>
            <a:ext cx="6471285" cy="91440"/>
          </a:xfrm>
          <a:prstGeom prst="roundRect">
            <a:avLst>
              <a:gd name="adj" fmla="val 96917"/>
            </a:avLst>
          </a:prstGeom>
          <a:solidFill>
            <a:srgbClr val="D2600F"/>
          </a:solidFill>
          <a:ln/>
        </p:spPr>
      </p:sp>
      <p:sp>
        <p:nvSpPr>
          <p:cNvPr id="23" name="Shape 18"/>
          <p:cNvSpPr/>
          <p:nvPr/>
        </p:nvSpPr>
        <p:spPr>
          <a:xfrm>
            <a:off x="10339864" y="4592122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D2600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9768" y="4750356"/>
            <a:ext cx="253127" cy="3164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54528" y="5436037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Additional Modules</a:t>
            </a:r>
            <a:endParaRPr lang="en-US" sz="2050" dirty="0"/>
          </a:p>
        </p:txBody>
      </p:sp>
      <p:sp>
        <p:nvSpPr>
          <p:cNvPr id="26" name="Text 20"/>
          <p:cNvSpPr/>
          <p:nvPr/>
        </p:nvSpPr>
        <p:spPr>
          <a:xfrm>
            <a:off x="7654528" y="5892165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systems include an </a:t>
            </a: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Explanation Module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(to justify conclusions) and a </a:t>
            </a: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Knowledge Acquisition Module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(to update the knowledge base).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868" y="520065"/>
            <a:ext cx="6644283" cy="590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an Expert System Works?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38" y="1489234"/>
            <a:ext cx="12271998" cy="5291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4682" y="6100869"/>
            <a:ext cx="2993944" cy="37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Output to User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604682" y="4783534"/>
            <a:ext cx="2993944" cy="37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604682" y="3479506"/>
            <a:ext cx="2993944" cy="37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Inference Engine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04682" y="2162170"/>
            <a:ext cx="2993944" cy="374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781181"/>
            <a:ext cx="13511331" cy="151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user initiates a session by providing input. The Inference Engine then processes this input by querying the Knowledge Base, which contains the domain-specific facts and rules. Based on the logical deductions, the system generates an output or recommendation for the user. This iterative process allows the system to simulate expert-level reasoning.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704"/>
            <a:ext cx="5335548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Development Process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21268" y="1399222"/>
            <a:ext cx="177403" cy="1065014"/>
          </a:xfrm>
          <a:prstGeom prst="roundRect">
            <a:avLst>
              <a:gd name="adj" fmla="val 4202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074" y="1576626"/>
            <a:ext cx="340197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1. Problem Domain Identification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76074" y="1960483"/>
            <a:ext cx="13033058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Clearly define the problem that the expert system will address, ensuring it's well-bounded and amenable to expert system methodology.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87492" y="2597348"/>
            <a:ext cx="177403" cy="1065014"/>
          </a:xfrm>
          <a:prstGeom prst="roundRect">
            <a:avLst>
              <a:gd name="adj" fmla="val 4202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2298" y="2774752"/>
            <a:ext cx="260901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2. Knowledge Acquisition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42298" y="3158609"/>
            <a:ext cx="12766834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Extract, organise, and formalise expertise from human specialists through interviews, observations, and documentation.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53716" y="3795474"/>
            <a:ext cx="177403" cy="1065014"/>
          </a:xfrm>
          <a:prstGeom prst="roundRect">
            <a:avLst>
              <a:gd name="adj" fmla="val 4202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522" y="3972878"/>
            <a:ext cx="3016925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3. Knowledge Representation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522" y="4356735"/>
            <a:ext cx="12500610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 acquired knowledge into a format that the system can understand and process, typically using rules (IF-THEN statements) or frames.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20058" y="4993600"/>
            <a:ext cx="177403" cy="1306592"/>
          </a:xfrm>
          <a:prstGeom prst="roundRect">
            <a:avLst>
              <a:gd name="adj" fmla="val 4202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4865" y="5171003"/>
            <a:ext cx="238720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4. System Construction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74865" y="5554861"/>
            <a:ext cx="12234267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the system using specialised shells or programming languages like Prolog or Lisp, often employing tools such as CLIPS for rule-based systems.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53716" y="6433304"/>
            <a:ext cx="177403" cy="1306592"/>
          </a:xfrm>
          <a:prstGeom prst="roundRect">
            <a:avLst>
              <a:gd name="adj" fmla="val 4202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522" y="6610707"/>
            <a:ext cx="3335655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5. Testing, Validation &amp; Updating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522" y="6994565"/>
            <a:ext cx="12500610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Rigorously test the system's performance, validate its accuracy against expert judgments, and continuously update the knowledge base to reflect new information or domain changes.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6687"/>
            <a:ext cx="10282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Diverse Applications of Expert Systems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79094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Medical Diagnosis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960846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Assisting doctors in identifying diseases and recommending treatments (e.g., MYCIN).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27909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Finance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296084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Assessing loan risks, detecting fraudulent transactions, and aiding investment decisions.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279094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296084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Diagnosing crop diseases, optimising fertiliser use, and managing pests.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79432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7720" y="5170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Support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57720" y="5661184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Providing automated troubleshooting and answering complex queries in call centres.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4979432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9823" y="5170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Engineering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199823" y="5661184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Aiding in system design, fault diagnosis, and troubleshooting complex machinery.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755" y="555308"/>
            <a:ext cx="6573917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Advantages and Limitations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755" y="1691164"/>
            <a:ext cx="302906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Advantages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706755" y="2296954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3028" y="2366367"/>
            <a:ext cx="289107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Consistency &amp; Reliability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63028" y="2883813"/>
            <a:ext cx="570583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uniform and unbiased decisions, unlike human experts who may be affected by fatigue or emotion.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6755" y="3933706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3028" y="4003119"/>
            <a:ext cx="25242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Availability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63028" y="4520565"/>
            <a:ext cx="570583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accessible and can be duplicated and distributed widely, making expert knowledge more broadly available.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6755" y="5570458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3028" y="5639872"/>
            <a:ext cx="296858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Preservation of Expertise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63028" y="6157317"/>
            <a:ext cx="570583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and preserves the knowledge of rare or retiring experts, preventing loss of valuable information.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9160" y="1691164"/>
            <a:ext cx="302906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Limitations</a:t>
            </a:r>
            <a:endParaRPr lang="en-US" sz="2350" dirty="0"/>
          </a:p>
        </p:txBody>
      </p:sp>
      <p:sp>
        <p:nvSpPr>
          <p:cNvPr id="14" name="Shape 12"/>
          <p:cNvSpPr/>
          <p:nvPr/>
        </p:nvSpPr>
        <p:spPr>
          <a:xfrm>
            <a:off x="7569160" y="2296954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5433" y="2366367"/>
            <a:ext cx="25242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Limited Scope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225433" y="2883813"/>
            <a:ext cx="5705832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perform well within their specific, pre-defined knowledge domain; they lack common sense or general knowledge.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69160" y="4256723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5433" y="4326136"/>
            <a:ext cx="2918817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Maintenance &amp; Updating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225433" y="4843582"/>
            <a:ext cx="570583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Knowledge bases can be difficult and time-consuming to update, especially in rapidly evolving fields.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69160" y="5893475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5433" y="5962888"/>
            <a:ext cx="25242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Lack of Learning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225433" y="6480334"/>
            <a:ext cx="5705832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expert systems do not inherently learn or adapt without explicit programming and manual knowledge updates.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68899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Real-Life Example: MYCIN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19670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MYCIN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196703"/>
            <a:ext cx="30480" cy="566976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8830"/>
            <a:ext cx="76042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MYCIN was developed at Stanford University in the 1970s. Its primary function was to diagnose blood infections and meningitis, then recommend appropriate antibiotic dosages based on patient-specific data. It employed a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reasoning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approach, using around 600 rules derived from extensive interviews with infectious disease specialists.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0031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evaluations, MYCIN often performed at a level comparable to, or even surpassing, that of average human physicians in its narrow domain of expertise, highlighting the power of codified knowledge.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28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Conclusion: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52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 systems, despite their limitations, remain foundational tools in the field of Artificial Intelligence.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180636"/>
            <a:ext cx="2885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Crucial AI Application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671054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represent one of the earliest successful applications of AI, proving that computers could tackle complex, knowledge-intensive tasks beyond mere computation.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18063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Valuable in Critical Domains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025384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Still highly relevant in fields where human expertise is scarce or inconsistent, such as specialised diagnostics, fraud detection, and complex engineering.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180636"/>
            <a:ext cx="3223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Evolving with Modern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671054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traditional expert systems have limitations, their principles are being integrated with modern machine learning techniques, leading to hybrid AI systems with enhanced capabilities and adaptability.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7238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 systems continue to evolve, providing a solid framework for automated reasoning in an increasingly complex world.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4736" y="3470564"/>
            <a:ext cx="8676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THANK YOU!!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60057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856</Words>
  <Application>Microsoft Office PowerPoint</Application>
  <PresentationFormat>Custom</PresentationFormat>
  <Paragraphs>83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Open Sans</vt:lpstr>
      <vt:lpstr>Bitter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3</cp:revision>
  <dcterms:created xsi:type="dcterms:W3CDTF">2025-08-04T13:24:11Z</dcterms:created>
  <dcterms:modified xsi:type="dcterms:W3CDTF">2025-08-04T13:39:59Z</dcterms:modified>
</cp:coreProperties>
</file>