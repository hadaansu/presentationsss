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Martel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artel Sans Bold" panose="020B0604020202020204" charset="0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16.08.2025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92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3292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42207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9697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54631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16466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37649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4899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19381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0078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notesSlide" Target="../notesSlides/notesSlide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4189511"/>
            <a:ext cx="16303526" cy="279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75"/>
              </a:lnSpc>
            </a:pPr>
            <a:r>
              <a:rPr lang="en-US" sz="16685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Network Servers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1544" y="2417713"/>
            <a:ext cx="16444912" cy="50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This presentation will demystify essential network servers, their functions, and their critical roles in modern IT infrastructure.</a:t>
            </a:r>
          </a:p>
        </p:txBody>
      </p:sp>
      <p:sp>
        <p:nvSpPr>
          <p:cNvPr id="7" name="TextBox 7"/>
          <p:cNvSpPr txBox="1"/>
          <p:nvPr>
            <p:custDataLst>
              <p:tags r:id="rId1"/>
            </p:custDataLst>
          </p:nvPr>
        </p:nvSpPr>
        <p:spPr>
          <a:xfrm>
            <a:off x="921385" y="3125470"/>
            <a:ext cx="587375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01</a:t>
            </a:r>
          </a:p>
        </p:txBody>
      </p:sp>
      <p:grpSp>
        <p:nvGrpSpPr>
          <p:cNvPr id="8" name="Group 8"/>
          <p:cNvGrpSpPr/>
          <p:nvPr>
            <p:custDataLst>
              <p:tags r:id="rId2"/>
            </p:custDataLst>
          </p:nvPr>
        </p:nvGrpSpPr>
        <p:grpSpPr>
          <a:xfrm>
            <a:off x="921544" y="3639591"/>
            <a:ext cx="8090744" cy="28575"/>
            <a:chOff x="0" y="0"/>
            <a:chExt cx="10787658" cy="38100"/>
          </a:xfrm>
        </p:grpSpPr>
        <p:sp>
          <p:nvSpPr>
            <p:cNvPr id="9" name="Freeform 9"/>
            <p:cNvSpPr/>
            <p:nvPr>
              <p:custDataLst>
                <p:tags r:id="rId30"/>
              </p:custDataLst>
            </p:nvPr>
          </p:nvSpPr>
          <p:spPr>
            <a:xfrm>
              <a:off x="0" y="0"/>
              <a:ext cx="10787634" cy="38100"/>
            </a:xfrm>
            <a:custGeom>
              <a:avLst/>
              <a:gdLst/>
              <a:ahLst/>
              <a:cxnLst/>
              <a:rect l="l" t="t" r="r" b="b"/>
              <a:pathLst>
                <a:path w="10787634" h="38100">
                  <a:moveTo>
                    <a:pt x="0" y="0"/>
                  </a:moveTo>
                  <a:lnTo>
                    <a:pt x="10787634" y="0"/>
                  </a:lnTo>
                  <a:lnTo>
                    <a:pt x="107876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921544" y="3809256"/>
            <a:ext cx="3301156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Introduction to Servers</a:t>
            </a:r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921544" y="4311700"/>
            <a:ext cx="8090744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Laying the groundwork for understanding server roles.</a:t>
            </a:r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9275445" y="3125470"/>
            <a:ext cx="759460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02</a:t>
            </a:r>
          </a:p>
        </p:txBody>
      </p:sp>
      <p:grpSp>
        <p:nvGrpSpPr>
          <p:cNvPr id="13" name="Group 13"/>
          <p:cNvGrpSpPr/>
          <p:nvPr>
            <p:custDataLst>
              <p:tags r:id="rId6"/>
            </p:custDataLst>
          </p:nvPr>
        </p:nvGrpSpPr>
        <p:grpSpPr>
          <a:xfrm>
            <a:off x="9275564" y="3639591"/>
            <a:ext cx="8090892" cy="28575"/>
            <a:chOff x="0" y="0"/>
            <a:chExt cx="10787857" cy="38100"/>
          </a:xfrm>
        </p:grpSpPr>
        <p:sp>
          <p:nvSpPr>
            <p:cNvPr id="14" name="Freeform 14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10787888" cy="38100"/>
            </a:xfrm>
            <a:custGeom>
              <a:avLst/>
              <a:gdLst/>
              <a:ahLst/>
              <a:cxnLst/>
              <a:rect l="l" t="t" r="r" b="b"/>
              <a:pathLst>
                <a:path w="10787888" h="38100">
                  <a:moveTo>
                    <a:pt x="0" y="0"/>
                  </a:moveTo>
                  <a:lnTo>
                    <a:pt x="10787888" y="0"/>
                  </a:lnTo>
                  <a:lnTo>
                    <a:pt x="1078788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15" name="TextBox 15"/>
          <p:cNvSpPr txBox="1"/>
          <p:nvPr>
            <p:custDataLst>
              <p:tags r:id="rId7"/>
            </p:custDataLst>
          </p:nvPr>
        </p:nvSpPr>
        <p:spPr>
          <a:xfrm>
            <a:off x="9275564" y="3809256"/>
            <a:ext cx="329118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Proxy Servers</a:t>
            </a:r>
          </a:p>
        </p:txBody>
      </p:sp>
      <p:sp>
        <p:nvSpPr>
          <p:cNvPr id="16" name="TextBox 16"/>
          <p:cNvSpPr txBox="1"/>
          <p:nvPr>
            <p:custDataLst>
              <p:tags r:id="rId8"/>
            </p:custDataLst>
          </p:nvPr>
        </p:nvSpPr>
        <p:spPr>
          <a:xfrm>
            <a:off x="9275564" y="4311700"/>
            <a:ext cx="8090892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Exploring intermediary functions for security and performance.</a:t>
            </a:r>
          </a:p>
        </p:txBody>
      </p:sp>
      <p:sp>
        <p:nvSpPr>
          <p:cNvPr id="17" name="TextBox 17"/>
          <p:cNvSpPr txBox="1"/>
          <p:nvPr>
            <p:custDataLst>
              <p:tags r:id="rId9"/>
            </p:custDataLst>
          </p:nvPr>
        </p:nvSpPr>
        <p:spPr>
          <a:xfrm>
            <a:off x="921385" y="5184140"/>
            <a:ext cx="677545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03</a:t>
            </a:r>
          </a:p>
        </p:txBody>
      </p:sp>
      <p:grpSp>
        <p:nvGrpSpPr>
          <p:cNvPr id="18" name="Group 18"/>
          <p:cNvGrpSpPr/>
          <p:nvPr>
            <p:custDataLst>
              <p:tags r:id="rId10"/>
            </p:custDataLst>
          </p:nvPr>
        </p:nvGrpSpPr>
        <p:grpSpPr>
          <a:xfrm>
            <a:off x="921544" y="5698034"/>
            <a:ext cx="8090744" cy="28575"/>
            <a:chOff x="0" y="0"/>
            <a:chExt cx="10787658" cy="38100"/>
          </a:xfrm>
        </p:grpSpPr>
        <p:sp>
          <p:nvSpPr>
            <p:cNvPr id="19" name="Freeform 19"/>
            <p:cNvSpPr/>
            <p:nvPr>
              <p:custDataLst>
                <p:tags r:id="rId28"/>
              </p:custDataLst>
            </p:nvPr>
          </p:nvSpPr>
          <p:spPr>
            <a:xfrm>
              <a:off x="0" y="0"/>
              <a:ext cx="10787634" cy="38100"/>
            </a:xfrm>
            <a:custGeom>
              <a:avLst/>
              <a:gdLst/>
              <a:ahLst/>
              <a:cxnLst/>
              <a:rect l="l" t="t" r="r" b="b"/>
              <a:pathLst>
                <a:path w="10787634" h="38100">
                  <a:moveTo>
                    <a:pt x="0" y="0"/>
                  </a:moveTo>
                  <a:lnTo>
                    <a:pt x="10787634" y="0"/>
                  </a:lnTo>
                  <a:lnTo>
                    <a:pt x="107876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20" name="TextBox 20"/>
          <p:cNvSpPr txBox="1"/>
          <p:nvPr>
            <p:custDataLst>
              <p:tags r:id="rId11"/>
            </p:custDataLst>
          </p:nvPr>
        </p:nvSpPr>
        <p:spPr>
          <a:xfrm>
            <a:off x="921544" y="5867697"/>
            <a:ext cx="329118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Web Servers</a:t>
            </a:r>
          </a:p>
        </p:txBody>
      </p:sp>
      <p:sp>
        <p:nvSpPr>
          <p:cNvPr id="21" name="TextBox 21"/>
          <p:cNvSpPr txBox="1"/>
          <p:nvPr>
            <p:custDataLst>
              <p:tags r:id="rId12"/>
            </p:custDataLst>
          </p:nvPr>
        </p:nvSpPr>
        <p:spPr>
          <a:xfrm>
            <a:off x="921544" y="6370141"/>
            <a:ext cx="8090744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How web content is delivered and managed.</a:t>
            </a:r>
          </a:p>
        </p:txBody>
      </p:sp>
      <p:sp>
        <p:nvSpPr>
          <p:cNvPr id="22" name="TextBox 22"/>
          <p:cNvSpPr txBox="1"/>
          <p:nvPr>
            <p:custDataLst>
              <p:tags r:id="rId13"/>
            </p:custDataLst>
          </p:nvPr>
        </p:nvSpPr>
        <p:spPr>
          <a:xfrm>
            <a:off x="9275445" y="5184140"/>
            <a:ext cx="592455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04</a:t>
            </a:r>
          </a:p>
        </p:txBody>
      </p:sp>
      <p:grpSp>
        <p:nvGrpSpPr>
          <p:cNvPr id="23" name="Group 23"/>
          <p:cNvGrpSpPr/>
          <p:nvPr>
            <p:custDataLst>
              <p:tags r:id="rId14"/>
            </p:custDataLst>
          </p:nvPr>
        </p:nvGrpSpPr>
        <p:grpSpPr>
          <a:xfrm>
            <a:off x="9275564" y="5698034"/>
            <a:ext cx="8090892" cy="28575"/>
            <a:chOff x="0" y="0"/>
            <a:chExt cx="10787857" cy="38100"/>
          </a:xfrm>
        </p:grpSpPr>
        <p:sp>
          <p:nvSpPr>
            <p:cNvPr id="24" name="Freeform 24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10787888" cy="38100"/>
            </a:xfrm>
            <a:custGeom>
              <a:avLst/>
              <a:gdLst/>
              <a:ahLst/>
              <a:cxnLst/>
              <a:rect l="l" t="t" r="r" b="b"/>
              <a:pathLst>
                <a:path w="10787888" h="38100">
                  <a:moveTo>
                    <a:pt x="0" y="0"/>
                  </a:moveTo>
                  <a:lnTo>
                    <a:pt x="10787888" y="0"/>
                  </a:lnTo>
                  <a:lnTo>
                    <a:pt x="1078788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25" name="TextBox 25"/>
          <p:cNvSpPr txBox="1"/>
          <p:nvPr>
            <p:custDataLst>
              <p:tags r:id="rId15"/>
            </p:custDataLst>
          </p:nvPr>
        </p:nvSpPr>
        <p:spPr>
          <a:xfrm>
            <a:off x="9275564" y="5867697"/>
            <a:ext cx="329118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Mail Servers</a:t>
            </a:r>
          </a:p>
        </p:txBody>
      </p:sp>
      <p:sp>
        <p:nvSpPr>
          <p:cNvPr id="26" name="TextBox 26"/>
          <p:cNvSpPr txBox="1"/>
          <p:nvPr>
            <p:custDataLst>
              <p:tags r:id="rId16"/>
            </p:custDataLst>
          </p:nvPr>
        </p:nvSpPr>
        <p:spPr>
          <a:xfrm>
            <a:off x="9275564" y="6370141"/>
            <a:ext cx="8090892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backbone of email communication.</a:t>
            </a:r>
          </a:p>
        </p:txBody>
      </p:sp>
      <p:sp>
        <p:nvSpPr>
          <p:cNvPr id="27" name="TextBox 27"/>
          <p:cNvSpPr txBox="1"/>
          <p:nvPr>
            <p:custDataLst>
              <p:tags r:id="rId17"/>
            </p:custDataLst>
          </p:nvPr>
        </p:nvSpPr>
        <p:spPr>
          <a:xfrm>
            <a:off x="921385" y="7242175"/>
            <a:ext cx="677545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05</a:t>
            </a:r>
          </a:p>
        </p:txBody>
      </p:sp>
      <p:grpSp>
        <p:nvGrpSpPr>
          <p:cNvPr id="28" name="Group 28"/>
          <p:cNvGrpSpPr/>
          <p:nvPr>
            <p:custDataLst>
              <p:tags r:id="rId18"/>
            </p:custDataLst>
          </p:nvPr>
        </p:nvGrpSpPr>
        <p:grpSpPr>
          <a:xfrm>
            <a:off x="921544" y="7756475"/>
            <a:ext cx="8090744" cy="28575"/>
            <a:chOff x="0" y="0"/>
            <a:chExt cx="10787658" cy="38100"/>
          </a:xfrm>
        </p:grpSpPr>
        <p:sp>
          <p:nvSpPr>
            <p:cNvPr id="29" name="Freeform 29"/>
            <p:cNvSpPr/>
            <p:nvPr>
              <p:custDataLst>
                <p:tags r:id="rId26"/>
              </p:custDataLst>
            </p:nvPr>
          </p:nvSpPr>
          <p:spPr>
            <a:xfrm>
              <a:off x="0" y="0"/>
              <a:ext cx="10787634" cy="38100"/>
            </a:xfrm>
            <a:custGeom>
              <a:avLst/>
              <a:gdLst/>
              <a:ahLst/>
              <a:cxnLst/>
              <a:rect l="l" t="t" r="r" b="b"/>
              <a:pathLst>
                <a:path w="10787634" h="38100">
                  <a:moveTo>
                    <a:pt x="0" y="0"/>
                  </a:moveTo>
                  <a:lnTo>
                    <a:pt x="10787634" y="0"/>
                  </a:lnTo>
                  <a:lnTo>
                    <a:pt x="107876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30" name="TextBox 30"/>
          <p:cNvSpPr txBox="1"/>
          <p:nvPr>
            <p:custDataLst>
              <p:tags r:id="rId19"/>
            </p:custDataLst>
          </p:nvPr>
        </p:nvSpPr>
        <p:spPr>
          <a:xfrm>
            <a:off x="921385" y="7926070"/>
            <a:ext cx="5035550" cy="408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SNMP: Network Management</a:t>
            </a:r>
          </a:p>
        </p:txBody>
      </p:sp>
      <p:sp>
        <p:nvSpPr>
          <p:cNvPr id="31" name="TextBox 31"/>
          <p:cNvSpPr txBox="1"/>
          <p:nvPr>
            <p:custDataLst>
              <p:tags r:id="rId20"/>
            </p:custDataLst>
          </p:nvPr>
        </p:nvSpPr>
        <p:spPr>
          <a:xfrm>
            <a:off x="921544" y="8428584"/>
            <a:ext cx="8090744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Monitoring and managing devices across the network.</a:t>
            </a:r>
          </a:p>
        </p:txBody>
      </p:sp>
      <p:sp>
        <p:nvSpPr>
          <p:cNvPr id="32" name="TextBox 32"/>
          <p:cNvSpPr txBox="1"/>
          <p:nvPr>
            <p:custDataLst>
              <p:tags r:id="rId21"/>
            </p:custDataLst>
          </p:nvPr>
        </p:nvSpPr>
        <p:spPr>
          <a:xfrm>
            <a:off x="9275445" y="7242175"/>
            <a:ext cx="558800" cy="424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06</a:t>
            </a:r>
          </a:p>
        </p:txBody>
      </p:sp>
      <p:grpSp>
        <p:nvGrpSpPr>
          <p:cNvPr id="33" name="Group 33"/>
          <p:cNvGrpSpPr/>
          <p:nvPr>
            <p:custDataLst>
              <p:tags r:id="rId22"/>
            </p:custDataLst>
          </p:nvPr>
        </p:nvGrpSpPr>
        <p:grpSpPr>
          <a:xfrm>
            <a:off x="9275564" y="7756475"/>
            <a:ext cx="8090892" cy="28575"/>
            <a:chOff x="0" y="0"/>
            <a:chExt cx="10787857" cy="38100"/>
          </a:xfrm>
        </p:grpSpPr>
        <p:sp>
          <p:nvSpPr>
            <p:cNvPr id="34" name="Freeform 34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10787888" cy="38100"/>
            </a:xfrm>
            <a:custGeom>
              <a:avLst/>
              <a:gdLst/>
              <a:ahLst/>
              <a:cxnLst/>
              <a:rect l="l" t="t" r="r" b="b"/>
              <a:pathLst>
                <a:path w="10787888" h="38100">
                  <a:moveTo>
                    <a:pt x="0" y="0"/>
                  </a:moveTo>
                  <a:lnTo>
                    <a:pt x="10787888" y="0"/>
                  </a:lnTo>
                  <a:lnTo>
                    <a:pt x="1078788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35" name="TextBox 35"/>
          <p:cNvSpPr txBox="1"/>
          <p:nvPr>
            <p:custDataLst>
              <p:tags r:id="rId23"/>
            </p:custDataLst>
          </p:nvPr>
        </p:nvSpPr>
        <p:spPr>
          <a:xfrm>
            <a:off x="9275564" y="7926140"/>
            <a:ext cx="3291185" cy="40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56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Key Takeaways</a:t>
            </a:r>
          </a:p>
        </p:txBody>
      </p: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9275564" y="8428584"/>
            <a:ext cx="8090892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06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Summarizing core concepts and next steps.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843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505" y="2274570"/>
            <a:ext cx="14251305" cy="825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dirty="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Proxy </a:t>
            </a:r>
            <a:r>
              <a:rPr lang="en-US" sz="5560" dirty="0" smtClean="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Server</a:t>
            </a:r>
            <a:endParaRPr lang="en-US" sz="5560" dirty="0">
              <a:solidFill>
                <a:srgbClr val="272D45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238" y="3557141"/>
            <a:ext cx="1630352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 proxy server acts 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as middle man between client and servers. It provides functionalities like privacy, security, load balancing ,caching and filtering. 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It acts as firewall and web filter and provide shared network connections and cache data to speed up common requests.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4937224"/>
            <a:ext cx="396076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endParaRPr lang="en-US" sz="2750" dirty="0">
              <a:solidFill>
                <a:srgbClr val="272D45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3435"/>
              </a:lnSpc>
            </a:pPr>
            <a:r>
              <a:rPr lang="en-US" sz="2750" dirty="0" smtClean="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Types of Proxy Server:</a:t>
            </a:r>
            <a:endParaRPr lang="en-US" sz="2750" dirty="0">
              <a:solidFill>
                <a:srgbClr val="272D45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238" y="5757714"/>
            <a:ext cx="1630352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Forward Proxy:</a:t>
            </a: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For internal network users to access external resources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. </a:t>
            </a:r>
            <a:r>
              <a:rPr lang="en-US" sz="2185" dirty="0" err="1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Eg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: Virtual Private Network (VPN) and Web Content filters.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238" y="6863209"/>
            <a:ext cx="1630352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</a:t>
            </a:r>
            <a:r>
              <a:rPr lang="en-US" sz="218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Reverse Proxy:</a:t>
            </a: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For external clients to access internal servers securely.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7415956"/>
            <a:ext cx="1630352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 dirty="0" smtClean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Open Proxy: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That is accessible by Internet users.  </a:t>
            </a:r>
            <a:r>
              <a:rPr lang="en-US" sz="2185" dirty="0" err="1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Eg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: https://www.stayinvisible.com/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50595" y="915035"/>
            <a:ext cx="8058150" cy="848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Why Use a Proxy Server?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862" y="2143274"/>
            <a:ext cx="16386274" cy="51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Proxy servers offer significant benefits, from bolstering security to optimizing network performance and user experience.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50862" y="2959745"/>
            <a:ext cx="679251" cy="679251"/>
            <a:chOff x="0" y="0"/>
            <a:chExt cx="905668" cy="90566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05637" cy="905637"/>
            </a:xfrm>
            <a:custGeom>
              <a:avLst/>
              <a:gdLst/>
              <a:ahLst/>
              <a:cxnLst/>
              <a:rect l="l" t="t" r="r" b="b"/>
              <a:pathLst>
                <a:path w="905637" h="905637">
                  <a:moveTo>
                    <a:pt x="0" y="0"/>
                  </a:moveTo>
                  <a:lnTo>
                    <a:pt x="905637" y="0"/>
                  </a:lnTo>
                  <a:lnTo>
                    <a:pt x="90563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50862" y="3940522"/>
            <a:ext cx="3396257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Security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862" y="4489848"/>
            <a:ext cx="5235625" cy="138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Acts as a firewall, protecting internal resources from external threats and controlling access.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526114" y="2959745"/>
            <a:ext cx="679251" cy="679251"/>
            <a:chOff x="0" y="0"/>
            <a:chExt cx="905668" cy="90566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05637" cy="905637"/>
            </a:xfrm>
            <a:custGeom>
              <a:avLst/>
              <a:gdLst/>
              <a:ahLst/>
              <a:cxnLst/>
              <a:rect l="l" t="t" r="r" b="b"/>
              <a:pathLst>
                <a:path w="905637" h="905637">
                  <a:moveTo>
                    <a:pt x="0" y="0"/>
                  </a:moveTo>
                  <a:lnTo>
                    <a:pt x="905637" y="0"/>
                  </a:lnTo>
                  <a:lnTo>
                    <a:pt x="90563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" b="-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526114" y="3940522"/>
            <a:ext cx="3396257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Privacy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26114" y="4489848"/>
            <a:ext cx="5235625" cy="94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Masks client IP addresses, enhancing anonymity and preventing tracking.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2101364" y="2959745"/>
            <a:ext cx="679251" cy="679251"/>
            <a:chOff x="0" y="0"/>
            <a:chExt cx="905668" cy="90566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05637" cy="905637"/>
            </a:xfrm>
            <a:custGeom>
              <a:avLst/>
              <a:gdLst/>
              <a:ahLst/>
              <a:cxnLst/>
              <a:rect l="l" t="t" r="r" b="b"/>
              <a:pathLst>
                <a:path w="905637" h="905637">
                  <a:moveTo>
                    <a:pt x="0" y="0"/>
                  </a:moveTo>
                  <a:lnTo>
                    <a:pt x="905637" y="0"/>
                  </a:lnTo>
                  <a:lnTo>
                    <a:pt x="90563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3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2101364" y="3940522"/>
            <a:ext cx="3396257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Caching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01364" y="4489848"/>
            <a:ext cx="5235774" cy="138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Stores frequently accessed content, reducing bandwidth usage and speeding up access times.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50862" y="6413599"/>
            <a:ext cx="679251" cy="679251"/>
            <a:chOff x="0" y="0"/>
            <a:chExt cx="905668" cy="90566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905637" cy="905637"/>
            </a:xfrm>
            <a:custGeom>
              <a:avLst/>
              <a:gdLst/>
              <a:ahLst/>
              <a:cxnLst/>
              <a:rect l="l" t="t" r="r" b="b"/>
              <a:pathLst>
                <a:path w="905637" h="905637">
                  <a:moveTo>
                    <a:pt x="0" y="0"/>
                  </a:moveTo>
                  <a:lnTo>
                    <a:pt x="905637" y="0"/>
                  </a:lnTo>
                  <a:lnTo>
                    <a:pt x="90563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" b="-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50862" y="7394376"/>
            <a:ext cx="3396257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Filtering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0862" y="7943701"/>
            <a:ext cx="5235625" cy="138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Blocks access to undesirable websites or content, enforcing organizational policies.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6526114" y="6413599"/>
            <a:ext cx="679251" cy="679251"/>
            <a:chOff x="0" y="0"/>
            <a:chExt cx="905668" cy="90566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905637" cy="905637"/>
            </a:xfrm>
            <a:custGeom>
              <a:avLst/>
              <a:gdLst/>
              <a:ahLst/>
              <a:cxnLst/>
              <a:rect l="l" t="t" r="r" b="b"/>
              <a:pathLst>
                <a:path w="905637" h="905637">
                  <a:moveTo>
                    <a:pt x="0" y="0"/>
                  </a:moveTo>
                  <a:lnTo>
                    <a:pt x="905637" y="0"/>
                  </a:lnTo>
                  <a:lnTo>
                    <a:pt x="90563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3" b="-3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6526114" y="7394376"/>
            <a:ext cx="3396257" cy="46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Load Balancing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26114" y="7943701"/>
            <a:ext cx="5235625" cy="138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2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Distributes network traffic across multiple servers to prevent overload and ensure availability.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365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34365" y="460375"/>
            <a:ext cx="9587865" cy="56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356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Web Servers: The Foundation of the Internet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4156" y="1279178"/>
            <a:ext cx="17019686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Web servers are specialized computers that store website content and deliver it to users' web browsers upon request. They use HTTP/HTTPS protocols for communication, forming the backbone of how we access information online.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4156" y="2062757"/>
            <a:ext cx="17019686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Web servers manage both static and dynamic content. Static content, like HTML, CSS, and JavaScript files, is delivered as-is. Dynamic content, however, is generated on the fly by server-side scripting languages.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2590800" y="2062757"/>
            <a:ext cx="13128129" cy="9902727"/>
            <a:chOff x="0" y="0"/>
            <a:chExt cx="17533143" cy="1208266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7533113" cy="12082653"/>
            </a:xfrm>
            <a:custGeom>
              <a:avLst/>
              <a:gdLst/>
              <a:ahLst/>
              <a:cxnLst/>
              <a:rect l="l" t="t" r="r" b="b"/>
              <a:pathLst>
                <a:path w="17533113" h="12082653">
                  <a:moveTo>
                    <a:pt x="0" y="0"/>
                  </a:moveTo>
                  <a:lnTo>
                    <a:pt x="17533113" y="0"/>
                  </a:lnTo>
                  <a:lnTo>
                    <a:pt x="17533113" y="12082653"/>
                  </a:lnTo>
                  <a:lnTo>
                    <a:pt x="0" y="1208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" r="-3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898471" y="8523135"/>
            <a:ext cx="3593469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8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Browser Request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433136" y="6233674"/>
            <a:ext cx="850966" cy="850966"/>
            <a:chOff x="0" y="0"/>
            <a:chExt cx="1134622" cy="113462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34618" cy="1134618"/>
            </a:xfrm>
            <a:custGeom>
              <a:avLst/>
              <a:gdLst/>
              <a:ahLst/>
              <a:cxnLst/>
              <a:rect l="l" t="t" r="r" b="b"/>
              <a:pathLst>
                <a:path w="1134618" h="1134618">
                  <a:moveTo>
                    <a:pt x="0" y="0"/>
                  </a:moveTo>
                  <a:lnTo>
                    <a:pt x="1134618" y="0"/>
                  </a:lnTo>
                  <a:lnTo>
                    <a:pt x="1134618" y="1134618"/>
                  </a:lnTo>
                  <a:lnTo>
                    <a:pt x="0" y="113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960620" y="4717721"/>
            <a:ext cx="3710211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85" dirty="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Server Processing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7122986" y="6752497"/>
            <a:ext cx="850965" cy="850965"/>
            <a:chOff x="0" y="0"/>
            <a:chExt cx="1134620" cy="113462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134618" cy="1134618"/>
            </a:xfrm>
            <a:custGeom>
              <a:avLst/>
              <a:gdLst/>
              <a:ahLst/>
              <a:cxnLst/>
              <a:rect l="l" t="t" r="r" b="b"/>
              <a:pathLst>
                <a:path w="1134618" h="1134618">
                  <a:moveTo>
                    <a:pt x="0" y="0"/>
                  </a:moveTo>
                  <a:lnTo>
                    <a:pt x="1134618" y="0"/>
                  </a:lnTo>
                  <a:lnTo>
                    <a:pt x="1134618" y="1134618"/>
                  </a:lnTo>
                  <a:lnTo>
                    <a:pt x="0" y="113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451290" y="9637634"/>
            <a:ext cx="3593470" cy="4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8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Response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13101" y="7271320"/>
            <a:ext cx="850966" cy="850966"/>
            <a:chOff x="0" y="0"/>
            <a:chExt cx="1134622" cy="1134622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134618" cy="1134618"/>
            </a:xfrm>
            <a:custGeom>
              <a:avLst/>
              <a:gdLst/>
              <a:ahLst/>
              <a:cxnLst/>
              <a:rect l="l" t="t" r="r" b="b"/>
              <a:pathLst>
                <a:path w="1134618" h="1134618">
                  <a:moveTo>
                    <a:pt x="0" y="0"/>
                  </a:moveTo>
                  <a:lnTo>
                    <a:pt x="1134618" y="0"/>
                  </a:lnTo>
                  <a:lnTo>
                    <a:pt x="1134618" y="1134618"/>
                  </a:lnTo>
                  <a:lnTo>
                    <a:pt x="0" y="113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1641082" y="5719468"/>
            <a:ext cx="3593470" cy="49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685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Browser Rendering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2676070" y="7828436"/>
            <a:ext cx="850965" cy="850966"/>
            <a:chOff x="0" y="0"/>
            <a:chExt cx="1134620" cy="113462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134618" cy="1134618"/>
            </a:xfrm>
            <a:custGeom>
              <a:avLst/>
              <a:gdLst/>
              <a:ahLst/>
              <a:cxnLst/>
              <a:rect l="l" t="t" r="r" b="b"/>
              <a:pathLst>
                <a:path w="1134618" h="1134618">
                  <a:moveTo>
                    <a:pt x="0" y="0"/>
                  </a:moveTo>
                  <a:lnTo>
                    <a:pt x="1134618" y="0"/>
                  </a:lnTo>
                  <a:lnTo>
                    <a:pt x="1134618" y="1134618"/>
                  </a:lnTo>
                  <a:lnTo>
                    <a:pt x="0" y="113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84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505" y="1555115"/>
            <a:ext cx="10654665" cy="825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 dirty="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Web Server </a:t>
            </a:r>
            <a:r>
              <a:rPr lang="en-US" sz="5560" dirty="0" smtClean="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Working Mechanism:</a:t>
            </a:r>
            <a:endParaRPr lang="en-US" sz="5560" dirty="0">
              <a:solidFill>
                <a:srgbClr val="272D45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99401" y="7384405"/>
            <a:ext cx="780588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5100" lvl="1" algn="l">
              <a:lnSpc>
                <a:spcPts val="3560"/>
              </a:lnSpc>
            </a:pP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99401" y="7937152"/>
            <a:ext cx="780588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5100" lvl="1" algn="l">
              <a:lnSpc>
                <a:spcPts val="3560"/>
              </a:lnSpc>
            </a:pP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3605212"/>
            <a:ext cx="8686800" cy="5195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992505" y="1285875"/>
            <a:ext cx="14397990" cy="889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Mail Servers: The Post Office of the Internet</a:t>
            </a:r>
          </a:p>
        </p:txBody>
      </p: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992238" y="2568177"/>
            <a:ext cx="1630352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Mail servers 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is also known as Mail Transfer Agent MTA. 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They </a:t>
            </a: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are responsible for sending, receiving, and storing emails for 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users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. It provides Spam Filtering , Mail boxes and Authentication. </a:t>
            </a:r>
            <a:r>
              <a:rPr lang="en-US" sz="2185" dirty="0" err="1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Eg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: Gmail, Outlook.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grpSp>
        <p:nvGrpSpPr>
          <p:cNvPr id="8" name="Group 8"/>
          <p:cNvGrpSpPr/>
          <p:nvPr>
            <p:custDataLst>
              <p:tags r:id="rId3"/>
            </p:custDataLst>
          </p:nvPr>
        </p:nvGrpSpPr>
        <p:grpSpPr>
          <a:xfrm>
            <a:off x="973188" y="3861048"/>
            <a:ext cx="16341626" cy="2201615"/>
            <a:chOff x="0" y="0"/>
            <a:chExt cx="21788835" cy="2935487"/>
          </a:xfrm>
        </p:grpSpPr>
        <p:sp>
          <p:nvSpPr>
            <p:cNvPr id="9" name="Freeform 9"/>
            <p:cNvSpPr/>
            <p:nvPr>
              <p:custDataLst>
                <p:tags r:id="rId17"/>
              </p:custDataLst>
            </p:nvPr>
          </p:nvSpPr>
          <p:spPr>
            <a:xfrm>
              <a:off x="25400" y="25400"/>
              <a:ext cx="21737955" cy="2884678"/>
            </a:xfrm>
            <a:custGeom>
              <a:avLst/>
              <a:gdLst/>
              <a:ahLst/>
              <a:cxnLst/>
              <a:rect l="l" t="t" r="r" b="b"/>
              <a:pathLst>
                <a:path w="21737955" h="2884678">
                  <a:moveTo>
                    <a:pt x="0" y="158750"/>
                  </a:moveTo>
                  <a:cubicBezTo>
                    <a:pt x="0" y="71120"/>
                    <a:pt x="72136" y="0"/>
                    <a:pt x="161163" y="0"/>
                  </a:cubicBezTo>
                  <a:lnTo>
                    <a:pt x="21576792" y="0"/>
                  </a:lnTo>
                  <a:cubicBezTo>
                    <a:pt x="21665819" y="0"/>
                    <a:pt x="21737955" y="71120"/>
                    <a:pt x="21737955" y="158750"/>
                  </a:cubicBezTo>
                  <a:lnTo>
                    <a:pt x="21737955" y="2725928"/>
                  </a:lnTo>
                  <a:cubicBezTo>
                    <a:pt x="21737955" y="2813558"/>
                    <a:pt x="21665819" y="2884678"/>
                    <a:pt x="21576792" y="2884678"/>
                  </a:cubicBezTo>
                  <a:lnTo>
                    <a:pt x="161163" y="2884678"/>
                  </a:lnTo>
                  <a:cubicBezTo>
                    <a:pt x="72136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1788755" cy="2935478"/>
            </a:xfrm>
            <a:custGeom>
              <a:avLst/>
              <a:gdLst/>
              <a:ahLst/>
              <a:cxnLst/>
              <a:rect l="l" t="t" r="r" b="b"/>
              <a:pathLst>
                <a:path w="21788755" h="2935478">
                  <a:moveTo>
                    <a:pt x="0" y="184150"/>
                  </a:moveTo>
                  <a:cubicBezTo>
                    <a:pt x="0" y="82042"/>
                    <a:pt x="83947" y="0"/>
                    <a:pt x="186563" y="0"/>
                  </a:cubicBezTo>
                  <a:lnTo>
                    <a:pt x="21602192" y="0"/>
                  </a:lnTo>
                  <a:lnTo>
                    <a:pt x="21602192" y="25400"/>
                  </a:lnTo>
                  <a:lnTo>
                    <a:pt x="21602192" y="0"/>
                  </a:lnTo>
                  <a:cubicBezTo>
                    <a:pt x="21704934" y="0"/>
                    <a:pt x="21788755" y="82042"/>
                    <a:pt x="21788755" y="184150"/>
                  </a:cubicBezTo>
                  <a:lnTo>
                    <a:pt x="21763355" y="184150"/>
                  </a:lnTo>
                  <a:lnTo>
                    <a:pt x="21788755" y="184150"/>
                  </a:lnTo>
                  <a:lnTo>
                    <a:pt x="21788755" y="2751328"/>
                  </a:lnTo>
                  <a:lnTo>
                    <a:pt x="21763355" y="2751328"/>
                  </a:lnTo>
                  <a:lnTo>
                    <a:pt x="21788755" y="2751328"/>
                  </a:lnTo>
                  <a:cubicBezTo>
                    <a:pt x="21788755" y="2853436"/>
                    <a:pt x="21704807" y="2935478"/>
                    <a:pt x="21602192" y="2935478"/>
                  </a:cubicBezTo>
                  <a:lnTo>
                    <a:pt x="21602192" y="2910078"/>
                  </a:lnTo>
                  <a:lnTo>
                    <a:pt x="21602192" y="2935478"/>
                  </a:lnTo>
                  <a:lnTo>
                    <a:pt x="186563" y="2935478"/>
                  </a:lnTo>
                  <a:lnTo>
                    <a:pt x="186563" y="2910078"/>
                  </a:lnTo>
                  <a:lnTo>
                    <a:pt x="186563" y="2935478"/>
                  </a:lnTo>
                  <a:cubicBezTo>
                    <a:pt x="83947" y="2935478"/>
                    <a:pt x="0" y="2853436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607"/>
                    <a:pt x="111252" y="2884678"/>
                    <a:pt x="186563" y="2884678"/>
                  </a:cubicBezTo>
                  <a:lnTo>
                    <a:pt x="21602192" y="2884678"/>
                  </a:lnTo>
                  <a:cubicBezTo>
                    <a:pt x="21677503" y="2884678"/>
                    <a:pt x="21737955" y="2824607"/>
                    <a:pt x="21737955" y="2751328"/>
                  </a:cubicBezTo>
                  <a:lnTo>
                    <a:pt x="21737955" y="184150"/>
                  </a:lnTo>
                  <a:cubicBezTo>
                    <a:pt x="21737955" y="110871"/>
                    <a:pt x="21677503" y="50800"/>
                    <a:pt x="21602192" y="50800"/>
                  </a:cubicBezTo>
                  <a:lnTo>
                    <a:pt x="186563" y="50800"/>
                  </a:lnTo>
                  <a:lnTo>
                    <a:pt x="186563" y="25400"/>
                  </a:lnTo>
                  <a:lnTo>
                    <a:pt x="186563" y="50800"/>
                  </a:lnTo>
                  <a:cubicBezTo>
                    <a:pt x="111252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5D2CF"/>
            </a:solidFill>
          </p:spPr>
        </p:sp>
      </p:grpSp>
      <p:grpSp>
        <p:nvGrpSpPr>
          <p:cNvPr id="11" name="Group 11"/>
          <p:cNvGrpSpPr/>
          <p:nvPr>
            <p:custDataLst>
              <p:tags r:id="rId4"/>
            </p:custDataLst>
          </p:nvPr>
        </p:nvGrpSpPr>
        <p:grpSpPr>
          <a:xfrm>
            <a:off x="1030338" y="3918197"/>
            <a:ext cx="1134070" cy="2087315"/>
            <a:chOff x="0" y="0"/>
            <a:chExt cx="1512093" cy="2783087"/>
          </a:xfrm>
        </p:grpSpPr>
        <p:sp>
          <p:nvSpPr>
            <p:cNvPr id="12" name="Freeform 12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512062" cy="2783078"/>
            </a:xfrm>
            <a:custGeom>
              <a:avLst/>
              <a:gdLst/>
              <a:ahLst/>
              <a:cxnLst/>
              <a:rect l="l" t="t" r="r" b="b"/>
              <a:pathLst>
                <a:path w="1512062" h="2783078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lnTo>
                    <a:pt x="1414272" y="0"/>
                  </a:lnTo>
                  <a:cubicBezTo>
                    <a:pt x="1468247" y="0"/>
                    <a:pt x="1512062" y="43815"/>
                    <a:pt x="1512062" y="97790"/>
                  </a:cubicBezTo>
                  <a:lnTo>
                    <a:pt x="1512062" y="2685288"/>
                  </a:lnTo>
                  <a:cubicBezTo>
                    <a:pt x="1512062" y="2739263"/>
                    <a:pt x="1468247" y="2783078"/>
                    <a:pt x="1414272" y="2783078"/>
                  </a:cubicBezTo>
                  <a:lnTo>
                    <a:pt x="97790" y="2783078"/>
                  </a:lnTo>
                  <a:cubicBezTo>
                    <a:pt x="43815" y="2783078"/>
                    <a:pt x="0" y="2739263"/>
                    <a:pt x="0" y="2685288"/>
                  </a:cubicBezTo>
                  <a:close/>
                </a:path>
              </a:pathLst>
            </a:custGeom>
            <a:solidFill>
              <a:srgbClr val="DFECE9"/>
            </a:solidFill>
          </p:spPr>
        </p:sp>
      </p:grpSp>
      <p:sp>
        <p:nvSpPr>
          <p:cNvPr id="13" name="TextBox 13"/>
          <p:cNvSpPr txBox="1"/>
          <p:nvPr>
            <p:custDataLst>
              <p:tags r:id="rId5"/>
            </p:custDataLst>
          </p:nvPr>
        </p:nvSpPr>
        <p:spPr>
          <a:xfrm>
            <a:off x="1379935" y="4734074"/>
            <a:ext cx="425203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331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</a:t>
            </a:r>
          </a:p>
        </p:txBody>
      </p: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2447925" y="4163695"/>
            <a:ext cx="4382135" cy="440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Sending Emails (SMTP)</a:t>
            </a:r>
          </a:p>
        </p:txBody>
      </p:sp>
      <p:sp>
        <p:nvSpPr>
          <p:cNvPr id="15" name="TextBox 15"/>
          <p:cNvSpPr txBox="1"/>
          <p:nvPr>
            <p:custDataLst>
              <p:tags r:id="rId7"/>
            </p:custDataLst>
          </p:nvPr>
        </p:nvSpPr>
        <p:spPr>
          <a:xfrm>
            <a:off x="2447925" y="4729014"/>
            <a:ext cx="1480973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</a:t>
            </a:r>
            <a:r>
              <a:rPr lang="en-US" sz="2185" b="1" dirty="0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Simple Mail Transfer Protocol (SMTP)</a:t>
            </a:r>
            <a:r>
              <a:rPr lang="en-US" sz="2185" dirty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is used for sending outgoing emails</a:t>
            </a:r>
            <a:r>
              <a:rPr lang="en-US" sz="2185" dirty="0" smtClean="0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..</a:t>
            </a:r>
            <a:endParaRPr lang="en-US" sz="2185" dirty="0">
              <a:solidFill>
                <a:srgbClr val="2C3249"/>
              </a:solidFill>
              <a:latin typeface="Martel Sans" panose="00000500000000000000"/>
              <a:ea typeface="Martel Sans" panose="00000500000000000000"/>
              <a:cs typeface="Martel Sans" panose="00000500000000000000"/>
              <a:sym typeface="Martel Sans" panose="00000500000000000000"/>
            </a:endParaRPr>
          </a:p>
        </p:txBody>
      </p:sp>
      <p:grpSp>
        <p:nvGrpSpPr>
          <p:cNvPr id="16" name="Group 16"/>
          <p:cNvGrpSpPr/>
          <p:nvPr>
            <p:custDataLst>
              <p:tags r:id="rId8"/>
            </p:custDataLst>
          </p:nvPr>
        </p:nvGrpSpPr>
        <p:grpSpPr>
          <a:xfrm>
            <a:off x="973188" y="6308080"/>
            <a:ext cx="16341626" cy="2655243"/>
            <a:chOff x="0" y="0"/>
            <a:chExt cx="21788835" cy="3540323"/>
          </a:xfrm>
        </p:grpSpPr>
        <p:sp>
          <p:nvSpPr>
            <p:cNvPr id="17" name="Freeform 17"/>
            <p:cNvSpPr/>
            <p:nvPr>
              <p:custDataLst>
                <p:tags r:id="rId14"/>
              </p:custDataLst>
            </p:nvPr>
          </p:nvSpPr>
          <p:spPr>
            <a:xfrm>
              <a:off x="25400" y="25400"/>
              <a:ext cx="21737955" cy="3489452"/>
            </a:xfrm>
            <a:custGeom>
              <a:avLst/>
              <a:gdLst/>
              <a:ahLst/>
              <a:cxnLst/>
              <a:rect l="l" t="t" r="r" b="b"/>
              <a:pathLst>
                <a:path w="21737955" h="3489452">
                  <a:moveTo>
                    <a:pt x="0" y="158750"/>
                  </a:moveTo>
                  <a:cubicBezTo>
                    <a:pt x="0" y="71120"/>
                    <a:pt x="72009" y="0"/>
                    <a:pt x="160655" y="0"/>
                  </a:cubicBezTo>
                  <a:lnTo>
                    <a:pt x="21577300" y="0"/>
                  </a:lnTo>
                  <a:cubicBezTo>
                    <a:pt x="21666073" y="0"/>
                    <a:pt x="21737955" y="71120"/>
                    <a:pt x="21737955" y="158750"/>
                  </a:cubicBezTo>
                  <a:lnTo>
                    <a:pt x="21737955" y="3330702"/>
                  </a:lnTo>
                  <a:cubicBezTo>
                    <a:pt x="21737955" y="3418332"/>
                    <a:pt x="21665946" y="3489452"/>
                    <a:pt x="21577300" y="3489452"/>
                  </a:cubicBezTo>
                  <a:lnTo>
                    <a:pt x="160655" y="3489452"/>
                  </a:lnTo>
                  <a:cubicBezTo>
                    <a:pt x="71882" y="3489452"/>
                    <a:pt x="0" y="3418332"/>
                    <a:pt x="0" y="33307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21788755" cy="3540379"/>
            </a:xfrm>
            <a:custGeom>
              <a:avLst/>
              <a:gdLst/>
              <a:ahLst/>
              <a:cxnLst/>
              <a:rect l="l" t="t" r="r" b="b"/>
              <a:pathLst>
                <a:path w="21788755" h="3540379">
                  <a:moveTo>
                    <a:pt x="0" y="184150"/>
                  </a:moveTo>
                  <a:cubicBezTo>
                    <a:pt x="0" y="82169"/>
                    <a:pt x="83566" y="0"/>
                    <a:pt x="186055" y="0"/>
                  </a:cubicBezTo>
                  <a:lnTo>
                    <a:pt x="21602700" y="0"/>
                  </a:lnTo>
                  <a:lnTo>
                    <a:pt x="21602700" y="25400"/>
                  </a:lnTo>
                  <a:lnTo>
                    <a:pt x="21602700" y="0"/>
                  </a:lnTo>
                  <a:cubicBezTo>
                    <a:pt x="21705188" y="0"/>
                    <a:pt x="21788755" y="82169"/>
                    <a:pt x="21788755" y="184150"/>
                  </a:cubicBezTo>
                  <a:lnTo>
                    <a:pt x="21763355" y="184150"/>
                  </a:lnTo>
                  <a:lnTo>
                    <a:pt x="21788755" y="184150"/>
                  </a:lnTo>
                  <a:lnTo>
                    <a:pt x="21788755" y="3356102"/>
                  </a:lnTo>
                  <a:lnTo>
                    <a:pt x="21763355" y="3356102"/>
                  </a:lnTo>
                  <a:lnTo>
                    <a:pt x="21788755" y="3356102"/>
                  </a:lnTo>
                  <a:cubicBezTo>
                    <a:pt x="21788755" y="3458083"/>
                    <a:pt x="21705188" y="3540252"/>
                    <a:pt x="21602700" y="3540252"/>
                  </a:cubicBezTo>
                  <a:lnTo>
                    <a:pt x="21602700" y="3514852"/>
                  </a:lnTo>
                  <a:lnTo>
                    <a:pt x="21602700" y="3540252"/>
                  </a:lnTo>
                  <a:lnTo>
                    <a:pt x="186055" y="3540252"/>
                  </a:lnTo>
                  <a:lnTo>
                    <a:pt x="186055" y="3514852"/>
                  </a:lnTo>
                  <a:lnTo>
                    <a:pt x="186055" y="3540252"/>
                  </a:lnTo>
                  <a:cubicBezTo>
                    <a:pt x="83566" y="3540379"/>
                    <a:pt x="0" y="3458210"/>
                    <a:pt x="0" y="3356102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56102"/>
                  </a:lnTo>
                  <a:lnTo>
                    <a:pt x="25400" y="3356102"/>
                  </a:lnTo>
                  <a:lnTo>
                    <a:pt x="50800" y="3356102"/>
                  </a:lnTo>
                  <a:cubicBezTo>
                    <a:pt x="50800" y="3429508"/>
                    <a:pt x="111125" y="3489452"/>
                    <a:pt x="186055" y="3489452"/>
                  </a:cubicBezTo>
                  <a:lnTo>
                    <a:pt x="21602700" y="3489452"/>
                  </a:lnTo>
                  <a:cubicBezTo>
                    <a:pt x="21677757" y="3489452"/>
                    <a:pt x="21737955" y="3429508"/>
                    <a:pt x="21737955" y="3356102"/>
                  </a:cubicBezTo>
                  <a:lnTo>
                    <a:pt x="21737955" y="184150"/>
                  </a:lnTo>
                  <a:cubicBezTo>
                    <a:pt x="21737955" y="110744"/>
                    <a:pt x="21677630" y="50800"/>
                    <a:pt x="21602700" y="50800"/>
                  </a:cubicBezTo>
                  <a:lnTo>
                    <a:pt x="186055" y="50800"/>
                  </a:lnTo>
                  <a:lnTo>
                    <a:pt x="186055" y="25400"/>
                  </a:lnTo>
                  <a:lnTo>
                    <a:pt x="186055" y="50800"/>
                  </a:lnTo>
                  <a:cubicBezTo>
                    <a:pt x="111125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C5D2CF"/>
            </a:solidFill>
          </p:spPr>
        </p:sp>
      </p:grpSp>
      <p:grpSp>
        <p:nvGrpSpPr>
          <p:cNvPr id="19" name="Group 19"/>
          <p:cNvGrpSpPr/>
          <p:nvPr>
            <p:custDataLst>
              <p:tags r:id="rId9"/>
            </p:custDataLst>
          </p:nvPr>
        </p:nvGrpSpPr>
        <p:grpSpPr>
          <a:xfrm>
            <a:off x="1030338" y="6365230"/>
            <a:ext cx="1134070" cy="2540942"/>
            <a:chOff x="0" y="0"/>
            <a:chExt cx="1512093" cy="3387923"/>
          </a:xfrm>
        </p:grpSpPr>
        <p:sp>
          <p:nvSpPr>
            <p:cNvPr id="20" name="Freeform 20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512062" cy="3387852"/>
            </a:xfrm>
            <a:custGeom>
              <a:avLst/>
              <a:gdLst/>
              <a:ahLst/>
              <a:cxnLst/>
              <a:rect l="l" t="t" r="r" b="b"/>
              <a:pathLst>
                <a:path w="1512062" h="3387852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lnTo>
                    <a:pt x="1414272" y="0"/>
                  </a:lnTo>
                  <a:cubicBezTo>
                    <a:pt x="1468247" y="0"/>
                    <a:pt x="1512062" y="43815"/>
                    <a:pt x="1512062" y="97790"/>
                  </a:cubicBezTo>
                  <a:lnTo>
                    <a:pt x="1512062" y="3290062"/>
                  </a:lnTo>
                  <a:cubicBezTo>
                    <a:pt x="1512062" y="3344037"/>
                    <a:pt x="1468247" y="3387852"/>
                    <a:pt x="1414272" y="3387852"/>
                  </a:cubicBezTo>
                  <a:lnTo>
                    <a:pt x="97790" y="3387852"/>
                  </a:lnTo>
                  <a:cubicBezTo>
                    <a:pt x="43815" y="3387852"/>
                    <a:pt x="0" y="3344037"/>
                    <a:pt x="0" y="3290062"/>
                  </a:cubicBezTo>
                  <a:close/>
                </a:path>
              </a:pathLst>
            </a:custGeom>
            <a:solidFill>
              <a:srgbClr val="DFECE9"/>
            </a:solidFill>
          </p:spPr>
        </p:sp>
      </p:grpSp>
      <p:sp>
        <p:nvSpPr>
          <p:cNvPr id="21" name="TextBox 21"/>
          <p:cNvSpPr txBox="1"/>
          <p:nvPr>
            <p:custDataLst>
              <p:tags r:id="rId10"/>
            </p:custDataLst>
          </p:nvPr>
        </p:nvSpPr>
        <p:spPr>
          <a:xfrm>
            <a:off x="1379935" y="7407920"/>
            <a:ext cx="425203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331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2</a:t>
            </a:r>
          </a:p>
        </p:txBody>
      </p:sp>
      <p:sp>
        <p:nvSpPr>
          <p:cNvPr id="22" name="TextBox 22"/>
          <p:cNvSpPr txBox="1"/>
          <p:nvPr>
            <p:custDataLst>
              <p:tags r:id="rId11"/>
            </p:custDataLst>
          </p:nvPr>
        </p:nvSpPr>
        <p:spPr>
          <a:xfrm>
            <a:off x="2447925" y="6610350"/>
            <a:ext cx="5432425" cy="440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Receiving Emails (POP3/IMAP)</a:t>
            </a:r>
          </a:p>
        </p:txBody>
      </p:sp>
      <p:sp>
        <p:nvSpPr>
          <p:cNvPr id="23" name="TextBox 23"/>
          <p:cNvSpPr txBox="1"/>
          <p:nvPr>
            <p:custDataLst>
              <p:tags r:id="rId12"/>
            </p:custDataLst>
          </p:nvPr>
        </p:nvSpPr>
        <p:spPr>
          <a:xfrm>
            <a:off x="2447925" y="7176046"/>
            <a:ext cx="14809737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Post Office Protocol 3 (POP3)</a:t>
            </a: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downloads emails to your local device, often deleting them from the server. </a:t>
            </a:r>
            <a:r>
              <a:rPr lang="en-US" sz="218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Internet Message Access Protocol (IMAP)</a:t>
            </a: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allows you to access and manage emails directly on the server, synchronizing changes across all your devices.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505" y="1428115"/>
            <a:ext cx="12904470" cy="889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SNMP: Network Management Protocol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10457"/>
            <a:ext cx="16303526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000000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Simple Network Management Protocol (SNMP) is a standard protocol used for monitoring and managing network devices. It allows network administrators to centrally oversee the health and performance of their entire network infrastructure.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901208"/>
            <a:ext cx="5245447" cy="3900785"/>
            <a:chOff x="0" y="0"/>
            <a:chExt cx="6993930" cy="52010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3890" cy="5201031"/>
            </a:xfrm>
            <a:custGeom>
              <a:avLst/>
              <a:gdLst/>
              <a:ahLst/>
              <a:cxnLst/>
              <a:rect l="l" t="t" r="r" b="b"/>
              <a:pathLst>
                <a:path w="6993890" h="520103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4957191"/>
                  </a:lnTo>
                  <a:cubicBezTo>
                    <a:pt x="6993890" y="5091811"/>
                    <a:pt x="6884670" y="5201031"/>
                    <a:pt x="6750050" y="5201031"/>
                  </a:cubicBezTo>
                  <a:lnTo>
                    <a:pt x="243840" y="5201031"/>
                  </a:lnTo>
                  <a:cubicBezTo>
                    <a:pt x="109220" y="5201031"/>
                    <a:pt x="0" y="5091811"/>
                    <a:pt x="0" y="4957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4863108"/>
            <a:ext cx="5245447" cy="152400"/>
            <a:chOff x="0" y="0"/>
            <a:chExt cx="6993930" cy="203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189610" y="4476006"/>
            <a:ext cx="850552" cy="850553"/>
            <a:chOff x="0" y="0"/>
            <a:chExt cx="1134070" cy="11340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3444701" y="4564856"/>
            <a:ext cx="340221" cy="54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855" y="5571827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Manager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3855" y="6137225"/>
            <a:ext cx="4602212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The console or software used by administrators to monitor and control network devices.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21202" y="4901208"/>
            <a:ext cx="5245447" cy="3900785"/>
            <a:chOff x="0" y="0"/>
            <a:chExt cx="6993930" cy="52010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3890" cy="5201031"/>
            </a:xfrm>
            <a:custGeom>
              <a:avLst/>
              <a:gdLst/>
              <a:ahLst/>
              <a:cxnLst/>
              <a:rect l="l" t="t" r="r" b="b"/>
              <a:pathLst>
                <a:path w="6993890" h="520103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4957191"/>
                  </a:lnTo>
                  <a:cubicBezTo>
                    <a:pt x="6993890" y="5091811"/>
                    <a:pt x="6884670" y="5201031"/>
                    <a:pt x="6750050" y="5201031"/>
                  </a:cubicBezTo>
                  <a:lnTo>
                    <a:pt x="243840" y="5201031"/>
                  </a:lnTo>
                  <a:cubicBezTo>
                    <a:pt x="109220" y="5201031"/>
                    <a:pt x="0" y="5091811"/>
                    <a:pt x="0" y="4957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521202" y="4863108"/>
            <a:ext cx="5245447" cy="152400"/>
            <a:chOff x="0" y="0"/>
            <a:chExt cx="6993930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718575" y="4476006"/>
            <a:ext cx="850552" cy="850553"/>
            <a:chOff x="0" y="0"/>
            <a:chExt cx="1134070" cy="11340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8973666" y="4564856"/>
            <a:ext cx="340221" cy="54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42820" y="5571827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Agent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2820" y="6137225"/>
            <a:ext cx="4602212" cy="144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Software running on network devices that collects and sends data to the Manager.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50166" y="4901208"/>
            <a:ext cx="5245447" cy="3900785"/>
            <a:chOff x="0" y="0"/>
            <a:chExt cx="6993930" cy="52010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93890" cy="5201031"/>
            </a:xfrm>
            <a:custGeom>
              <a:avLst/>
              <a:gdLst/>
              <a:ahLst/>
              <a:cxnLst/>
              <a:rect l="l" t="t" r="r" b="b"/>
              <a:pathLst>
                <a:path w="6993890" h="520103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4957191"/>
                  </a:lnTo>
                  <a:cubicBezTo>
                    <a:pt x="6993890" y="5091811"/>
                    <a:pt x="6884670" y="5201031"/>
                    <a:pt x="6750050" y="5201031"/>
                  </a:cubicBezTo>
                  <a:lnTo>
                    <a:pt x="243840" y="5201031"/>
                  </a:lnTo>
                  <a:cubicBezTo>
                    <a:pt x="109220" y="5201031"/>
                    <a:pt x="0" y="5091811"/>
                    <a:pt x="0" y="49571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050166" y="4863108"/>
            <a:ext cx="5245447" cy="152400"/>
            <a:chOff x="0" y="0"/>
            <a:chExt cx="6993930" cy="203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247540" y="4476006"/>
            <a:ext cx="850553" cy="850553"/>
            <a:chOff x="0" y="0"/>
            <a:chExt cx="1134070" cy="11340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37066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4502631" y="4564856"/>
            <a:ext cx="340221" cy="54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71784" y="5571827"/>
            <a:ext cx="46022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C324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MIB (Management Information Base)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71784" y="6580137"/>
            <a:ext cx="460221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A hierarchical database defining the properties of managed devices that can be monitored or controlled.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505" y="1345565"/>
            <a:ext cx="11135360" cy="889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556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SNMP Functions and 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70286"/>
            <a:ext cx="1630352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SNMP facilitates various operations essential for proactive network management and troubleshooting.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87399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Key Functions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552801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GET:</a:t>
            </a: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Retrieves specific information from an agent (e.g., current CPU usage).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559177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SET:</a:t>
            </a: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Modifies configuration parameters on a device (e.g., resetting a router interface).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565552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 b="1">
                <a:solidFill>
                  <a:srgbClr val="2C3249"/>
                </a:solidFill>
                <a:latin typeface="Martel Sans Bold" panose="00000800000000000000"/>
                <a:ea typeface="Martel Sans Bold" panose="00000800000000000000"/>
                <a:cs typeface="Martel Sans Bold" panose="00000800000000000000"/>
                <a:sym typeface="Martel Sans Bold" panose="00000800000000000000"/>
              </a:rPr>
              <a:t>TRAP:</a:t>
            </a: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 An alert sent by an agent to the manager when a significant event occurs (e.g., a device goes offline).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387399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750">
                <a:solidFill>
                  <a:srgbClr val="272D45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Applications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455280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Performance monitoring (bandwidth, latency, uptime)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5105549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Fault management (detecting and alerting on device failures)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6111925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Configuration management (remote device setup)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6664672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00" lvl="1" indent="-16510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2C3249"/>
                </a:solidFill>
                <a:latin typeface="Martel Sans" panose="00000500000000000000"/>
                <a:ea typeface="Martel Sans" panose="00000500000000000000"/>
                <a:cs typeface="Martel Sans" panose="00000500000000000000"/>
                <a:sym typeface="Martel Sans" panose="00000500000000000000"/>
              </a:rPr>
              <a:t>Security auditing (logging access and changes)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13212598425196,&quot;left&quot;:72.55,&quot;top&quot;:246.1,&quot;width&quot;:1294.887480314960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5468503937009,&quot;left&quot;:76.62897637795275,&quot;top&quot;:101.22661417322834,&quot;width&quot;:1286.74220472440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745</Words>
  <Application>Microsoft Office PowerPoint</Application>
  <PresentationFormat>Custom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Arimo</vt:lpstr>
      <vt:lpstr>Martel Sans</vt:lpstr>
      <vt:lpstr>Calibri</vt:lpstr>
      <vt:lpstr>Martel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Network-Servers (1).pptx</dc:title>
  <dc:creator/>
  <cp:lastModifiedBy>Microsoft account</cp:lastModifiedBy>
  <cp:revision>6</cp:revision>
  <dcterms:created xsi:type="dcterms:W3CDTF">2006-08-16T00:00:00Z</dcterms:created>
  <dcterms:modified xsi:type="dcterms:W3CDTF">2025-08-16T12:44:17Z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693CAAA017F24AF4AAA5B5F220CC9539_13</vt:lpwstr>
  </property>
  <property fmtid="{D5CDD505-2E9C-101B-9397-08002B2CF9AE}" pid="3" name="KSOProductBuildVer">
    <vt:lpwstr>1033-12.2.0.21931</vt:lpwstr>
  </property>
</Properties>
</file>